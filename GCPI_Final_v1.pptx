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rts/chart2.xml" ContentType="application/vnd.openxmlformats-officedocument.drawingml.chart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rts/chart3.xml" ContentType="application/vnd.openxmlformats-officedocument.drawingml.chart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78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CPI Annual Rate (%)</c:v>
                </c:pt>
              </c:strCache>
            </c:strRef>
          </c:tx>
          <c:spPr>
            <a:solidFill>
              <a:srgbClr val="1565C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8AB-4EE1-A98C-61D3B47CE810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E8AB-4EE1-A98C-61D3B47CE810}"/>
              </c:ext>
            </c:extLst>
          </c:dPt>
          <c:dPt>
            <c:idx val="2"/>
            <c:invertIfNegative val="0"/>
            <c:bubble3D val="0"/>
            <c:spPr>
              <a:solidFill>
                <a:srgbClr val="C6282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8AB-4EE1-A98C-61D3B47CE810}"/>
              </c:ext>
            </c:extLst>
          </c:dPt>
          <c:dPt>
            <c:idx val="3"/>
            <c:invertIfNegative val="0"/>
            <c:bubble3D val="0"/>
            <c:spPr>
              <a:solidFill>
                <a:srgbClr val="00BFA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8AB-4EE1-A98C-61D3B47CE810}"/>
              </c:ext>
            </c:extLst>
          </c:dPt>
          <c:dPt>
            <c:idx val="4"/>
            <c:invertIfNegative val="0"/>
            <c:bubble3D val="0"/>
            <c:spPr>
              <a:solidFill>
                <a:srgbClr val="00BFA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E8AB-4EE1-A98C-61D3B47CE810}"/>
              </c:ext>
            </c:extLst>
          </c:dPt>
          <c:dPt>
            <c:idx val="5"/>
            <c:invertIfNegative val="0"/>
            <c:bubble3D val="0"/>
            <c:spPr>
              <a:solidFill>
                <a:srgbClr val="546E7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E8AB-4EE1-A98C-61D3B47CE810}"/>
              </c:ext>
            </c:extLst>
          </c:dPt>
          <c:dLbls>
            <c:numFmt formatCode="0.0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3.15</c:v>
                </c:pt>
                <c:pt idx="1">
                  <c:v>5.69</c:v>
                </c:pt>
                <c:pt idx="2">
                  <c:v>7.99</c:v>
                </c:pt>
                <c:pt idx="3">
                  <c:v>5.53</c:v>
                </c:pt>
                <c:pt idx="4">
                  <c:v>4.66</c:v>
                </c:pt>
                <c:pt idx="5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E8AB-4EE1-A98C-61D3B47CE81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D21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"/>
          <c:min val="0"/>
        </c:scaling>
        <c:delete val="0"/>
        <c:axPos val="l"/>
        <c:majorGridlines>
          <c:spPr>
            <a:ln w="6350" cap="flat">
              <a:solidFill>
                <a:srgbClr val="DDE3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annual inflation (%)</c:v>
                </c:pt>
              </c:strCache>
            </c:strRef>
          </c:tx>
          <c:spPr>
            <a:solidFill>
              <a:srgbClr val="29B6F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043-4F7B-94BC-6836EA6F8158}"/>
              </c:ext>
            </c:extLst>
          </c:dPt>
          <c:dPt>
            <c:idx val="1"/>
            <c:invertIfNegative val="0"/>
            <c:bubble3D val="0"/>
            <c:spPr>
              <a:solidFill>
                <a:srgbClr val="1565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043-4F7B-94BC-6836EA6F8158}"/>
              </c:ext>
            </c:extLst>
          </c:dPt>
          <c:dPt>
            <c:idx val="2"/>
            <c:invertIfNegative val="0"/>
            <c:bubble3D val="0"/>
            <c:spPr>
              <a:solidFill>
                <a:srgbClr val="FF8A6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043-4F7B-94BC-6836EA6F8158}"/>
              </c:ext>
            </c:extLst>
          </c:dPt>
          <c:dPt>
            <c:idx val="3"/>
            <c:invertIfNegative val="0"/>
            <c:bubble3D val="0"/>
            <c:spPr>
              <a:solidFill>
                <a:srgbClr val="C6282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043-4F7B-94BC-6836EA6F8158}"/>
              </c:ext>
            </c:extLst>
          </c:dPt>
          <c:dLbls>
            <c:numFmt formatCode="0.0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0D2137"/>
                    </a:solidFill>
                    <a:latin typeface="Arial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Male w/o partner
(MWoP)</c:v>
                </c:pt>
                <c:pt idx="1">
                  <c:v>Male w/ partner
(MWP)</c:v>
                </c:pt>
                <c:pt idx="2">
                  <c:v>Female w/o partner
(FWoP)</c:v>
                </c:pt>
                <c:pt idx="3">
                  <c:v>Female w/ partner
(FWP)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4.6665000000000001</c:v>
                </c:pt>
                <c:pt idx="1">
                  <c:v>4.4279000000000002</c:v>
                </c:pt>
                <c:pt idx="2">
                  <c:v>4.4147999999999996</c:v>
                </c:pt>
                <c:pt idx="3">
                  <c:v>4.3941999999999997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043-4F7B-94BC-6836EA6F815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D21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"/>
          <c:min val="4"/>
        </c:scaling>
        <c:delete val="0"/>
        <c:axPos val="l"/>
        <c:majorGridlines>
          <c:spPr>
            <a:ln w="6350" cap="flat">
              <a:solidFill>
                <a:srgbClr val="DDE3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G-CPI (group-specific weights)</c:v>
                </c:pt>
              </c:strCache>
            </c:strRef>
          </c:tx>
          <c:spPr>
            <a:solidFill>
              <a:srgbClr val="00BFA5"/>
            </a:solidFill>
            <a:effectLst/>
          </c:spPr>
          <c:invertIfNegative val="0"/>
          <c:dLbls>
            <c:numFmt formatCode="0.0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MWoP
Male alone</c:v>
                </c:pt>
                <c:pt idx="1">
                  <c:v>MWP
Male+partner</c:v>
                </c:pt>
                <c:pt idx="2">
                  <c:v>FWoP
Female alone</c:v>
                </c:pt>
                <c:pt idx="3">
                  <c:v>FWP
Female+partner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4.3853999999999997</c:v>
                </c:pt>
                <c:pt idx="1">
                  <c:v>4.1494999999999997</c:v>
                </c:pt>
                <c:pt idx="2">
                  <c:v>4.1189</c:v>
                </c:pt>
                <c:pt idx="3">
                  <c:v>4.0998999999999999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F0C-47BE-BB33-DDD2D3565A0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Counterfactual: official CPI 2024 weights</c:v>
                </c:pt>
              </c:strCache>
            </c:strRef>
          </c:tx>
          <c:spPr>
            <a:solidFill>
              <a:srgbClr val="BDBDBD"/>
            </a:solidFill>
            <a:effectLst/>
          </c:spPr>
          <c:invertIfNegative val="0"/>
          <c:dLbls>
            <c:numFmt formatCode="0.0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MWoP</c:v>
                </c:pt>
                <c:pt idx="1">
                  <c:v>MWP</c:v>
                </c:pt>
                <c:pt idx="2">
                  <c:v>FWoP</c:v>
                </c:pt>
                <c:pt idx="3">
                  <c:v>FWP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4.4359000000000002</c:v>
                </c:pt>
                <c:pt idx="1">
                  <c:v>4.4359000000000002</c:v>
                </c:pt>
                <c:pt idx="2">
                  <c:v>4.4359000000000002</c:v>
                </c:pt>
                <c:pt idx="3">
                  <c:v>4.4359000000000002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F0C-47BE-BB33-DDD2D3565A0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D21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.5999999999999996"/>
          <c:min val="3.8"/>
        </c:scaling>
        <c:delete val="0"/>
        <c:axPos val="l"/>
        <c:majorGridlines>
          <c:spPr>
            <a:ln w="6350" cap="flat">
              <a:solidFill>
                <a:srgbClr val="DDE3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59190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chart" Target="../charts/char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chart" Target="../charts/char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chart" Target="../charts/char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9089136" y="0"/>
            <a:ext cx="54864" cy="5143500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G-CPI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65760" y="1755648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Gender-Differentiated Consumer Price Index for Mexico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487168"/>
            <a:ext cx="3200400" cy="4572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365760" y="2633472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inflation by household headship type
</a:t>
            </a:r>
            <a:r>
              <a:rPr lang="en-US" sz="15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ENIGH 2022  ×  CPI CCIF 2018 price indices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356616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Itzel Sanchez  |  INEGI — Mexico
</a:t>
            </a: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Mentor: Arthur Beltrao  |  IBGE — Brazil
</a:t>
            </a:r>
            <a:r>
              <a:rPr lang="en-US" sz="13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Data Science Accelerator — Cohort VI  |  March 11, 2026</a:t>
            </a:r>
            <a:endParaRPr lang="en-US" sz="13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6974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49808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04672" y="182880"/>
            <a:ext cx="64008" cy="640080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1"/>
          <p:cNvSpPr/>
          <p:nvPr/>
        </p:nvSpPr>
        <p:spPr>
          <a:xfrm>
            <a:off x="932688" y="146304"/>
            <a:ext cx="7863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Research Question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32688" y="859536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official CPI cannot tell us — and why it matters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804672" y="1115568"/>
            <a:ext cx="8229600" cy="22860"/>
          </a:xfrm>
          <a:prstGeom prst="rect">
            <a:avLst/>
          </a:prstGeom>
          <a:solidFill>
            <a:srgbClr val="DDE3EA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Shape 4"/>
          <p:cNvSpPr/>
          <p:nvPr/>
        </p:nvSpPr>
        <p:spPr>
          <a:xfrm>
            <a:off x="804672" y="1207008"/>
            <a:ext cx="8229600" cy="8229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8" name="Text 5"/>
          <p:cNvSpPr/>
          <p:nvPr/>
        </p:nvSpPr>
        <p:spPr>
          <a:xfrm>
            <a:off x="896112" y="1261872"/>
            <a:ext cx="8046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i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inflation rate differ across households depending on the sex and partnership status of the head of household?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04672" y="2176272"/>
            <a:ext cx="2578608" cy="2450592"/>
          </a:xfrm>
          <a:prstGeom prst="rect">
            <a:avLst/>
          </a:prstGeom>
          <a:solidFill>
            <a:srgbClr val="F4F6F8"/>
          </a:solidFill>
          <a:ln w="12700">
            <a:solidFill>
              <a:srgbClr val="1565C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0" name="Shape 7"/>
          <p:cNvSpPr/>
          <p:nvPr/>
        </p:nvSpPr>
        <p:spPr>
          <a:xfrm>
            <a:off x="804672" y="2176272"/>
            <a:ext cx="2578608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8"/>
          <p:cNvSpPr/>
          <p:nvPr/>
        </p:nvSpPr>
        <p:spPr>
          <a:xfrm>
            <a:off x="877824" y="2176272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Official CPI = one basket for everyone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914400" y="2578608"/>
            <a:ext cx="2359152" cy="1993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Mexico's CPI assigns a single national basket to all 130 million residents. It does not account for differences in how different types of households actually spend their income.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602736" y="2176272"/>
            <a:ext cx="2578608" cy="2450592"/>
          </a:xfrm>
          <a:prstGeom prst="rect">
            <a:avLst/>
          </a:prstGeom>
          <a:solidFill>
            <a:srgbClr val="F4F6F8"/>
          </a:solidFill>
          <a:ln w="12700">
            <a:solidFill>
              <a:srgbClr val="C6282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4" name="Shape 11"/>
          <p:cNvSpPr/>
          <p:nvPr/>
        </p:nvSpPr>
        <p:spPr>
          <a:xfrm>
            <a:off x="3602736" y="2176272"/>
            <a:ext cx="2578608" cy="34747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2"/>
          <p:cNvSpPr/>
          <p:nvPr/>
        </p:nvSpPr>
        <p:spPr>
          <a:xfrm>
            <a:off x="3675888" y="2176272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Household structure shapes spending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712464" y="2578608"/>
            <a:ext cx="2359152" cy="1993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single-person household eats out more. A household with children spends more on education. These structural differences translate directly into different inflation exposure.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400800" y="2176272"/>
            <a:ext cx="2578608" cy="2450592"/>
          </a:xfrm>
          <a:prstGeom prst="rect">
            <a:avLst/>
          </a:prstGeom>
          <a:solidFill>
            <a:srgbClr val="F4F6F8"/>
          </a:solidFill>
          <a:ln w="12700">
            <a:solidFill>
              <a:srgbClr val="2E7D32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8" name="Shape 15"/>
          <p:cNvSpPr/>
          <p:nvPr/>
        </p:nvSpPr>
        <p:spPr>
          <a:xfrm>
            <a:off x="6400800" y="2176272"/>
            <a:ext cx="2578608" cy="3474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Text 16"/>
          <p:cNvSpPr/>
          <p:nvPr/>
        </p:nvSpPr>
        <p:spPr>
          <a:xfrm>
            <a:off x="6473952" y="2176272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The hypothesis to test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510528" y="2578608"/>
            <a:ext cx="2359152" cy="1993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Female-headed households — especially female-alone (FWoP) — were hypothesised to face higher inflation due to income constraints and consumption patterns. The data was expected to confirm this.</a:t>
            </a:r>
            <a:endParaRPr lang="en-US" sz="1050" dirty="0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873752"/>
            <a:ext cx="9144000" cy="26974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49808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04672" y="182880"/>
            <a:ext cx="64008" cy="640080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1"/>
          <p:cNvSpPr/>
          <p:nvPr/>
        </p:nvSpPr>
        <p:spPr>
          <a:xfrm>
            <a:off x="932688" y="146304"/>
            <a:ext cx="7863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Overview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32688" y="859536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16-week IBGE/INEGI collaboration — six analytical components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804672" y="1115568"/>
            <a:ext cx="8229600" cy="22860"/>
          </a:xfrm>
          <a:prstGeom prst="rect">
            <a:avLst/>
          </a:prstGeom>
          <a:solidFill>
            <a:srgbClr val="DDE3EA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Shape 4"/>
          <p:cNvSpPr/>
          <p:nvPr/>
        </p:nvSpPr>
        <p:spPr>
          <a:xfrm>
            <a:off x="804672" y="1261872"/>
            <a:ext cx="3977640" cy="1060704"/>
          </a:xfrm>
          <a:prstGeom prst="rect">
            <a:avLst/>
          </a:prstGeom>
          <a:solidFill>
            <a:srgbClr val="F4F6F8"/>
          </a:solidFill>
          <a:ln w="12700">
            <a:solidFill>
              <a:srgbClr val="00BFA5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8" name="Shape 5"/>
          <p:cNvSpPr/>
          <p:nvPr/>
        </p:nvSpPr>
        <p:spPr>
          <a:xfrm>
            <a:off x="896112" y="1572768"/>
            <a:ext cx="420624" cy="420624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6"/>
          <p:cNvSpPr/>
          <p:nvPr/>
        </p:nvSpPr>
        <p:spPr>
          <a:xfrm>
            <a:off x="896112" y="157276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408176" y="1335024"/>
            <a:ext cx="3273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408176" y="1664208"/>
            <a:ext cx="327355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ENIGH 2022 seasonal · 50,968 households · CPI CCIF 2018 price indices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804672" y="2450592"/>
            <a:ext cx="3977640" cy="1060704"/>
          </a:xfrm>
          <a:prstGeom prst="rect">
            <a:avLst/>
          </a:prstGeom>
          <a:solidFill>
            <a:srgbClr val="F4F6F8"/>
          </a:solidFill>
          <a:ln w="12700">
            <a:solidFill>
              <a:srgbClr val="1565C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3" name="Shape 10"/>
          <p:cNvSpPr/>
          <p:nvPr/>
        </p:nvSpPr>
        <p:spPr>
          <a:xfrm>
            <a:off x="896112" y="2761488"/>
            <a:ext cx="420624" cy="420624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1"/>
          <p:cNvSpPr/>
          <p:nvPr/>
        </p:nvSpPr>
        <p:spPr>
          <a:xfrm>
            <a:off x="896112" y="276148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408176" y="2523744"/>
            <a:ext cx="3273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08176" y="2852928"/>
            <a:ext cx="327355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household headship groups · Laspeyres-type G-CPI formula · 13 divisions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804672" y="3639312"/>
            <a:ext cx="3977640" cy="1060704"/>
          </a:xfrm>
          <a:prstGeom prst="rect">
            <a:avLst/>
          </a:prstGeom>
          <a:solidFill>
            <a:srgbClr val="F4F6F8"/>
          </a:solidFill>
          <a:ln w="12700">
            <a:solidFill>
              <a:srgbClr val="7B5EA7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8" name="Shape 15"/>
          <p:cNvSpPr/>
          <p:nvPr/>
        </p:nvSpPr>
        <p:spPr>
          <a:xfrm>
            <a:off x="896112" y="3950208"/>
            <a:ext cx="420624" cy="420624"/>
          </a:xfrm>
          <a:prstGeom prst="ellipse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Text 16"/>
          <p:cNvSpPr/>
          <p:nvPr/>
        </p:nvSpPr>
        <p:spPr>
          <a:xfrm>
            <a:off x="896112" y="395020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1408176" y="3712464"/>
            <a:ext cx="3273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1408176" y="4041648"/>
            <a:ext cx="327355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Inflation series 2022–2025 · Vulnerability ranking · Gap decomposition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983480" y="1261872"/>
            <a:ext cx="3977640" cy="1060704"/>
          </a:xfrm>
          <a:prstGeom prst="rect">
            <a:avLst/>
          </a:prstGeom>
          <a:solidFill>
            <a:srgbClr val="F4F6F8"/>
          </a:solidFill>
          <a:ln w="12700">
            <a:solidFill>
              <a:srgbClr val="C6282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3" name="Shape 20"/>
          <p:cNvSpPr/>
          <p:nvPr/>
        </p:nvSpPr>
        <p:spPr>
          <a:xfrm>
            <a:off x="5074920" y="1572768"/>
            <a:ext cx="420624" cy="420624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4" name="Text 21"/>
          <p:cNvSpPr/>
          <p:nvPr/>
        </p:nvSpPr>
        <p:spPr>
          <a:xfrm>
            <a:off x="5074920" y="157276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586984" y="1335024"/>
            <a:ext cx="3273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G-CPI vs CPI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5586984" y="1664208"/>
            <a:ext cx="327355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Counterfactual: official weights applied to G-CPI groups · Bias quantification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983480" y="2450592"/>
            <a:ext cx="3977640" cy="1060704"/>
          </a:xfrm>
          <a:prstGeom prst="rect">
            <a:avLst/>
          </a:prstGeom>
          <a:solidFill>
            <a:srgbClr val="F4F6F8"/>
          </a:solidFill>
          <a:ln w="12700">
            <a:solidFill>
              <a:srgbClr val="2E7D32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8" name="Shape 25"/>
          <p:cNvSpPr/>
          <p:nvPr/>
        </p:nvSpPr>
        <p:spPr>
          <a:xfrm>
            <a:off x="5074920" y="2761488"/>
            <a:ext cx="420624" cy="420624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9" name="Text 26"/>
          <p:cNvSpPr/>
          <p:nvPr/>
        </p:nvSpPr>
        <p:spPr>
          <a:xfrm>
            <a:off x="5074920" y="276148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5586984" y="2523744"/>
            <a:ext cx="3273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2026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5586984" y="2852928"/>
            <a:ext cx="327355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SARIMA(1,0,1)(1,0,1,12) · ADF stationarity · Ljung-Box validation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4983480" y="3639312"/>
            <a:ext cx="3977640" cy="1060704"/>
          </a:xfrm>
          <a:prstGeom prst="rect">
            <a:avLst/>
          </a:prstGeom>
          <a:solidFill>
            <a:srgbClr val="F4F6F8"/>
          </a:solidFill>
          <a:ln w="12700">
            <a:solidFill>
              <a:srgbClr val="F57F17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33" name="Shape 30"/>
          <p:cNvSpPr/>
          <p:nvPr/>
        </p:nvSpPr>
        <p:spPr>
          <a:xfrm>
            <a:off x="5074920" y="3950208"/>
            <a:ext cx="420624" cy="420624"/>
          </a:xfrm>
          <a:prstGeom prst="ellipse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4" name="Text 31"/>
          <p:cNvSpPr/>
          <p:nvPr/>
        </p:nvSpPr>
        <p:spPr>
          <a:xfrm>
            <a:off x="5074920" y="395020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5586984" y="3712464"/>
            <a:ext cx="3273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Generics deep-dive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5586984" y="4041648"/>
            <a:ext cx="327355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292 INPC generic products · 35 gender/age-tagged · next-step roadmap</a:t>
            </a:r>
            <a:endParaRPr lang="en-US" sz="1000" dirty="0"/>
          </a:p>
        </p:txBody>
      </p:sp>
      <p:pic>
        <p:nvPicPr>
          <p:cNvPr id="3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873752"/>
            <a:ext cx="9144000" cy="26974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365760" y="1645920"/>
            <a:ext cx="8412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4200" dirty="0"/>
          </a:p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4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6974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49808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04672" y="182880"/>
            <a:ext cx="64008" cy="640080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1"/>
          <p:cNvSpPr/>
          <p:nvPr/>
        </p:nvSpPr>
        <p:spPr>
          <a:xfrm>
            <a:off x="932688" y="146304"/>
            <a:ext cx="7863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Mexico's Consumer Price Index (CPI / INPC)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32688" y="859536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by INEGI — bi-monthly, national coverage, base July 2018 = 100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804672" y="1115568"/>
            <a:ext cx="8229600" cy="22860"/>
          </a:xfrm>
          <a:prstGeom prst="rect">
            <a:avLst/>
          </a:prstGeom>
          <a:solidFill>
            <a:srgbClr val="DDE3EA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graphicFrame>
        <p:nvGraphicFramePr>
          <p:cNvPr id="7" name="Chart 0"/>
          <p:cNvGraphicFramePr/>
          <p:nvPr/>
        </p:nvGraphicFramePr>
        <p:xfrm>
          <a:off x="804672" y="1207008"/>
          <a:ext cx="502920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Shape 4"/>
          <p:cNvSpPr/>
          <p:nvPr/>
        </p:nvSpPr>
        <p:spPr>
          <a:xfrm>
            <a:off x="5989320" y="1207008"/>
            <a:ext cx="3035808" cy="768096"/>
          </a:xfrm>
          <a:prstGeom prst="rect">
            <a:avLst/>
          </a:prstGeom>
          <a:solidFill>
            <a:srgbClr val="F4F6F8"/>
          </a:solidFill>
          <a:ln w="12700">
            <a:solidFill>
              <a:srgbClr val="00BFA5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9" name="Shape 5"/>
          <p:cNvSpPr/>
          <p:nvPr/>
        </p:nvSpPr>
        <p:spPr>
          <a:xfrm>
            <a:off x="5989320" y="1207008"/>
            <a:ext cx="54864" cy="768096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6"/>
          <p:cNvSpPr/>
          <p:nvPr/>
        </p:nvSpPr>
        <p:spPr>
          <a:xfrm>
            <a:off x="6144768" y="1261872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CCIF 2018 classification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6144768" y="1517904"/>
            <a:ext cx="2788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the international COICOP standard (13 divisions). Enables comparison with Brazil, UK ONS, and other G-CPI programs.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5989320" y="2084832"/>
            <a:ext cx="3035808" cy="768096"/>
          </a:xfrm>
          <a:prstGeom prst="rect">
            <a:avLst/>
          </a:prstGeom>
          <a:solidFill>
            <a:srgbClr val="F4F6F8"/>
          </a:solidFill>
          <a:ln w="12700">
            <a:solidFill>
              <a:srgbClr val="1565C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3" name="Shape 9"/>
          <p:cNvSpPr/>
          <p:nvPr/>
        </p:nvSpPr>
        <p:spPr>
          <a:xfrm>
            <a:off x="5989320" y="2084832"/>
            <a:ext cx="54864" cy="76809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0"/>
          <p:cNvSpPr/>
          <p:nvPr/>
        </p:nvSpPr>
        <p:spPr>
          <a:xfrm>
            <a:off x="6144768" y="2139696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292 generic products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6144768" y="2395728"/>
            <a:ext cx="2788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basket is built from 292 genéricos updated in 2024. The G-CPI maps its 13 division weights directly to these price series.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5989320" y="2962656"/>
            <a:ext cx="3035808" cy="768096"/>
          </a:xfrm>
          <a:prstGeom prst="rect">
            <a:avLst/>
          </a:prstGeom>
          <a:solidFill>
            <a:srgbClr val="F4F6F8"/>
          </a:solidFill>
          <a:ln w="12700">
            <a:solidFill>
              <a:srgbClr val="F57F17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7" name="Shape 13"/>
          <p:cNvSpPr/>
          <p:nvPr/>
        </p:nvSpPr>
        <p:spPr>
          <a:xfrm>
            <a:off x="5989320" y="2962656"/>
            <a:ext cx="54864" cy="768096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4"/>
          <p:cNvSpPr/>
          <p:nvPr/>
        </p:nvSpPr>
        <p:spPr>
          <a:xfrm>
            <a:off x="6144768" y="3017520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window: 2022–2025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6144768" y="3273552"/>
            <a:ext cx="2788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G-CPI is computed for all 48 months. Analysis focuses on Jan 2023–Dec 2025 (36 months) after the 2022 high-volatility period.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5989320" y="3840480"/>
            <a:ext cx="3035808" cy="768096"/>
          </a:xfrm>
          <a:prstGeom prst="rect">
            <a:avLst/>
          </a:prstGeom>
          <a:solidFill>
            <a:srgbClr val="F4F6F8"/>
          </a:solidFill>
          <a:ln w="12700">
            <a:solidFill>
              <a:srgbClr val="C6282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1" name="Shape 17"/>
          <p:cNvSpPr/>
          <p:nvPr/>
        </p:nvSpPr>
        <p:spPr>
          <a:xfrm>
            <a:off x="5989320" y="3840480"/>
            <a:ext cx="54864" cy="768096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Text 18"/>
          <p:cNvSpPr/>
          <p:nvPr/>
        </p:nvSpPr>
        <p:spPr>
          <a:xfrm>
            <a:off x="6144768" y="3895344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2022 peak matters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6144768" y="4151376"/>
            <a:ext cx="2788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post-COVID inflation spike validates the G-CPI approach: macro shocks hit groups differently depending on their basket composition.</a:t>
            </a:r>
            <a:endParaRPr lang="en-US" sz="950" dirty="0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873752"/>
            <a:ext cx="9144000" cy="26974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49808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04672" y="182880"/>
            <a:ext cx="64008" cy="640080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1"/>
          <p:cNvSpPr/>
          <p:nvPr/>
        </p:nvSpPr>
        <p:spPr>
          <a:xfrm>
            <a:off x="932688" y="146304"/>
            <a:ext cx="7863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ENIGH: National Household Income and Expenditure Survey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32688" y="859536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ENIGH Estacional 2022 — base for both G-CPI and the official INPC 2024 update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804672" y="1115568"/>
            <a:ext cx="8229600" cy="22860"/>
          </a:xfrm>
          <a:prstGeom prst="rect">
            <a:avLst/>
          </a:prstGeom>
          <a:solidFill>
            <a:srgbClr val="DDE3EA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04672" y="1207008"/>
            <a:ext cx="4572000" cy="32004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577840" y="1207008"/>
            <a:ext cx="3447288" cy="768096"/>
          </a:xfrm>
          <a:prstGeom prst="rect">
            <a:avLst/>
          </a:prstGeom>
          <a:solidFill>
            <a:srgbClr val="F4F6F8"/>
          </a:solidFill>
          <a:ln w="12700">
            <a:solidFill>
              <a:srgbClr val="00BFA5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9" name="Shape 5"/>
          <p:cNvSpPr/>
          <p:nvPr/>
        </p:nvSpPr>
        <p:spPr>
          <a:xfrm>
            <a:off x="5577840" y="1207008"/>
            <a:ext cx="54864" cy="768096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6"/>
          <p:cNvSpPr/>
          <p:nvPr/>
        </p:nvSpPr>
        <p:spPr>
          <a:xfrm>
            <a:off x="5724144" y="1261872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50,968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5724144" y="1627632"/>
            <a:ext cx="31272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households surveyed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5577840" y="2084832"/>
            <a:ext cx="3447288" cy="768096"/>
          </a:xfrm>
          <a:prstGeom prst="rect">
            <a:avLst/>
          </a:prstGeom>
          <a:solidFill>
            <a:srgbClr val="F4F6F8"/>
          </a:solidFill>
          <a:ln w="12700">
            <a:solidFill>
              <a:srgbClr val="1565C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3" name="Shape 9"/>
          <p:cNvSpPr/>
          <p:nvPr/>
        </p:nvSpPr>
        <p:spPr>
          <a:xfrm>
            <a:off x="5577840" y="2084832"/>
            <a:ext cx="54864" cy="76809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0"/>
          <p:cNvSpPr/>
          <p:nvPr/>
        </p:nvSpPr>
        <p:spPr>
          <a:xfrm>
            <a:off x="5724144" y="2139696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5724144" y="2505456"/>
            <a:ext cx="31272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 headship groups identified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5577840" y="2962656"/>
            <a:ext cx="3447288" cy="768096"/>
          </a:xfrm>
          <a:prstGeom prst="rect">
            <a:avLst/>
          </a:prstGeom>
          <a:solidFill>
            <a:srgbClr val="F4F6F8"/>
          </a:solidFill>
          <a:ln w="12700">
            <a:solidFill>
              <a:srgbClr val="7B5EA7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7" name="Shape 13"/>
          <p:cNvSpPr/>
          <p:nvPr/>
        </p:nvSpPr>
        <p:spPr>
          <a:xfrm>
            <a:off x="5577840" y="2962656"/>
            <a:ext cx="54864" cy="768096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4"/>
          <p:cNvSpPr/>
          <p:nvPr/>
        </p:nvSpPr>
        <p:spPr>
          <a:xfrm>
            <a:off x="5724144" y="3017520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2200" dirty="0"/>
          </a:p>
        </p:txBody>
      </p:sp>
      <p:sp>
        <p:nvSpPr>
          <p:cNvPr id="19" name="Text 15"/>
          <p:cNvSpPr/>
          <p:nvPr/>
        </p:nvSpPr>
        <p:spPr>
          <a:xfrm>
            <a:off x="5724144" y="3383280"/>
            <a:ext cx="31272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CCIF expenditure divisions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5577840" y="3840480"/>
            <a:ext cx="3447288" cy="768096"/>
          </a:xfrm>
          <a:prstGeom prst="rect">
            <a:avLst/>
          </a:prstGeom>
          <a:solidFill>
            <a:srgbClr val="F4F6F8"/>
          </a:solidFill>
          <a:ln w="12700">
            <a:solidFill>
              <a:srgbClr val="C6282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1" name="Shape 17"/>
          <p:cNvSpPr/>
          <p:nvPr/>
        </p:nvSpPr>
        <p:spPr>
          <a:xfrm>
            <a:off x="5577840" y="3840480"/>
            <a:ext cx="54864" cy="768096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Text 18"/>
          <p:cNvSpPr/>
          <p:nvPr/>
        </p:nvSpPr>
        <p:spPr>
          <a:xfrm>
            <a:off x="5724144" y="3895344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2200" dirty="0"/>
          </a:p>
        </p:txBody>
      </p:sp>
      <p:sp>
        <p:nvSpPr>
          <p:cNvPr id="23" name="Text 19"/>
          <p:cNvSpPr/>
          <p:nvPr/>
        </p:nvSpPr>
        <p:spPr>
          <a:xfrm>
            <a:off x="5724144" y="4261104"/>
            <a:ext cx="31272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edition — same source as official CPI 2024 weights</a:t>
            </a:r>
            <a:endParaRPr lang="en-US" sz="1000" dirty="0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873752"/>
            <a:ext cx="9144000" cy="26974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49808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04672" y="182880"/>
            <a:ext cx="64008" cy="640080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1"/>
          <p:cNvSpPr/>
          <p:nvPr/>
        </p:nvSpPr>
        <p:spPr>
          <a:xfrm>
            <a:off x="932688" y="146304"/>
            <a:ext cx="7863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ENIGH Estacional 2022 and CCIF 2018?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32688" y="859536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official sources — one crosswalk enables the G-CPI construction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804672" y="1115568"/>
            <a:ext cx="8229600" cy="22860"/>
          </a:xfrm>
          <a:prstGeom prst="rect">
            <a:avLst/>
          </a:prstGeom>
          <a:solidFill>
            <a:srgbClr val="DDE3EA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Shape 4"/>
          <p:cNvSpPr/>
          <p:nvPr/>
        </p:nvSpPr>
        <p:spPr>
          <a:xfrm>
            <a:off x="804672" y="1207008"/>
            <a:ext cx="3977640" cy="1426464"/>
          </a:xfrm>
          <a:prstGeom prst="rect">
            <a:avLst/>
          </a:prstGeom>
          <a:solidFill>
            <a:srgbClr val="F4F6F8"/>
          </a:solidFill>
          <a:ln w="12700">
            <a:solidFill>
              <a:srgbClr val="00BFA5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8" name="Shape 5"/>
          <p:cNvSpPr/>
          <p:nvPr/>
        </p:nvSpPr>
        <p:spPr>
          <a:xfrm>
            <a:off x="896112" y="1700784"/>
            <a:ext cx="420624" cy="420624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6"/>
          <p:cNvSpPr/>
          <p:nvPr/>
        </p:nvSpPr>
        <p:spPr>
          <a:xfrm>
            <a:off x="896112" y="170078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408176" y="1280160"/>
            <a:ext cx="3273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source — no assumptions needed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408176" y="1700784"/>
            <a:ext cx="3273552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ENIGH is produced by INEGI, the same agency that publishes the CPI. Both the G-CPI expenditure weights AND the official CPI 2024 update use ENIGH 2022. This guarantees methodological coherence.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804672" y="2743200"/>
            <a:ext cx="3977640" cy="1426464"/>
          </a:xfrm>
          <a:prstGeom prst="rect">
            <a:avLst/>
          </a:prstGeom>
          <a:solidFill>
            <a:srgbClr val="F4F6F8"/>
          </a:solidFill>
          <a:ln w="12700">
            <a:solidFill>
              <a:srgbClr val="1565C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3" name="Shape 10"/>
          <p:cNvSpPr/>
          <p:nvPr/>
        </p:nvSpPr>
        <p:spPr>
          <a:xfrm>
            <a:off x="896112" y="3236976"/>
            <a:ext cx="420624" cy="420624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1"/>
          <p:cNvSpPr/>
          <p:nvPr/>
        </p:nvSpPr>
        <p:spPr>
          <a:xfrm>
            <a:off x="896112" y="323697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408176" y="2816352"/>
            <a:ext cx="3273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CCIF 2018 enables international comparison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408176" y="3236976"/>
            <a:ext cx="3273552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CPI Classification of Individual Consumption by Purpose (CCIF/COICOP) is the same standard used by IBGE (Brazil), ONS (UK), and INE (Spain). G-CPI results are directly comparable across G-CPI programs.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983480" y="1207008"/>
            <a:ext cx="3977640" cy="1426464"/>
          </a:xfrm>
          <a:prstGeom prst="rect">
            <a:avLst/>
          </a:prstGeom>
          <a:solidFill>
            <a:srgbClr val="F4F6F8"/>
          </a:solidFill>
          <a:ln w="12700">
            <a:solidFill>
              <a:srgbClr val="7B5EA7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8" name="Shape 15"/>
          <p:cNvSpPr/>
          <p:nvPr/>
        </p:nvSpPr>
        <p:spPr>
          <a:xfrm>
            <a:off x="5074920" y="1700784"/>
            <a:ext cx="420624" cy="420624"/>
          </a:xfrm>
          <a:prstGeom prst="ellipse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Text 16"/>
          <p:cNvSpPr/>
          <p:nvPr/>
        </p:nvSpPr>
        <p:spPr>
          <a:xfrm>
            <a:off x="5074920" y="170078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586984" y="1280160"/>
            <a:ext cx="3273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Crosswalk: ENIGH categories → CCIF divisions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586984" y="1700784"/>
            <a:ext cx="3273552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mapping file (crosswalk_ENIGH_CCIF2018.csv) links each ENIGH expenditure category to its CCIF division. This translation is the methodological backbone of the G-CPI construction.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983480" y="2743200"/>
            <a:ext cx="3977640" cy="1426464"/>
          </a:xfrm>
          <a:prstGeom prst="rect">
            <a:avLst/>
          </a:prstGeom>
          <a:solidFill>
            <a:srgbClr val="F4F6F8"/>
          </a:solidFill>
          <a:ln w="12700">
            <a:solidFill>
              <a:srgbClr val="F57F17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3" name="Shape 20"/>
          <p:cNvSpPr/>
          <p:nvPr/>
        </p:nvSpPr>
        <p:spPr>
          <a:xfrm>
            <a:off x="5074920" y="3236976"/>
            <a:ext cx="420624" cy="420624"/>
          </a:xfrm>
          <a:prstGeom prst="ellipse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4" name="Text 21"/>
          <p:cNvSpPr/>
          <p:nvPr/>
        </p:nvSpPr>
        <p:spPr>
          <a:xfrm>
            <a:off x="5074920" y="323697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5586984" y="2816352"/>
            <a:ext cx="3273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edition = actual quarterly expenditure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5586984" y="3236976"/>
            <a:ext cx="3273552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'Estacional' (seasonal) edition captures spending patterns by quarter, making it more representative of real-time consumption than the standard biennial ENIGH. Critical for capturing within-year variation.</a:t>
            </a:r>
            <a:endParaRPr lang="en-US" sz="1000" dirty="0"/>
          </a:p>
        </p:txBody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873752"/>
            <a:ext cx="9144000" cy="26974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365760" y="1645920"/>
            <a:ext cx="8412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4200" dirty="0"/>
          </a:p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4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6974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49808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04672" y="182880"/>
            <a:ext cx="64008" cy="640080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1"/>
          <p:cNvSpPr/>
          <p:nvPr/>
        </p:nvSpPr>
        <p:spPr>
          <a:xfrm>
            <a:off x="932688" y="146304"/>
            <a:ext cx="7863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Household Headship Groups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32688" y="859536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by sex of head of household × presence of a partner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804672" y="1115568"/>
            <a:ext cx="8229600" cy="22860"/>
          </a:xfrm>
          <a:prstGeom prst="rect">
            <a:avLst/>
          </a:prstGeom>
          <a:solidFill>
            <a:srgbClr val="DDE3EA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Shape 4"/>
          <p:cNvSpPr/>
          <p:nvPr/>
        </p:nvSpPr>
        <p:spPr>
          <a:xfrm>
            <a:off x="804672" y="1207008"/>
            <a:ext cx="1920240" cy="3429000"/>
          </a:xfrm>
          <a:prstGeom prst="rect">
            <a:avLst/>
          </a:prstGeom>
          <a:solidFill>
            <a:srgbClr val="F4F6F8"/>
          </a:solidFill>
          <a:ln w="12700">
            <a:solidFill>
              <a:srgbClr val="1565C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8" name="Shape 5"/>
          <p:cNvSpPr/>
          <p:nvPr/>
        </p:nvSpPr>
        <p:spPr>
          <a:xfrm>
            <a:off x="804672" y="1207008"/>
            <a:ext cx="1920240" cy="47548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6"/>
          <p:cNvSpPr/>
          <p:nvPr/>
        </p:nvSpPr>
        <p:spPr>
          <a:xfrm>
            <a:off x="859536" y="1207008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MWP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877824" y="1773936"/>
            <a:ext cx="17739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With Partner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77824" y="2286000"/>
            <a:ext cx="17739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24,648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877824" y="2724912"/>
            <a:ext cx="17739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households  (48.4%)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96112" y="3035808"/>
            <a:ext cx="1737360" cy="1481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group. Two-income potential. Higher transport &amp; education spending. Typically family households with children.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2871216" y="1207008"/>
            <a:ext cx="1920240" cy="3429000"/>
          </a:xfrm>
          <a:prstGeom prst="rect">
            <a:avLst/>
          </a:prstGeom>
          <a:solidFill>
            <a:srgbClr val="F4F6F8"/>
          </a:solidFill>
          <a:ln w="12700">
            <a:solidFill>
              <a:srgbClr val="FF8A65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5" name="Shape 12"/>
          <p:cNvSpPr/>
          <p:nvPr/>
        </p:nvSpPr>
        <p:spPr>
          <a:xfrm>
            <a:off x="2871216" y="1207008"/>
            <a:ext cx="1920240" cy="475488"/>
          </a:xfrm>
          <a:prstGeom prst="rect">
            <a:avLst/>
          </a:prstGeom>
          <a:solidFill>
            <a:srgbClr val="FF8A65"/>
          </a:solidFill>
          <a:ln w="12700">
            <a:solidFill>
              <a:srgbClr val="FF8A6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3"/>
          <p:cNvSpPr/>
          <p:nvPr/>
        </p:nvSpPr>
        <p:spPr>
          <a:xfrm>
            <a:off x="2926080" y="1207008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FWoP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2944368" y="1773936"/>
            <a:ext cx="17739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8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Without Partner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2944368" y="2286000"/>
            <a:ext cx="17739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11,531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2944368" y="2724912"/>
            <a:ext cx="17739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households  (22.6%)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2962656" y="3035808"/>
            <a:ext cx="1737360" cy="1481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largest group. Female-led single-person or lone-parent households. Higher food share, lower transport spending.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4937760" y="1207008"/>
            <a:ext cx="1920240" cy="3429000"/>
          </a:xfrm>
          <a:prstGeom prst="rect">
            <a:avLst/>
          </a:prstGeom>
          <a:solidFill>
            <a:srgbClr val="F4F6F8"/>
          </a:solidFill>
          <a:ln w="12700">
            <a:solidFill>
              <a:srgbClr val="29B6F6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2" name="Shape 19"/>
          <p:cNvSpPr/>
          <p:nvPr/>
        </p:nvSpPr>
        <p:spPr>
          <a:xfrm>
            <a:off x="4937760" y="1207008"/>
            <a:ext cx="1920240" cy="475488"/>
          </a:xfrm>
          <a:prstGeom prst="rect">
            <a:avLst/>
          </a:prstGeom>
          <a:solidFill>
            <a:srgbClr val="29B6F6"/>
          </a:solidFill>
          <a:ln w="12700">
            <a:solidFill>
              <a:srgbClr val="29B6F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Text 20"/>
          <p:cNvSpPr/>
          <p:nvPr/>
        </p:nvSpPr>
        <p:spPr>
          <a:xfrm>
            <a:off x="4992624" y="1207008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MWoP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5010912" y="1773936"/>
            <a:ext cx="17739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9B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Without Partner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010912" y="2286000"/>
            <a:ext cx="17739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5,076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5010912" y="2724912"/>
            <a:ext cx="17739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households  (10.0%)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5029200" y="3035808"/>
            <a:ext cx="1737360" cy="1481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Male-led single-person or lone-male households. Highest Restaurants and Personal care weight. Key finding: MOST exposed to inflation.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7004304" y="1207008"/>
            <a:ext cx="1920240" cy="3429000"/>
          </a:xfrm>
          <a:prstGeom prst="rect">
            <a:avLst/>
          </a:prstGeom>
          <a:solidFill>
            <a:srgbClr val="F4F6F8"/>
          </a:solidFill>
          <a:ln w="12700">
            <a:solidFill>
              <a:srgbClr val="C6282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9" name="Shape 26"/>
          <p:cNvSpPr/>
          <p:nvPr/>
        </p:nvSpPr>
        <p:spPr>
          <a:xfrm>
            <a:off x="7004304" y="1207008"/>
            <a:ext cx="1920240" cy="47548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0" name="Text 27"/>
          <p:cNvSpPr/>
          <p:nvPr/>
        </p:nvSpPr>
        <p:spPr>
          <a:xfrm>
            <a:off x="7059168" y="1207008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FWP</a:t>
            </a:r>
            <a:endParaRPr lang="en-US" sz="2000" dirty="0"/>
          </a:p>
        </p:txBody>
      </p:sp>
      <p:sp>
        <p:nvSpPr>
          <p:cNvPr id="31" name="Text 28"/>
          <p:cNvSpPr/>
          <p:nvPr/>
        </p:nvSpPr>
        <p:spPr>
          <a:xfrm>
            <a:off x="7077456" y="1773936"/>
            <a:ext cx="17739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With Partner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7077456" y="2286000"/>
            <a:ext cx="17739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2,995</a:t>
            </a:r>
            <a:endParaRPr lang="en-US" sz="2200" dirty="0"/>
          </a:p>
        </p:txBody>
      </p:sp>
      <p:sp>
        <p:nvSpPr>
          <p:cNvPr id="33" name="Text 30"/>
          <p:cNvSpPr/>
          <p:nvPr/>
        </p:nvSpPr>
        <p:spPr>
          <a:xfrm>
            <a:off x="7077456" y="2724912"/>
            <a:ext cx="17739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households  (5.9%)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7095744" y="3035808"/>
            <a:ext cx="1737360" cy="1481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Smallest group. Female-headed but with partner present. Most stable spending profile. Key finding: LEAST exposed to inflation.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804672" y="4626864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Groups are identified from ENIGH's 'jefatura de hogar' variable. The remaining ~13% of households have mixed or unclassified headship and are excluded from the analysis.</a:t>
            </a:r>
            <a:endParaRPr lang="en-US" sz="900" dirty="0"/>
          </a:p>
        </p:txBody>
      </p:sp>
      <p:pic>
        <p:nvPicPr>
          <p:cNvPr id="3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873752"/>
            <a:ext cx="9144000" cy="26974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49808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04672" y="182880"/>
            <a:ext cx="64008" cy="640080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1"/>
          <p:cNvSpPr/>
          <p:nvPr/>
        </p:nvSpPr>
        <p:spPr>
          <a:xfrm>
            <a:off x="932688" y="146304"/>
            <a:ext cx="7863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G-CPI Formula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32688" y="859536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Laspeyres-type price index with group-specific expenditure weights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804672" y="1115568"/>
            <a:ext cx="8229600" cy="22860"/>
          </a:xfrm>
          <a:prstGeom prst="rect">
            <a:avLst/>
          </a:prstGeom>
          <a:solidFill>
            <a:srgbClr val="DDE3EA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Shape 4"/>
          <p:cNvSpPr/>
          <p:nvPr/>
        </p:nvSpPr>
        <p:spPr>
          <a:xfrm>
            <a:off x="804672" y="1207008"/>
            <a:ext cx="8229600" cy="987552"/>
          </a:xfrm>
          <a:prstGeom prst="rect">
            <a:avLst/>
          </a:prstGeom>
          <a:solidFill>
            <a:srgbClr val="EDE7F6"/>
          </a:solidFill>
          <a:ln w="12700">
            <a:solidFill>
              <a:srgbClr val="7B5EA7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8" name="Text 5"/>
          <p:cNvSpPr/>
          <p:nvPr/>
        </p:nvSpPr>
        <p:spPr>
          <a:xfrm>
            <a:off x="896112" y="1243584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G-CPI(g,t)  =  Σ  w(g,d)  ×  I(d,t)  /  I(d,0)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96112" y="1792224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 g = group  |  d = CCIF division  |  t = month  |  0 = base period (2nd fortnight July 2018)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804672" y="2340864"/>
            <a:ext cx="2578608" cy="2340864"/>
          </a:xfrm>
          <a:prstGeom prst="rect">
            <a:avLst/>
          </a:prstGeom>
          <a:solidFill>
            <a:srgbClr val="F4F6F8"/>
          </a:solidFill>
          <a:ln w="12700">
            <a:solidFill>
              <a:srgbClr val="00BFA5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1" name="Shape 8"/>
          <p:cNvSpPr/>
          <p:nvPr/>
        </p:nvSpPr>
        <p:spPr>
          <a:xfrm>
            <a:off x="804672" y="2340864"/>
            <a:ext cx="2578608" cy="36576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9"/>
          <p:cNvSpPr/>
          <p:nvPr/>
        </p:nvSpPr>
        <p:spPr>
          <a:xfrm>
            <a:off x="859536" y="2340864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w(g,d)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96112" y="276148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Group-specific weight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96112" y="3127248"/>
            <a:ext cx="2395728" cy="1481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total consumption that group g allocates to division d. Computed from ENIGH Estacional 2022. This is what differentiates the G-CPI from the official CPI — each group gets its own basket.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602736" y="2340864"/>
            <a:ext cx="2578608" cy="2340864"/>
          </a:xfrm>
          <a:prstGeom prst="rect">
            <a:avLst/>
          </a:prstGeom>
          <a:solidFill>
            <a:srgbClr val="F4F6F8"/>
          </a:solidFill>
          <a:ln w="12700">
            <a:solidFill>
              <a:srgbClr val="1565C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6" name="Shape 13"/>
          <p:cNvSpPr/>
          <p:nvPr/>
        </p:nvSpPr>
        <p:spPr>
          <a:xfrm>
            <a:off x="3602736" y="2340864"/>
            <a:ext cx="2578608" cy="3657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Text 14"/>
          <p:cNvSpPr/>
          <p:nvPr/>
        </p:nvSpPr>
        <p:spPr>
          <a:xfrm>
            <a:off x="3657600" y="2340864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I(d,t)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3694176" y="276148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Division price index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3694176" y="3127248"/>
            <a:ext cx="2395728" cy="1481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INPC index for division d at time t. From INDICE_2022_2025.csv — 48 monthly observations per division, base = July 2018. Published by INEGI, no estimation required.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400800" y="2340864"/>
            <a:ext cx="2578608" cy="2340864"/>
          </a:xfrm>
          <a:prstGeom prst="rect">
            <a:avLst/>
          </a:prstGeom>
          <a:solidFill>
            <a:srgbClr val="F4F6F8"/>
          </a:solidFill>
          <a:ln w="12700">
            <a:solidFill>
              <a:srgbClr val="7B5EA7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1" name="Shape 18"/>
          <p:cNvSpPr/>
          <p:nvPr/>
        </p:nvSpPr>
        <p:spPr>
          <a:xfrm>
            <a:off x="6400800" y="2340864"/>
            <a:ext cx="2578608" cy="365760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Text 19"/>
          <p:cNvSpPr/>
          <p:nvPr/>
        </p:nvSpPr>
        <p:spPr>
          <a:xfrm>
            <a:off x="6455664" y="2340864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Inflation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492240" y="276148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inflation rate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492240" y="3127248"/>
            <a:ext cx="2395728" cy="1481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as [G-CPI(g,t) / G-CPI(g,t-12) − 1] × 100. This gives the 12-month rolling inflation for each group — directly comparable to the official headline CPI rate.</a:t>
            </a:r>
            <a:endParaRPr lang="en-US" sz="1000" dirty="0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873752"/>
            <a:ext cx="9144000" cy="26974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365760" y="1645920"/>
            <a:ext cx="8412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4200" dirty="0"/>
          </a:p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4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6974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49808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04672" y="182880"/>
            <a:ext cx="64008" cy="640080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1"/>
          <p:cNvSpPr/>
          <p:nvPr/>
        </p:nvSpPr>
        <p:spPr>
          <a:xfrm>
            <a:off x="932688" y="146304"/>
            <a:ext cx="7863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Expenditure Weights by Group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32688" y="859536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to official CPI 2024 national weights — four very different baskets from the same survey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804672" y="1115568"/>
            <a:ext cx="8229600" cy="22860"/>
          </a:xfrm>
          <a:prstGeom prst="rect">
            <a:avLst/>
          </a:prstGeom>
          <a:solidFill>
            <a:srgbClr val="DDE3EA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4672" y="1207008"/>
          <a:ext cx="7772400" cy="3564636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80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Division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MWP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Male+partner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MWoP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Male alone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B6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FWP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Female+partner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FWoP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Female alone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8A6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Official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CPI 2024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5E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  Food &amp; beverages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  Clothing &amp; footwear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04  Housing &amp; utilities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  Furniture &amp; home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  Health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07  Transport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  Communication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09  Recreation &amp; culture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 Education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  Restaurants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  Personal care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804672" y="4626864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🔶 Housing: official CPI 20.9% vs G-CPI groups 4.9–7.4%  |  🔴 MWoP outlier: 15.7% Restaurants + 11.1% Personal care (both high-inflation categories)</a:t>
            </a:r>
            <a:endParaRPr lang="en-US" sz="9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873752"/>
            <a:ext cx="9144000" cy="26974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49808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04672" y="182880"/>
            <a:ext cx="64008" cy="640080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1"/>
          <p:cNvSpPr/>
          <p:nvPr/>
        </p:nvSpPr>
        <p:spPr>
          <a:xfrm>
            <a:off x="932688" y="146304"/>
            <a:ext cx="7863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 Groups Spend Differently? — Scatter View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32688" y="859536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bubble = one CCIF division. Position shows male vs female weight. Size = inflation rate of that division.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804672" y="1115568"/>
            <a:ext cx="8229600" cy="22860"/>
          </a:xfrm>
          <a:prstGeom prst="rect">
            <a:avLst/>
          </a:prstGeom>
          <a:solidFill>
            <a:srgbClr val="DDE3EA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04672" y="1170432"/>
            <a:ext cx="8247888" cy="349300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04672" y="4626864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Bubbles above the diagonal → female-headed households spend proportionally MORE on that division. Bubbles below → male-headed spend more. Larger bubbles = higher inflation → bigger weight on the G-CPI gap.</a:t>
            </a:r>
            <a:endParaRPr lang="en-US" sz="9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873752"/>
            <a:ext cx="9144000" cy="26974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49808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04672" y="182880"/>
            <a:ext cx="64008" cy="640080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1"/>
          <p:cNvSpPr/>
          <p:nvPr/>
        </p:nvSpPr>
        <p:spPr>
          <a:xfrm>
            <a:off x="932688" y="146304"/>
            <a:ext cx="7863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292 CPI Generic Products — What They Are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32688" y="859536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INEGI basket update 2024 — same ENIGH 2022 source as G-CPI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804672" y="1115568"/>
            <a:ext cx="8229600" cy="22860"/>
          </a:xfrm>
          <a:prstGeom prst="rect">
            <a:avLst/>
          </a:prstGeom>
          <a:solidFill>
            <a:srgbClr val="DDE3EA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Shape 4"/>
          <p:cNvSpPr/>
          <p:nvPr/>
        </p:nvSpPr>
        <p:spPr>
          <a:xfrm>
            <a:off x="804672" y="1207008"/>
            <a:ext cx="8229600" cy="640080"/>
          </a:xfrm>
          <a:prstGeom prst="rect">
            <a:avLst/>
          </a:prstGeom>
          <a:solidFill>
            <a:srgbClr val="EDE7F6"/>
          </a:solidFill>
          <a:ln w="12700">
            <a:solidFill>
              <a:srgbClr val="7B5EA7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8" name="Text 5"/>
          <p:cNvSpPr/>
          <p:nvPr/>
        </p:nvSpPr>
        <p:spPr>
          <a:xfrm>
            <a:off x="896112" y="126187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'genérico'?  </a:t>
            </a: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CPI basket is built from 292 generic product categories (genéricos) — e.g. 'Tortilla de maíz', 'Gasolina de alto octanaje', 'Sala de belleza y masajes'. Each has a single national weight. The G-CPI currently uses the 13 division aggregates. The next step is to work at the generic level.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04672" y="1993392"/>
            <a:ext cx="2578608" cy="2670048"/>
          </a:xfrm>
          <a:prstGeom prst="rect">
            <a:avLst/>
          </a:prstGeom>
          <a:solidFill>
            <a:srgbClr val="F4F6F8"/>
          </a:solidFill>
          <a:ln w="12700">
            <a:solidFill>
              <a:srgbClr val="DDE3EA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0" name="Shape 7"/>
          <p:cNvSpPr/>
          <p:nvPr/>
        </p:nvSpPr>
        <p:spPr>
          <a:xfrm>
            <a:off x="804672" y="1993392"/>
            <a:ext cx="2578608" cy="34747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8"/>
          <p:cNvSpPr/>
          <p:nvPr/>
        </p:nvSpPr>
        <p:spPr>
          <a:xfrm>
            <a:off x="877824" y="1993392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Basket composition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96112" y="2395728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99 generics — Food &amp; beverages (Div 01)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896112" y="2761488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28 generics — Clothing &amp; footwear (Div 03)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896112" y="3127248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37 generics — Furniture &amp; home (Div 05)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896112" y="3493008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23 generics — Transport (Div 07)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896112" y="3858768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22 generics — Health (Div 06)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896112" y="4224528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15 generics — Personal care (Div 13)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896112" y="4590288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8  generics — Restaurants (Div 11)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3602736" y="1993392"/>
            <a:ext cx="2578608" cy="2670048"/>
          </a:xfrm>
          <a:prstGeom prst="rect">
            <a:avLst/>
          </a:prstGeom>
          <a:solidFill>
            <a:srgbClr val="F4F6F8"/>
          </a:solidFill>
          <a:ln w="12700">
            <a:solidFill>
              <a:srgbClr val="DDE3EA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0" name="Shape 17"/>
          <p:cNvSpPr/>
          <p:nvPr/>
        </p:nvSpPr>
        <p:spPr>
          <a:xfrm>
            <a:off x="3602736" y="1993392"/>
            <a:ext cx="2578608" cy="347472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Text 18"/>
          <p:cNvSpPr/>
          <p:nvPr/>
        </p:nvSpPr>
        <p:spPr>
          <a:xfrm>
            <a:off x="3675888" y="1993392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2018 → 2024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3694176" y="2395728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2018 basket: 299 generics → 2024: 292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3694176" y="2761488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261 generics (89.4%) — unchanged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3694176" y="3127248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25 disaggregated: Streaming added, Bebidas energéticas split, Cilantro separate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3694176" y="3493008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6 merged: Camarón + Otros mariscos combined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3694176" y="3858768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Captures new consumption: streaming, plant-based milk, energy drinks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3694176" y="4224528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Same ENIGH 2022 source → directly comparable to G-CPI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6400800" y="1993392"/>
            <a:ext cx="2578608" cy="2670048"/>
          </a:xfrm>
          <a:prstGeom prst="rect">
            <a:avLst/>
          </a:prstGeom>
          <a:solidFill>
            <a:srgbClr val="F4F6F8"/>
          </a:solidFill>
          <a:ln w="12700">
            <a:solidFill>
              <a:srgbClr val="DDE3EA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9" name="Shape 26"/>
          <p:cNvSpPr/>
          <p:nvPr/>
        </p:nvSpPr>
        <p:spPr>
          <a:xfrm>
            <a:off x="6400800" y="1993392"/>
            <a:ext cx="2578608" cy="34747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0" name="Text 27"/>
          <p:cNvSpPr/>
          <p:nvPr/>
        </p:nvSpPr>
        <p:spPr>
          <a:xfrm>
            <a:off x="6473952" y="1993392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gender/age-tagged generics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6492240" y="2395728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👩 10 female-specific: shoes, blouses, skirts, makeup, salon, sanitary pads…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6492240" y="2761488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👨 10 male-specific: shirts, suits, razors, barbershop, barbacoa…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6492240" y="3127248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👶 11 child-specific: school uniforms, baby food, daycare, school fees…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6492240" y="3493008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4 mixed: children+female clothing, school transport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6492240" y="3858768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Official CPI assigns ONE national weight to each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6492240" y="4224528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G-CPI reveals different exposure by headship type</a:t>
            </a:r>
            <a:endParaRPr lang="en-US" sz="950" dirty="0"/>
          </a:p>
        </p:txBody>
      </p:sp>
      <p:pic>
        <p:nvPicPr>
          <p:cNvPr id="3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873752"/>
            <a:ext cx="9144000" cy="26974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49808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04672" y="182880"/>
            <a:ext cx="64008" cy="640080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1"/>
          <p:cNvSpPr/>
          <p:nvPr/>
        </p:nvSpPr>
        <p:spPr>
          <a:xfrm>
            <a:off x="932688" y="146304"/>
            <a:ext cx="7863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Gender-Tagged Generics: What the Official CPI Misses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32688" y="859536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of 292 generics have explicit female, male or child profile — all with a single national weight in the official CPI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804672" y="1115568"/>
            <a:ext cx="8229600" cy="22860"/>
          </a:xfrm>
          <a:prstGeom prst="rect">
            <a:avLst/>
          </a:prstGeom>
          <a:solidFill>
            <a:srgbClr val="DDE3EA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4672" y="1207008"/>
          <a:ext cx="8229600" cy="307086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Division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it matters for G-CPI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Sala de belleza y masajes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 Personal care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👩 Female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MWoP spends 11.1% on Div 13 vs FWoP 6.4% — but both households buy this product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Toallas sanitarias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 Personal care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👩 Female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Female-headed households buy more — official CPI assigns identical weight to all groups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Navajas / máquinas de afeitar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 Personal care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👨 Male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Higher in male-headed households — contributes to MWoP's elevated personal care weight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Barbacoa o birria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 Restaurants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👨 Male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MWoP spends 15.7% on Restaurants — male-coded consumption drives the gap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Corte de cabello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 Personal care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👨 Male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Systematically higher in male-headed households — a structural, not incidental, pattern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Leche maternizada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 Food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👶 Child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Higher in households with children — linked to MWP and FWP (partner-present groups)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Guarderías e estancias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Education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👶 Child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MWP and FWP (with partner) spend ~9% on education; MWoP only 3.9%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804672" y="3712464"/>
            <a:ext cx="8229600" cy="950976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9" name="Text 5"/>
          <p:cNvSpPr/>
          <p:nvPr/>
        </p:nvSpPr>
        <p:spPr>
          <a:xfrm>
            <a:off x="896112" y="376732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to G-CPI — and the road ahead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896112" y="4059936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G-CPI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13 division-level price indices. The official CPI publishes national weights for all 292 generics — but applies them uniformly. </a:t>
            </a:r>
            <a:r>
              <a:rPr lang="en-US" sz="105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 (Priority 1):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G-CPI at the generic level. This will reveal whether female-alone households pay more for personal care even within Division 13 — because they buy more salon services and fewer razors.</a:t>
            </a:r>
            <a:endParaRPr lang="en-US" sz="10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873752"/>
            <a:ext cx="9144000" cy="26974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49808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04672" y="182880"/>
            <a:ext cx="64008" cy="640080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1"/>
          <p:cNvSpPr/>
          <p:nvPr/>
        </p:nvSpPr>
        <p:spPr>
          <a:xfrm>
            <a:off x="932688" y="146304"/>
            <a:ext cx="7863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G-CPI Inflation Series — 2022 to 2025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32688" y="859536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rate (%) by headship group  |  Base: 2nd fortnight July 2018 = 100, CCIF 2018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804672" y="1115568"/>
            <a:ext cx="8229600" cy="22860"/>
          </a:xfrm>
          <a:prstGeom prst="rect">
            <a:avLst/>
          </a:prstGeom>
          <a:solidFill>
            <a:srgbClr val="DDE3EA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04672" y="1170432"/>
            <a:ext cx="8247888" cy="34290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04672" y="4626864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groups follow the same macroeconomic cycle — MWoP (Male Without Partner) is consistently ABOVE all others. The gap is structural and persistent across all phases: shock (2022), moderation (2023–2024), and stabilisation (2025).</a:t>
            </a:r>
            <a:endParaRPr lang="en-US" sz="10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873752"/>
            <a:ext cx="9144000" cy="26974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49808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04672" y="182880"/>
            <a:ext cx="64008" cy="640080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1"/>
          <p:cNvSpPr/>
          <p:nvPr/>
        </p:nvSpPr>
        <p:spPr>
          <a:xfrm>
            <a:off x="932688" y="146304"/>
            <a:ext cx="7863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Ranking: An Unexpected Result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32688" y="859536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annual inflation rate — Jan 2023 to Dec 2025 (36 months)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804672" y="1115568"/>
            <a:ext cx="8229600" cy="22860"/>
          </a:xfrm>
          <a:prstGeom prst="rect">
            <a:avLst/>
          </a:prstGeom>
          <a:solidFill>
            <a:srgbClr val="DDE3EA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graphicFrame>
        <p:nvGraphicFramePr>
          <p:cNvPr id="7" name="Chart 0"/>
          <p:cNvGraphicFramePr/>
          <p:nvPr/>
        </p:nvGraphicFramePr>
        <p:xfrm>
          <a:off x="804672" y="1170432"/>
          <a:ext cx="502920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Shape 4"/>
          <p:cNvSpPr/>
          <p:nvPr/>
        </p:nvSpPr>
        <p:spPr>
          <a:xfrm>
            <a:off x="5989320" y="1170432"/>
            <a:ext cx="3035808" cy="1078992"/>
          </a:xfrm>
          <a:prstGeom prst="rect">
            <a:avLst/>
          </a:prstGeom>
          <a:solidFill>
            <a:srgbClr val="F4F6F8"/>
          </a:solidFill>
          <a:ln w="12700">
            <a:solidFill>
              <a:srgbClr val="29B6F6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9" name="Shape 5"/>
          <p:cNvSpPr/>
          <p:nvPr/>
        </p:nvSpPr>
        <p:spPr>
          <a:xfrm>
            <a:off x="5989320" y="1170432"/>
            <a:ext cx="54864" cy="1078992"/>
          </a:xfrm>
          <a:prstGeom prst="rect">
            <a:avLst/>
          </a:prstGeom>
          <a:solidFill>
            <a:srgbClr val="29B6F6"/>
          </a:solidFill>
          <a:ln w="12700">
            <a:solidFill>
              <a:srgbClr val="29B6F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6"/>
          <p:cNvSpPr/>
          <p:nvPr/>
        </p:nvSpPr>
        <p:spPr>
          <a:xfrm>
            <a:off x="6126480" y="1261872"/>
            <a:ext cx="2816352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MWoP ranks #1 — male-alone households face the HIGHEST inflation. Restaurants (15.7%) and Personal care (11.1%) are both high-inflation categories (8.0% and 6.2% avg). This combination mechanically produces a higher G-CPI.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5989320" y="2359152"/>
            <a:ext cx="3035808" cy="1078992"/>
          </a:xfrm>
          <a:prstGeom prst="rect">
            <a:avLst/>
          </a:prstGeom>
          <a:solidFill>
            <a:srgbClr val="F4F6F8"/>
          </a:solidFill>
          <a:ln w="12700">
            <a:solidFill>
              <a:srgbClr val="FF8A65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2" name="Shape 8"/>
          <p:cNvSpPr/>
          <p:nvPr/>
        </p:nvSpPr>
        <p:spPr>
          <a:xfrm>
            <a:off x="5989320" y="2359152"/>
            <a:ext cx="54864" cy="1078992"/>
          </a:xfrm>
          <a:prstGeom prst="rect">
            <a:avLst/>
          </a:prstGeom>
          <a:solidFill>
            <a:srgbClr val="FF8A65"/>
          </a:solidFill>
          <a:ln w="12700">
            <a:solidFill>
              <a:srgbClr val="FF8A6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9"/>
          <p:cNvSpPr/>
          <p:nvPr/>
        </p:nvSpPr>
        <p:spPr>
          <a:xfrm>
            <a:off x="6126480" y="2450592"/>
            <a:ext cx="2816352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FWoP ranks #3 — female-alone households pay LESS than both male groups. The initial hypothesis is rejected. Higher food spending (a mid-inflation category at 5.8%) provides relative protection.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989320" y="3547872"/>
            <a:ext cx="3035808" cy="1078992"/>
          </a:xfrm>
          <a:prstGeom prst="rect">
            <a:avLst/>
          </a:prstGeom>
          <a:solidFill>
            <a:srgbClr val="F4F6F8"/>
          </a:solidFill>
          <a:ln w="12700">
            <a:solidFill>
              <a:srgbClr val="00BFA5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5" name="Shape 11"/>
          <p:cNvSpPr/>
          <p:nvPr/>
        </p:nvSpPr>
        <p:spPr>
          <a:xfrm>
            <a:off x="5989320" y="3547872"/>
            <a:ext cx="54864" cy="107899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2"/>
          <p:cNvSpPr/>
          <p:nvPr/>
        </p:nvSpPr>
        <p:spPr>
          <a:xfrm>
            <a:off x="6126480" y="3639312"/>
            <a:ext cx="2816352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Composition, not sex, determines the ranking. Household structure — alone vs with partner — is the stronger predictor of inflation exposure. The gender framing alone is insufficient.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804672" y="4626864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MWoP − FWP gap: +0.2723 pp — positive in 100% of the 36 months</a:t>
            </a:r>
            <a:endParaRPr lang="en-US" sz="95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873752"/>
            <a:ext cx="9144000" cy="26974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49808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04672" y="182880"/>
            <a:ext cx="64008" cy="640080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1"/>
          <p:cNvSpPr/>
          <p:nvPr/>
        </p:nvSpPr>
        <p:spPr>
          <a:xfrm>
            <a:off x="932688" y="146304"/>
            <a:ext cx="7863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Drives the Inflation Gap?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32688" y="859536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Decomposition: contribution(d) = [w(female,d) − w(male,d)] × π(d)  |  where π(d) = avg annual inflation rate of division d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804672" y="1115568"/>
            <a:ext cx="8229600" cy="22860"/>
          </a:xfrm>
          <a:prstGeom prst="rect">
            <a:avLst/>
          </a:prstGeom>
          <a:solidFill>
            <a:srgbClr val="DDE3EA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04672" y="1170432"/>
            <a:ext cx="4041648" cy="3474720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983480" y="1170432"/>
            <a:ext cx="4041648" cy="347472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804672" y="1170432"/>
            <a:ext cx="4041648" cy="25603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5"/>
          <p:cNvSpPr/>
          <p:nvPr/>
        </p:nvSpPr>
        <p:spPr>
          <a:xfrm>
            <a:off x="804672" y="1170432"/>
            <a:ext cx="40416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partner: FWP vs MWP</a:t>
            </a:r>
            <a:endParaRPr lang="en-US" sz="900" dirty="0"/>
          </a:p>
        </p:txBody>
      </p:sp>
      <p:sp>
        <p:nvSpPr>
          <p:cNvPr id="11" name="Shape 6"/>
          <p:cNvSpPr/>
          <p:nvPr/>
        </p:nvSpPr>
        <p:spPr>
          <a:xfrm>
            <a:off x="4983480" y="1170432"/>
            <a:ext cx="4041648" cy="25603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7"/>
          <p:cNvSpPr/>
          <p:nvPr/>
        </p:nvSpPr>
        <p:spPr>
          <a:xfrm>
            <a:off x="4983480" y="1170432"/>
            <a:ext cx="40416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partner: FWoP vs MWoP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804672" y="4626864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= female-headed households spend proportionally MORE on that division (pushes their inflation up). Blue = male-headed spend more (explains why male-alone has higher G-CPI — higher weight on high-inflation Restaurants and Personal care).</a:t>
            </a:r>
            <a:endParaRPr lang="en-US" sz="9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4873752"/>
            <a:ext cx="9144000" cy="26974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365760" y="1645920"/>
            <a:ext cx="8412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4200" dirty="0"/>
          </a:p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G-CPI vs. Official CPI</a:t>
            </a:r>
            <a:endParaRPr lang="en-US" sz="4200" dirty="0"/>
          </a:p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Quantifying the Measurement Bias</a:t>
            </a:r>
            <a:endParaRPr lang="en-US" sz="4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6974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49808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04672" y="182880"/>
            <a:ext cx="64008" cy="640080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1"/>
          <p:cNvSpPr/>
          <p:nvPr/>
        </p:nvSpPr>
        <p:spPr>
          <a:xfrm>
            <a:off x="932688" y="146304"/>
            <a:ext cx="7863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G-CPI vs. Official CPI: The Counterfactual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32688" y="859536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 we applied the national CPI weights to each group instead of their own basket?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804672" y="1115568"/>
            <a:ext cx="8229600" cy="22860"/>
          </a:xfrm>
          <a:prstGeom prst="rect">
            <a:avLst/>
          </a:prstGeom>
          <a:solidFill>
            <a:srgbClr val="DDE3EA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graphicFrame>
        <p:nvGraphicFramePr>
          <p:cNvPr id="7" name="Chart 0"/>
          <p:cNvGraphicFramePr/>
          <p:nvPr/>
        </p:nvGraphicFramePr>
        <p:xfrm>
          <a:off x="804672" y="1170432"/>
          <a:ext cx="530352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Shape 4"/>
          <p:cNvSpPr/>
          <p:nvPr/>
        </p:nvSpPr>
        <p:spPr>
          <a:xfrm>
            <a:off x="6291072" y="1170432"/>
            <a:ext cx="2743200" cy="35204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9" name="Text 5"/>
          <p:cNvSpPr/>
          <p:nvPr/>
        </p:nvSpPr>
        <p:spPr>
          <a:xfrm>
            <a:off x="6400800" y="1280160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bias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6400800" y="1645920"/>
            <a:ext cx="2523744" cy="2980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groups experience LOWER inflation than the official CPI suggests.
</a:t>
            </a:r>
            <a:r>
              <a:rPr lang="en-US" sz="105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(G-CPI minus CPI):
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MWoP:  −0.05 pp
MWP:   −0.29 pp
FWoP:  −0.32 pp
FWP:   −0.34 pp
</a:t>
            </a:r>
            <a:r>
              <a:rPr lang="en-US" sz="105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
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CPI assigns 20.9% weight to Housing — its lowest-inflation division (2.6% avg). G-CPI groups only spend 5–7% on Housing. This is the single largest source of measurement divergence.</a:t>
            </a:r>
            <a:endParaRPr lang="en-US" sz="10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873752"/>
            <a:ext cx="9144000" cy="26974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365760" y="1645920"/>
            <a:ext cx="8412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</a:t>
            </a:r>
            <a:endParaRPr lang="en-US" sz="4200" dirty="0"/>
          </a:p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Inflation Forecast 2026</a:t>
            </a:r>
            <a:endParaRPr lang="en-US" sz="4200" dirty="0"/>
          </a:p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G-CPI by Household Headship Type</a:t>
            </a:r>
            <a:endParaRPr lang="en-US" sz="4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6974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49808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04672" y="182880"/>
            <a:ext cx="64008" cy="640080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1"/>
          <p:cNvSpPr/>
          <p:nvPr/>
        </p:nvSpPr>
        <p:spPr>
          <a:xfrm>
            <a:off x="932688" y="146304"/>
            <a:ext cx="7863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Model: SARIMA(1,0,1)(1,0,1,12)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32688" y="859536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Fitted independently for each headship group using the G-CPI inflation series 2023–2025 (36 months)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804672" y="1115568"/>
            <a:ext cx="8229600" cy="22860"/>
          </a:xfrm>
          <a:prstGeom prst="rect">
            <a:avLst/>
          </a:prstGeom>
          <a:solidFill>
            <a:srgbClr val="DDE3EA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Shape 4"/>
          <p:cNvSpPr/>
          <p:nvPr/>
        </p:nvSpPr>
        <p:spPr>
          <a:xfrm>
            <a:off x="804672" y="1207008"/>
            <a:ext cx="8229600" cy="768096"/>
          </a:xfrm>
          <a:prstGeom prst="rect">
            <a:avLst/>
          </a:prstGeom>
          <a:solidFill>
            <a:srgbClr val="F4F6F8"/>
          </a:solidFill>
          <a:ln w="12700">
            <a:solidFill>
              <a:srgbClr val="00BFA5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8" name="Shape 5"/>
          <p:cNvSpPr/>
          <p:nvPr/>
        </p:nvSpPr>
        <p:spPr>
          <a:xfrm>
            <a:off x="841248" y="1362456"/>
            <a:ext cx="457200" cy="457200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6"/>
          <p:cNvSpPr/>
          <p:nvPr/>
        </p:nvSpPr>
        <p:spPr>
          <a:xfrm>
            <a:off x="841248" y="13624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417320" y="1261872"/>
            <a:ext cx="6601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Stationarity — Augmented Dickey-Fuller (ADF) Test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417320" y="1536192"/>
            <a:ext cx="66019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G-CPI inflation series are stationary (p &lt; 0.05) → no differencing required → d = 0, D = 0. The series oscillate around a stable mean — they do not drift permanently in one direction.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804672" y="2084832"/>
            <a:ext cx="8229600" cy="768096"/>
          </a:xfrm>
          <a:prstGeom prst="rect">
            <a:avLst/>
          </a:prstGeom>
          <a:solidFill>
            <a:srgbClr val="F4F6F8"/>
          </a:solidFill>
          <a:ln w="12700">
            <a:solidFill>
              <a:srgbClr val="7B5EA7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3" name="Shape 10"/>
          <p:cNvSpPr/>
          <p:nvPr/>
        </p:nvSpPr>
        <p:spPr>
          <a:xfrm>
            <a:off x="841248" y="2240280"/>
            <a:ext cx="457200" cy="457200"/>
          </a:xfrm>
          <a:prstGeom prst="ellipse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1"/>
          <p:cNvSpPr/>
          <p:nvPr/>
        </p:nvSpPr>
        <p:spPr>
          <a:xfrm>
            <a:off x="841248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417320" y="2139696"/>
            <a:ext cx="6601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Selection — SARIMA(1,0,1)(1,0,1,12)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417320" y="2414016"/>
            <a:ext cx="66019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AR(1) + MA(1) captures short-term momentum. SAR(1) + SMA(1) captures annual seasonality (12-month cycle). Fitted using statsmodels SARIMAX. AIC: MWP 26.4 | MWoP 17.2 | FWP 25.0 | FWoP 26.5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804672" y="2962656"/>
            <a:ext cx="8229600" cy="768096"/>
          </a:xfrm>
          <a:prstGeom prst="rect">
            <a:avLst/>
          </a:prstGeom>
          <a:solidFill>
            <a:srgbClr val="F4F6F8"/>
          </a:solidFill>
          <a:ln w="12700">
            <a:solidFill>
              <a:srgbClr val="1565C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8" name="Shape 15"/>
          <p:cNvSpPr/>
          <p:nvPr/>
        </p:nvSpPr>
        <p:spPr>
          <a:xfrm>
            <a:off x="841248" y="3118104"/>
            <a:ext cx="457200" cy="45720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Text 16"/>
          <p:cNvSpPr/>
          <p:nvPr/>
        </p:nvSpPr>
        <p:spPr>
          <a:xfrm>
            <a:off x="841248" y="31181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417320" y="3017520"/>
            <a:ext cx="6601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— Ljung-Box Test (white noise check)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417320" y="3291840"/>
            <a:ext cx="66019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Residuals show NO autocorrelation in any of the 4 groups (Ljung-Box p = 1.0 at lag 12). Residuals are white noise → the model has captured all systematic structure in the data. No remaining predictable signal.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804672" y="3840480"/>
            <a:ext cx="8229600" cy="768096"/>
          </a:xfrm>
          <a:prstGeom prst="rect">
            <a:avLst/>
          </a:prstGeom>
          <a:solidFill>
            <a:srgbClr val="F4F6F8"/>
          </a:solidFill>
          <a:ln w="12700">
            <a:solidFill>
              <a:srgbClr val="2E7D32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3" name="Shape 20"/>
          <p:cNvSpPr/>
          <p:nvPr/>
        </p:nvSpPr>
        <p:spPr>
          <a:xfrm>
            <a:off x="841248" y="3995928"/>
            <a:ext cx="457200" cy="4572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4" name="Text 21"/>
          <p:cNvSpPr/>
          <p:nvPr/>
        </p:nvSpPr>
        <p:spPr>
          <a:xfrm>
            <a:off x="841248" y="39959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1417320" y="3895344"/>
            <a:ext cx="6601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— 12-month ahead: January to December 2026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1417320" y="4169664"/>
            <a:ext cx="66019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forecast + 95% confidence intervals from the model's prediction variance. The vulnerability ranking (MWoP &gt; MWP &gt; FWoP &gt; FWP) is preserved in every month of the 2026 forecast — a structural pattern, not a coincidence.</a:t>
            </a:r>
            <a:endParaRPr lang="en-US" sz="1050" dirty="0"/>
          </a:p>
        </p:txBody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873752"/>
            <a:ext cx="9144000" cy="269748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49808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04672" y="182880"/>
            <a:ext cx="64008" cy="640080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1"/>
          <p:cNvSpPr/>
          <p:nvPr/>
        </p:nvSpPr>
        <p:spPr>
          <a:xfrm>
            <a:off x="932688" y="146304"/>
            <a:ext cx="7863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G-CPI Inflation Forecast — Visual Projection 2026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32688" y="859536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SARIMA(1,0,1)(1,0,1,12) — dashed lines = observed 2025 data for continuity context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804672" y="1115568"/>
            <a:ext cx="8229600" cy="22860"/>
          </a:xfrm>
          <a:prstGeom prst="rect">
            <a:avLst/>
          </a:prstGeom>
          <a:solidFill>
            <a:srgbClr val="DDE3EA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04672" y="1170432"/>
            <a:ext cx="8247888" cy="349300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04672" y="4626864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MWoP remains the most vulnerable group every single month of 2026. All groups follow a seasonal V-shape: dip in Q1, rebound in Q3. Forecast range: 3.7% (Jan) to 4.6% (Oct). Moderate inflation consistent with Banco de México convergence path.</a:t>
            </a:r>
            <a:endParaRPr lang="en-US" sz="9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873752"/>
            <a:ext cx="9144000" cy="269748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49808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04672" y="182880"/>
            <a:ext cx="64008" cy="640080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1"/>
          <p:cNvSpPr/>
          <p:nvPr/>
        </p:nvSpPr>
        <p:spPr>
          <a:xfrm>
            <a:off x="932688" y="146304"/>
            <a:ext cx="7863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G-CPI Inflation Forecast — Monthly Values 2026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32688" y="859536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SARIMA(1,0,1)(1,0,1,12) — point forecasts (%)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804672" y="1115568"/>
            <a:ext cx="8229600" cy="22860"/>
          </a:xfrm>
          <a:prstGeom prst="rect">
            <a:avLst/>
          </a:prstGeom>
          <a:solidFill>
            <a:srgbClr val="DDE3EA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4672" y="1207008"/>
          <a:ext cx="5943600" cy="3553968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606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MWP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Male+partner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MWoP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Male alone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B6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FWP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Female+partner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FWoP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Female alone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8A6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6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2026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9B6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8A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06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 2026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9B6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8A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06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9B6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8A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06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9B6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8A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06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9B6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8A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06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2026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9B6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8A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06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 2026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9B6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8A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06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9B6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8A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06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2026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9B6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8A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06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Oct 2026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9B6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8A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06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 2026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9B6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8A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06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 2026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9B6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8A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6903720" y="1207008"/>
            <a:ext cx="2121408" cy="3511296"/>
          </a:xfrm>
          <a:prstGeom prst="rect">
            <a:avLst/>
          </a:prstGeom>
          <a:solidFill>
            <a:srgbClr val="F4F6F8"/>
          </a:solidFill>
          <a:ln w="12700">
            <a:solidFill>
              <a:srgbClr val="0D2137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9" name="Text 5"/>
          <p:cNvSpPr/>
          <p:nvPr/>
        </p:nvSpPr>
        <p:spPr>
          <a:xfrm>
            <a:off x="6995160" y="1298448"/>
            <a:ext cx="193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patterns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6949440" y="1664208"/>
            <a:ext cx="20116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29B6F6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1" name="Shape 7"/>
          <p:cNvSpPr/>
          <p:nvPr/>
        </p:nvSpPr>
        <p:spPr>
          <a:xfrm>
            <a:off x="6949440" y="1664208"/>
            <a:ext cx="54864" cy="530352"/>
          </a:xfrm>
          <a:prstGeom prst="rect">
            <a:avLst/>
          </a:prstGeom>
          <a:solidFill>
            <a:srgbClr val="29B6F6"/>
          </a:solidFill>
          <a:ln w="12700">
            <a:solidFill>
              <a:srgbClr val="29B6F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8"/>
          <p:cNvSpPr/>
          <p:nvPr/>
        </p:nvSpPr>
        <p:spPr>
          <a:xfrm>
            <a:off x="7095744" y="1700784"/>
            <a:ext cx="179222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MWoP highest in every single month of 2026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6949440" y="2267712"/>
            <a:ext cx="20116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00BFA5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4" name="Shape 10"/>
          <p:cNvSpPr/>
          <p:nvPr/>
        </p:nvSpPr>
        <p:spPr>
          <a:xfrm>
            <a:off x="6949440" y="2267712"/>
            <a:ext cx="54864" cy="53035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1"/>
          <p:cNvSpPr/>
          <p:nvPr/>
        </p:nvSpPr>
        <p:spPr>
          <a:xfrm>
            <a:off x="7095744" y="2304288"/>
            <a:ext cx="179222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groups: dip in Q1, rise in Q3 — persistent seasonal cycle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6949440" y="2871216"/>
            <a:ext cx="20116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2E7D32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7" name="Shape 13"/>
          <p:cNvSpPr/>
          <p:nvPr/>
        </p:nvSpPr>
        <p:spPr>
          <a:xfrm>
            <a:off x="6949440" y="2871216"/>
            <a:ext cx="54864" cy="53035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4"/>
          <p:cNvSpPr/>
          <p:nvPr/>
        </p:nvSpPr>
        <p:spPr>
          <a:xfrm>
            <a:off x="7095744" y="2907792"/>
            <a:ext cx="179222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Gradual moderation continues — peak ~4.6% vs 2022 peak ~8%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6949440" y="3474720"/>
            <a:ext cx="20116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7B5EA7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0" name="Shape 16"/>
          <p:cNvSpPr/>
          <p:nvPr/>
        </p:nvSpPr>
        <p:spPr>
          <a:xfrm>
            <a:off x="6949440" y="3474720"/>
            <a:ext cx="54864" cy="530352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Text 17"/>
          <p:cNvSpPr/>
          <p:nvPr/>
        </p:nvSpPr>
        <p:spPr>
          <a:xfrm>
            <a:off x="7095744" y="3511296"/>
            <a:ext cx="179222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vulnerability ranking is structurally preserved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6949440" y="4078224"/>
            <a:ext cx="20116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57F17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3" name="Shape 19"/>
          <p:cNvSpPr/>
          <p:nvPr/>
        </p:nvSpPr>
        <p:spPr>
          <a:xfrm>
            <a:off x="6949440" y="4078224"/>
            <a:ext cx="54864" cy="530352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4" name="Text 20"/>
          <p:cNvSpPr/>
          <p:nvPr/>
        </p:nvSpPr>
        <p:spPr>
          <a:xfrm>
            <a:off x="7095744" y="4114800"/>
            <a:ext cx="179222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Bold = Jul–Oct 2026 peak period</a:t>
            </a:r>
            <a:endParaRPr lang="en-US" sz="9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873752"/>
            <a:ext cx="9144000" cy="26974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365760" y="1645920"/>
            <a:ext cx="8412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</a:t>
            </a:r>
            <a:endParaRPr lang="en-US" sz="4200" dirty="0"/>
          </a:p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4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6974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49808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04672" y="182880"/>
            <a:ext cx="64008" cy="640080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1"/>
          <p:cNvSpPr/>
          <p:nvPr/>
        </p:nvSpPr>
        <p:spPr>
          <a:xfrm>
            <a:off x="932688" y="146304"/>
            <a:ext cx="7863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32688" y="859536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Revisiting the hypothesis — what the data actually shows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804672" y="1115568"/>
            <a:ext cx="8229600" cy="22860"/>
          </a:xfrm>
          <a:prstGeom prst="rect">
            <a:avLst/>
          </a:prstGeom>
          <a:solidFill>
            <a:srgbClr val="DDE3EA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Shape 4"/>
          <p:cNvSpPr/>
          <p:nvPr/>
        </p:nvSpPr>
        <p:spPr>
          <a:xfrm>
            <a:off x="804672" y="1207008"/>
            <a:ext cx="8229600" cy="7315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8" name="Text 5"/>
          <p:cNvSpPr/>
          <p:nvPr/>
        </p:nvSpPr>
        <p:spPr>
          <a:xfrm>
            <a:off x="896112" y="1261872"/>
            <a:ext cx="8046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inflation gap in Mexico is not a gender story — it is a household composition story."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04672" y="2084832"/>
            <a:ext cx="3977640" cy="1170432"/>
          </a:xfrm>
          <a:prstGeom prst="rect">
            <a:avLst/>
          </a:prstGeom>
          <a:solidFill>
            <a:srgbClr val="F4F6F8"/>
          </a:solidFill>
          <a:ln w="12700">
            <a:solidFill>
              <a:srgbClr val="29B6F6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0" name="Shape 7"/>
          <p:cNvSpPr/>
          <p:nvPr/>
        </p:nvSpPr>
        <p:spPr>
          <a:xfrm>
            <a:off x="896112" y="2176272"/>
            <a:ext cx="420624" cy="420624"/>
          </a:xfrm>
          <a:prstGeom prst="ellipse">
            <a:avLst/>
          </a:prstGeom>
          <a:solidFill>
            <a:srgbClr val="29B6F6"/>
          </a:solidFill>
          <a:ln w="12700">
            <a:solidFill>
              <a:srgbClr val="29B6F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8"/>
          <p:cNvSpPr/>
          <p:nvPr/>
        </p:nvSpPr>
        <p:spPr>
          <a:xfrm>
            <a:off x="896112" y="217627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408176" y="2157984"/>
            <a:ext cx="3273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9B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partially confirmed — but reversed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408176" y="2487168"/>
            <a:ext cx="3273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Female-alone households (FWoP) do NOT pay the most inflation. Male-alone (MWoP) does. The initial gender assumption was wrong — household structure matters more than the sex of the head.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804672" y="3364992"/>
            <a:ext cx="3977640" cy="1170432"/>
          </a:xfrm>
          <a:prstGeom prst="rect">
            <a:avLst/>
          </a:prstGeom>
          <a:solidFill>
            <a:srgbClr val="F4F6F8"/>
          </a:solidFill>
          <a:ln w="12700">
            <a:solidFill>
              <a:srgbClr val="C6282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5" name="Shape 12"/>
          <p:cNvSpPr/>
          <p:nvPr/>
        </p:nvSpPr>
        <p:spPr>
          <a:xfrm>
            <a:off x="896112" y="3456432"/>
            <a:ext cx="420624" cy="420624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3"/>
          <p:cNvSpPr/>
          <p:nvPr/>
        </p:nvSpPr>
        <p:spPr>
          <a:xfrm>
            <a:off x="896112" y="345643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408176" y="3438144"/>
            <a:ext cx="3273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CPI overestimates for all groups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408176" y="3767328"/>
            <a:ext cx="3273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0.05–0.34 pp. Root cause: 20.9% national weight on Housing (2.6% inflation) vs 5–7% in G-CPI groups. The official basket systematically under-represents how G-CPI households actually spend.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983480" y="2084832"/>
            <a:ext cx="3977640" cy="1170432"/>
          </a:xfrm>
          <a:prstGeom prst="rect">
            <a:avLst/>
          </a:prstGeom>
          <a:solidFill>
            <a:srgbClr val="F4F6F8"/>
          </a:solidFill>
          <a:ln w="12700">
            <a:solidFill>
              <a:srgbClr val="2E7D32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0" name="Shape 17"/>
          <p:cNvSpPr/>
          <p:nvPr/>
        </p:nvSpPr>
        <p:spPr>
          <a:xfrm>
            <a:off x="5074920" y="2176272"/>
            <a:ext cx="420624" cy="420624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Text 18"/>
          <p:cNvSpPr/>
          <p:nvPr/>
        </p:nvSpPr>
        <p:spPr>
          <a:xfrm>
            <a:off x="5074920" y="217627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586984" y="2157984"/>
            <a:ext cx="3273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gap is persistent and forecastable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586984" y="2487168"/>
            <a:ext cx="3273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MWoP leads every month in 2022–2025 and in the 2026 forecast. The +0.27 pp gap is structural, not cyclical — driven by stable consumption patterns, not temporary shocks.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4983480" y="3364992"/>
            <a:ext cx="3977640" cy="1170432"/>
          </a:xfrm>
          <a:prstGeom prst="rect">
            <a:avLst/>
          </a:prstGeom>
          <a:solidFill>
            <a:srgbClr val="F4F6F8"/>
          </a:solidFill>
          <a:ln w="12700">
            <a:solidFill>
              <a:srgbClr val="7B5EA7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5" name="Shape 22"/>
          <p:cNvSpPr/>
          <p:nvPr/>
        </p:nvSpPr>
        <p:spPr>
          <a:xfrm>
            <a:off x="5074920" y="3456432"/>
            <a:ext cx="420624" cy="420624"/>
          </a:xfrm>
          <a:prstGeom prst="ellipse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6" name="Text 23"/>
          <p:cNvSpPr/>
          <p:nvPr/>
        </p:nvSpPr>
        <p:spPr>
          <a:xfrm>
            <a:off x="5074920" y="345643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586984" y="3438144"/>
            <a:ext cx="3273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G-CPI is a replicable, updatable official framework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5586984" y="3767328"/>
            <a:ext cx="3273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entirely on INEGI official data. Python workflow is documented and ready to update with each new ENIGH wave or CPI revision. Designed to be institutionalised, not just researched.</a:t>
            </a:r>
            <a:endParaRPr lang="en-US" sz="1050" dirty="0"/>
          </a:p>
        </p:txBody>
      </p:sp>
      <p:pic>
        <p:nvPicPr>
          <p:cNvPr id="2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873752"/>
            <a:ext cx="9144000" cy="269748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49808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04672" y="182880"/>
            <a:ext cx="64008" cy="640080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1"/>
          <p:cNvSpPr/>
          <p:nvPr/>
        </p:nvSpPr>
        <p:spPr>
          <a:xfrm>
            <a:off x="932688" y="146304"/>
            <a:ext cx="7863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Robustness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32688" y="859536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assessment of what the G-CPI can and cannot claim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804672" y="1115568"/>
            <a:ext cx="8229600" cy="22860"/>
          </a:xfrm>
          <a:prstGeom prst="rect">
            <a:avLst/>
          </a:prstGeom>
          <a:solidFill>
            <a:srgbClr val="DDE3EA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Shape 4"/>
          <p:cNvSpPr/>
          <p:nvPr/>
        </p:nvSpPr>
        <p:spPr>
          <a:xfrm>
            <a:off x="804672" y="1207008"/>
            <a:ext cx="3977640" cy="1508760"/>
          </a:xfrm>
          <a:prstGeom prst="rect">
            <a:avLst/>
          </a:prstGeom>
          <a:solidFill>
            <a:srgbClr val="F4F6F8"/>
          </a:solidFill>
          <a:ln w="12700">
            <a:solidFill>
              <a:srgbClr val="F57F17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8" name="Shape 5"/>
          <p:cNvSpPr/>
          <p:nvPr/>
        </p:nvSpPr>
        <p:spPr>
          <a:xfrm>
            <a:off x="896112" y="1746504"/>
            <a:ext cx="420624" cy="420624"/>
          </a:xfrm>
          <a:prstGeom prst="ellipse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6"/>
          <p:cNvSpPr/>
          <p:nvPr/>
        </p:nvSpPr>
        <p:spPr>
          <a:xfrm>
            <a:off x="896112" y="174650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408176" y="1298448"/>
            <a:ext cx="3273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Division-level aggregation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408176" y="1719072"/>
            <a:ext cx="3273552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G-CPI uses 13 CCIF division indices, not 292 generic-level prices. Within-division price variation is invisible — the model assumes each group faces the same price for, say, 'personal care' even when they buy different products within that division.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804672" y="2834640"/>
            <a:ext cx="3977640" cy="1508760"/>
          </a:xfrm>
          <a:prstGeom prst="rect">
            <a:avLst/>
          </a:prstGeom>
          <a:solidFill>
            <a:srgbClr val="F4F6F8"/>
          </a:solidFill>
          <a:ln w="12700">
            <a:solidFill>
              <a:srgbClr val="F47B2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3" name="Shape 10"/>
          <p:cNvSpPr/>
          <p:nvPr/>
        </p:nvSpPr>
        <p:spPr>
          <a:xfrm>
            <a:off x="896112" y="3374136"/>
            <a:ext cx="420624" cy="420624"/>
          </a:xfrm>
          <a:prstGeom prst="ellipse">
            <a:avLst/>
          </a:prstGeom>
          <a:solidFill>
            <a:srgbClr val="F47B20"/>
          </a:solidFill>
          <a:ln w="12700">
            <a:solidFill>
              <a:srgbClr val="F47B2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1"/>
          <p:cNvSpPr/>
          <p:nvPr/>
        </p:nvSpPr>
        <p:spPr>
          <a:xfrm>
            <a:off x="896112" y="337413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408176" y="2926080"/>
            <a:ext cx="3273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period weights (2022)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408176" y="3346704"/>
            <a:ext cx="3273552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Expenditure weights are fixed at 2022 levels. They do not update as prices change or as households adapt their consumption. This is standard Laspeyres methodology, but it means G-CPI does not capture substitution effects.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983480" y="1207008"/>
            <a:ext cx="3977640" cy="1508760"/>
          </a:xfrm>
          <a:prstGeom prst="rect">
            <a:avLst/>
          </a:prstGeom>
          <a:solidFill>
            <a:srgbClr val="F4F6F8"/>
          </a:solidFill>
          <a:ln w="12700">
            <a:solidFill>
              <a:srgbClr val="1565C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8" name="Shape 15"/>
          <p:cNvSpPr/>
          <p:nvPr/>
        </p:nvSpPr>
        <p:spPr>
          <a:xfrm>
            <a:off x="5074920" y="1746504"/>
            <a:ext cx="420624" cy="420624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Text 16"/>
          <p:cNvSpPr/>
          <p:nvPr/>
        </p:nvSpPr>
        <p:spPr>
          <a:xfrm>
            <a:off x="5074920" y="174650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586984" y="1298448"/>
            <a:ext cx="3273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SARIMA forecast: 36 observations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586984" y="1719072"/>
            <a:ext cx="3273552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is fitted on 36 monthly data points — a short series for time-series modelling. Wide confidence intervals (not shown for readability) reflect this uncertainty. The forecast is directionally informative, not precise.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983480" y="2834640"/>
            <a:ext cx="3977640" cy="1508760"/>
          </a:xfrm>
          <a:prstGeom prst="rect">
            <a:avLst/>
          </a:prstGeom>
          <a:solidFill>
            <a:srgbClr val="F4F6F8"/>
          </a:solidFill>
          <a:ln w="12700">
            <a:solidFill>
              <a:srgbClr val="2E7D32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3" name="Shape 20"/>
          <p:cNvSpPr/>
          <p:nvPr/>
        </p:nvSpPr>
        <p:spPr>
          <a:xfrm>
            <a:off x="5074920" y="3374136"/>
            <a:ext cx="420624" cy="420624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4" name="Text 21"/>
          <p:cNvSpPr/>
          <p:nvPr/>
        </p:nvSpPr>
        <p:spPr>
          <a:xfrm>
            <a:off x="5074920" y="337413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586984" y="2926080"/>
            <a:ext cx="3273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Robustness: ranking is consistent across periods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5586984" y="3346704"/>
            <a:ext cx="3273552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MWoP &gt; MWP &gt; FWoP &gt; FWP in 2022 (shock), 2023 (moderation), 2024 (stabilisation), and 2026 (forecast). The ranking does not depend on the choice of period — it is structurally stable.</a:t>
            </a:r>
            <a:endParaRPr lang="en-US" sz="1000" dirty="0"/>
          </a:p>
        </p:txBody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873752"/>
            <a:ext cx="9144000" cy="269748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49808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04672" y="182880"/>
            <a:ext cx="64008" cy="640080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1"/>
          <p:cNvSpPr/>
          <p:nvPr/>
        </p:nvSpPr>
        <p:spPr>
          <a:xfrm>
            <a:off x="932688" y="146304"/>
            <a:ext cx="7863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32688" y="859536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lines of development identified with mentor Arthur Beltrao (IBGE)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804672" y="1115568"/>
            <a:ext cx="8229600" cy="22860"/>
          </a:xfrm>
          <a:prstGeom prst="rect">
            <a:avLst/>
          </a:prstGeom>
          <a:solidFill>
            <a:srgbClr val="DDE3EA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Shape 4"/>
          <p:cNvSpPr/>
          <p:nvPr/>
        </p:nvSpPr>
        <p:spPr>
          <a:xfrm>
            <a:off x="804672" y="1431036"/>
            <a:ext cx="7342632" cy="854964"/>
          </a:xfrm>
          <a:prstGeom prst="rect">
            <a:avLst/>
          </a:prstGeom>
          <a:solidFill>
            <a:srgbClr val="F4F6F8"/>
          </a:solidFill>
          <a:ln w="12700">
            <a:solidFill>
              <a:srgbClr val="1565C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8" name="Shape 5"/>
          <p:cNvSpPr/>
          <p:nvPr/>
        </p:nvSpPr>
        <p:spPr>
          <a:xfrm>
            <a:off x="804672" y="1207008"/>
            <a:ext cx="54864" cy="107899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Shape 6"/>
          <p:cNvSpPr/>
          <p:nvPr/>
        </p:nvSpPr>
        <p:spPr>
          <a:xfrm>
            <a:off x="960120" y="1517904"/>
            <a:ext cx="420624" cy="420624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7"/>
          <p:cNvSpPr/>
          <p:nvPr/>
        </p:nvSpPr>
        <p:spPr>
          <a:xfrm>
            <a:off x="960120" y="151790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60120" y="1112100"/>
            <a:ext cx="6053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Generic-level G-CPI (292 products)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508760" y="1591056"/>
            <a:ext cx="605332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G-CPI using individual product price series instead of 13 division indices. Enables matching specific female-consumption products and eliminates within-division aggregation bias. All infrastructure is ready — crosswalk, inventory, price series.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275320" y="1418108"/>
            <a:ext cx="813816" cy="881608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4" name="Text 11"/>
          <p:cNvSpPr/>
          <p:nvPr/>
        </p:nvSpPr>
        <p:spPr>
          <a:xfrm>
            <a:off x="8161020" y="1312164"/>
            <a:ext cx="1042416" cy="10218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804672" y="2610612"/>
            <a:ext cx="7342632" cy="882396"/>
          </a:xfrm>
          <a:prstGeom prst="rect">
            <a:avLst/>
          </a:prstGeom>
          <a:solidFill>
            <a:srgbClr val="F4F6F8"/>
          </a:solidFill>
          <a:ln w="12700">
            <a:solidFill>
              <a:srgbClr val="C6282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6" name="Shape 13"/>
          <p:cNvSpPr/>
          <p:nvPr/>
        </p:nvSpPr>
        <p:spPr>
          <a:xfrm>
            <a:off x="804672" y="2414016"/>
            <a:ext cx="54864" cy="107899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Shape 14"/>
          <p:cNvSpPr/>
          <p:nvPr/>
        </p:nvSpPr>
        <p:spPr>
          <a:xfrm>
            <a:off x="960120" y="2724912"/>
            <a:ext cx="420624" cy="420624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5"/>
          <p:cNvSpPr/>
          <p:nvPr/>
        </p:nvSpPr>
        <p:spPr>
          <a:xfrm>
            <a:off x="960120" y="272491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508760" y="2582392"/>
            <a:ext cx="6053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Specialised male and female consumption baskets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508760" y="2798064"/>
            <a:ext cx="605332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products where female-headed spending share &gt; 60% and build a focused sub-index. Answers: is inflation higher specifically for products women buy more of? This tests the gender hypothesis at the most granular level possible.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8238744" y="2647188"/>
            <a:ext cx="850392" cy="806958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2" name="Text 19"/>
          <p:cNvSpPr/>
          <p:nvPr/>
        </p:nvSpPr>
        <p:spPr>
          <a:xfrm>
            <a:off x="8147304" y="2606828"/>
            <a:ext cx="104241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Conceptually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804672" y="3765830"/>
            <a:ext cx="7342632" cy="934186"/>
          </a:xfrm>
          <a:prstGeom prst="rect">
            <a:avLst/>
          </a:prstGeom>
          <a:solidFill>
            <a:srgbClr val="F4F6F8"/>
          </a:solidFill>
          <a:ln w="12700">
            <a:solidFill>
              <a:srgbClr val="2E7D32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4" name="Shape 21"/>
          <p:cNvSpPr/>
          <p:nvPr/>
        </p:nvSpPr>
        <p:spPr>
          <a:xfrm>
            <a:off x="804672" y="3621024"/>
            <a:ext cx="54864" cy="107899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Shape 22"/>
          <p:cNvSpPr/>
          <p:nvPr/>
        </p:nvSpPr>
        <p:spPr>
          <a:xfrm>
            <a:off x="960120" y="3931920"/>
            <a:ext cx="420624" cy="420624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6" name="Text 23"/>
          <p:cNvSpPr/>
          <p:nvPr/>
        </p:nvSpPr>
        <p:spPr>
          <a:xfrm>
            <a:off x="960120" y="393192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1508760" y="3694176"/>
            <a:ext cx="6053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and refine the SARIMA forecast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1508760" y="4005072"/>
            <a:ext cx="605332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 new CPI data as published (quincenal), update the model quarterly, and explore Vector Autoregression (VAR) to capture cross-group inflation dynamics and potential spillover effects.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8247888" y="3765830"/>
            <a:ext cx="850392" cy="925752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30" name="Text 27"/>
          <p:cNvSpPr/>
          <p:nvPr/>
        </p:nvSpPr>
        <p:spPr>
          <a:xfrm>
            <a:off x="8293608" y="3931920"/>
            <a:ext cx="850392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fitted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validated</a:t>
            </a:r>
            <a:endParaRPr lang="en-US" sz="900" dirty="0"/>
          </a:p>
        </p:txBody>
      </p:sp>
      <p:pic>
        <p:nvPicPr>
          <p:cNvPr id="3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873752"/>
            <a:ext cx="9144000" cy="269748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192" y="0"/>
            <a:ext cx="749808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1371600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5200" dirty="0"/>
          </a:p>
        </p:txBody>
      </p:sp>
      <p:sp>
        <p:nvSpPr>
          <p:cNvPr id="4" name="Shape 1"/>
          <p:cNvSpPr/>
          <p:nvPr/>
        </p:nvSpPr>
        <p:spPr>
          <a:xfrm>
            <a:off x="731520" y="2377440"/>
            <a:ext cx="2011680" cy="54864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2"/>
          <p:cNvSpPr/>
          <p:nvPr/>
        </p:nvSpPr>
        <p:spPr>
          <a:xfrm>
            <a:off x="731520" y="2542032"/>
            <a:ext cx="5943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Itzel Sanchez
</a:t>
            </a:r>
            <a:r>
              <a:rPr lang="en-US" sz="14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INEGI — Mexico
</a:t>
            </a: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Mentor: Arthur Beltrao  |  IBGE — Brazil
</a:t>
            </a:r>
            <a:r>
              <a:rPr lang="en-US" sz="14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31520" y="42793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Data Science Accelerator — Cohort VI  |  March 11, 2026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873752"/>
            <a:ext cx="9144000" cy="2697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3433</Words>
  <Application>Microsoft Office PowerPoint</Application>
  <PresentationFormat>Presentación en pantalla (16:9)</PresentationFormat>
  <Paragraphs>451</Paragraphs>
  <Slides>29</Slides>
  <Notes>29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Measuring Inflation by Household Headship: A Gender-Differentiated CPI for Mexico</dc:title>
  <dc:subject>PptxGenJS Presentation</dc:subject>
  <dc:creator>ITZEL SANCHEZ</dc:creator>
  <cp:lastModifiedBy>SANCHEZ GONZALEZ ITZEL</cp:lastModifiedBy>
  <cp:revision>3</cp:revision>
  <dcterms:created xsi:type="dcterms:W3CDTF">2026-03-07T10:43:27Z</dcterms:created>
  <dcterms:modified xsi:type="dcterms:W3CDTF">2026-03-07T12:23:26Z</dcterms:modified>
</cp:coreProperties>
</file>