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58" r:id="rId2"/>
    <p:sldId id="274" r:id="rId3"/>
    <p:sldId id="256" r:id="rId4"/>
    <p:sldId id="257" r:id="rId5"/>
    <p:sldId id="258" r:id="rId6"/>
    <p:sldId id="259" r:id="rId7"/>
    <p:sldId id="359" r:id="rId8"/>
    <p:sldId id="360" r:id="rId9"/>
    <p:sldId id="261" r:id="rId10"/>
    <p:sldId id="262" r:id="rId11"/>
    <p:sldId id="264" r:id="rId12"/>
    <p:sldId id="265" r:id="rId13"/>
    <p:sldId id="266" r:id="rId14"/>
    <p:sldId id="267" r:id="rId15"/>
    <p:sldId id="268"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626" autoAdjust="0"/>
  </p:normalViewPr>
  <p:slideViewPr>
    <p:cSldViewPr snapToGrid="0" snapToObjects="1">
      <p:cViewPr varScale="1">
        <p:scale>
          <a:sx n="70" d="100"/>
          <a:sy n="70" d="100"/>
        </p:scale>
        <p:origin x="138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470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morning. My name is Itzel Sánchez, I work at INEGI — Mexico's national statistics institute — and over the past 16 weeks, with the  guidance of my mentor Arthur Beltrão from IBGE Brazil, we developed this project.  Thanks to the International Data Science Accelerator </a:t>
            </a:r>
            <a:r>
              <a:rPr lang="en-US" dirty="0" err="1"/>
              <a:t>Programme</a:t>
            </a:r>
            <a:r>
              <a:rPr lang="en-US" dirty="0"/>
              <a:t>, Cohort VI, for making this collaboration possible. </a:t>
            </a:r>
            <a:endParaRPr lang="es-MX" dirty="0"/>
          </a:p>
          <a:p>
            <a:endParaRPr lang="es-MX" dirty="0"/>
          </a:p>
        </p:txBody>
      </p:sp>
      <p:sp>
        <p:nvSpPr>
          <p:cNvPr id="4" name="Marcador de número de diapositiva 3"/>
          <p:cNvSpPr>
            <a:spLocks noGrp="1"/>
          </p:cNvSpPr>
          <p:nvPr>
            <p:ph type="sldNum" sz="quarter" idx="5"/>
          </p:nvPr>
        </p:nvSpPr>
        <p:spPr/>
        <p:txBody>
          <a:bodyPr/>
          <a:lstStyle/>
          <a:p>
            <a:fld id="{786EEFD3-EE8B-4D27-902B-43A9D17F97A7}" type="slidenum">
              <a:rPr lang="en-ID" smtClean="0"/>
              <a:t>1</a:t>
            </a:fld>
            <a:endParaRPr lang="en-ID"/>
          </a:p>
        </p:txBody>
      </p:sp>
    </p:spTree>
    <p:extLst>
      <p:ext uri="{BB962C8B-B14F-4D97-AF65-F5344CB8AC3E}">
        <p14:creationId xmlns:p14="http://schemas.microsoft.com/office/powerpoint/2010/main" val="4039350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question to answer is  simple: does every household in Mexico experience the same inflation? The official CPI assumes yes. We wanted to find out if that assumption holds.</a:t>
            </a:r>
            <a:endParaRPr lang="es-MX" dirty="0"/>
          </a:p>
          <a:p>
            <a:endParaRPr lang="es-MX" dirty="0"/>
          </a:p>
        </p:txBody>
      </p:sp>
      <p:sp>
        <p:nvSpPr>
          <p:cNvPr id="4" name="Marcador de número de diapositiva 3"/>
          <p:cNvSpPr>
            <a:spLocks noGrp="1"/>
          </p:cNvSpPr>
          <p:nvPr>
            <p:ph type="sldNum" sz="quarter" idx="5"/>
          </p:nvPr>
        </p:nvSpPr>
        <p:spPr/>
        <p:txBody>
          <a:bodyPr/>
          <a:lstStyle/>
          <a:p>
            <a:fld id="{786EEFD3-EE8B-4D27-902B-43A9D17F97A7}" type="slidenum">
              <a:rPr lang="en-ID" smtClean="0"/>
              <a:t>2</a:t>
            </a:fld>
            <a:endParaRPr lang="en-ID"/>
          </a:p>
        </p:txBody>
      </p:sp>
    </p:spTree>
    <p:extLst>
      <p:ext uri="{BB962C8B-B14F-4D97-AF65-F5344CB8AC3E}">
        <p14:creationId xmlns:p14="http://schemas.microsoft.com/office/powerpoint/2010/main" val="34056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G-CPI is a version of the consumer price index that is differentiated by household type — instead of applying one universal basket to everyone, each household group gets its own. The study covers 50,968 households, four headship groups, and a window from 2022 through to a 2026 forecast. The core question driving all of it is simple: does every household in Mexico experience the same inflation? The official CPI assumes yes. We wanted to find out if that assumption actually holds.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two weeks, INEGI publishes one inflation number for 130 million people. That number is rigorous and it's essential — but it was never designed to ask whether a single mother faces the same inflation as a married man. The official CPI works with one national basket, one set of spending weights applied to everyone equally. But we know that maybe a person living alone eats out more, a family with children spends heavily on education, a single woman managing a household on one income has a very different consumption profile. My hypothesis going in was  women  would face higher inflation due to income constraints. As you will see, the data had other plans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the G-CPI we used three official INEGI datasets. The ENIGH </a:t>
            </a:r>
            <a:r>
              <a:rPr lang="en-US" dirty="0" err="1"/>
              <a:t>Estacional</a:t>
            </a:r>
            <a:r>
              <a:rPr lang="en-US" dirty="0"/>
              <a:t> 2022, which surveys households across different quarters of the year. The official CPI price series covering 292 products in 13 categories. And a crosswalk that translates survey spending categories into CPI divisions, achieving 90.4% expenditure coverage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had four steps: classify households into groups, calculate their spending shares from the survey, map those categories to CPI divisions using the crosswalk, and compute the index. That difference in the basket is everything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our four groups. The biggest one — almost half of all households in Mexico — is MWP, men living with a partner. Then ……….Now look at the inflation rates. </a:t>
            </a:r>
            <a:r>
              <a:rPr lang="en-US" dirty="0" err="1"/>
              <a:t>MWoP</a:t>
            </a:r>
            <a:r>
              <a:rPr lang="en-US" dirty="0"/>
              <a:t> — men alone — is the highest at 4.67%. And </a:t>
            </a:r>
            <a:r>
              <a:rPr lang="en-US" dirty="0" err="1"/>
              <a:t>FWoP</a:t>
            </a:r>
            <a:r>
              <a:rPr lang="en-US" dirty="0"/>
              <a:t> — women alone — is actually third, not first. The data tells us that it is the single men who faces the highest inflation. And the reason comes down to what they buy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puts the whole story in one picture. Each bubble is a spending category — its position tells you who spends more on it, and how big it is tells you how much prices rose in that category. Focus on the right panel — men alone versus women alone. Restaurants is a big red bubble sitting far to the right — men spend a lot on it, and prices shot up the most there. Food is a big red bubble sitting high up — women spend more on it, but prices rose more moderately. Personal care is also to the right — another category men alone spend more on, and prices rose significantly there too. Communication sits high up meaning women spend more on it, but it's a small blue bubble — prices barely moved there so it doesn't drive the gap. Health and clothing are small bubbles close to zero for both groups — they don't move the needle either way. The pattern is consistent: the categories men alone rely on are the ones where prices rose the hardest. That is the mechanism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each group actually spends versus the official CPI. The biggest divergence is housing — the official CPI gives it 20.9%, our groups spend 5 to 7%. That one gap explains most of the bias we find later. And look at </a:t>
            </a:r>
            <a:r>
              <a:rPr lang="en-US" dirty="0" err="1"/>
              <a:t>MWoP</a:t>
            </a:r>
            <a:r>
              <a:rPr lang="en-US" dirty="0"/>
              <a:t> — 15.7% on restaurants, 11.1% on personal care, both high-inflation categories. Same prices for everyone — completely different baskets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came in thinking women le would be the most affected by inflation. The data proved me wrong. Men living alone face the highest inflation at 4.67%, women alone come in third at 4.41%. What makes the difference is not whether you are a man or a woman — it is whether you live alone or with a partner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one question: what if we gave every group the same national basket instead of their own? The grey bar is what their inflation would be using the official CPI weights. The </a:t>
            </a:r>
            <a:r>
              <a:rPr lang="en-US" dirty="0" err="1"/>
              <a:t>coloured</a:t>
            </a:r>
            <a:r>
              <a:rPr lang="en-US" dirty="0"/>
              <a:t> bar is what it actually is using their real spending. In every single case, the grey bar is higher — meaning the official CPI overestimates inflation for all four groups. And the root cause is always the same thing — housing, which is something we noticed earlier.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forecast is a first approximation — we need more data. But what it shows us is already useful. We took our 36 months of G-CPI data and projected forward through all of 2026, and three things come out:</a:t>
            </a:r>
          </a:p>
          <a:p>
            <a:r>
              <a:rPr lang="en-US" b="1" dirty="0"/>
              <a:t>The order stays the same</a:t>
            </a:r>
            <a:r>
              <a:rPr lang="en-US" dirty="0"/>
              <a:t> — men alone remain the highest every single month of 2026. </a:t>
            </a:r>
          </a:p>
          <a:p>
            <a:r>
              <a:rPr lang="en-US" b="1" dirty="0"/>
              <a:t>There is a seasonal pattern</a:t>
            </a:r>
            <a:endParaRPr lang="en-US" dirty="0"/>
          </a:p>
          <a:p>
            <a:r>
              <a:rPr lang="en-US" b="1" dirty="0"/>
              <a:t>Inflation is coming down overall</a:t>
            </a:r>
            <a:r>
              <a:rPr lang="en-US" dirty="0"/>
              <a:t> —Take the exact numbers with caution — the model needs more refinement. But the direction is clear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4D88A54F-5EFB-A44E-A920-67204766B3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8515" y="4757935"/>
            <a:ext cx="1014197" cy="199217"/>
          </a:xfrm>
          <a:prstGeom prst="rect">
            <a:avLst/>
          </a:prstGeom>
        </p:spPr>
      </p:pic>
      <p:pic>
        <p:nvPicPr>
          <p:cNvPr id="9" name="Gráfico 8">
            <a:extLst>
              <a:ext uri="{FF2B5EF4-FFF2-40B4-BE49-F238E27FC236}">
                <a16:creationId xmlns:a16="http://schemas.microsoft.com/office/drawing/2014/main" id="{60BCD43E-91CE-C5E1-87DB-0A31B25E3F4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9420" y="3422828"/>
            <a:ext cx="144846" cy="1557096"/>
          </a:xfrm>
          <a:prstGeom prst="rect">
            <a:avLst/>
          </a:prstGeom>
        </p:spPr>
      </p:pic>
    </p:spTree>
    <p:extLst>
      <p:ext uri="{BB962C8B-B14F-4D97-AF65-F5344CB8AC3E}">
        <p14:creationId xmlns:p14="http://schemas.microsoft.com/office/powerpoint/2010/main" val="109435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1827015E-93DF-2C56-E4AA-A381DDD578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603169" cy="5143500"/>
          </a:xfrm>
          <a:prstGeom prst="rect">
            <a:avLst/>
          </a:prstGeom>
        </p:spPr>
      </p:pic>
      <p:pic>
        <p:nvPicPr>
          <p:cNvPr id="3" name="Gráfico 2">
            <a:extLst>
              <a:ext uri="{FF2B5EF4-FFF2-40B4-BE49-F238E27FC236}">
                <a16:creationId xmlns:a16="http://schemas.microsoft.com/office/drawing/2014/main" id="{FCF611DF-6DD7-5E2F-10D0-AEC84D527A6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06733" y="4463654"/>
            <a:ext cx="2074077" cy="199644"/>
          </a:xfrm>
          <a:prstGeom prst="rect">
            <a:avLst/>
          </a:prstGeom>
        </p:spPr>
      </p:pic>
      <p:pic>
        <p:nvPicPr>
          <p:cNvPr id="5" name="Gráfico 4">
            <a:extLst>
              <a:ext uri="{FF2B5EF4-FFF2-40B4-BE49-F238E27FC236}">
                <a16:creationId xmlns:a16="http://schemas.microsoft.com/office/drawing/2014/main" id="{AC2A3DD2-FF37-BA87-5D8F-30B1FEF7D91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497924" y="4343545"/>
            <a:ext cx="1640354" cy="322213"/>
          </a:xfrm>
          <a:prstGeom prst="rect">
            <a:avLst/>
          </a:prstGeom>
        </p:spPr>
      </p:pic>
    </p:spTree>
    <p:extLst>
      <p:ext uri="{BB962C8B-B14F-4D97-AF65-F5344CB8AC3E}">
        <p14:creationId xmlns:p14="http://schemas.microsoft.com/office/powerpoint/2010/main" val="22945489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D52F0-6DBF-DB9F-5821-549F7087188F}"/>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1F50D30-8CC0-D30D-D267-BFB149558427}"/>
              </a:ext>
            </a:extLst>
          </p:cNvPr>
          <p:cNvPicPr>
            <a:picLocks noChangeAspect="1"/>
          </p:cNvPicPr>
          <p:nvPr/>
        </p:nvPicPr>
        <p:blipFill>
          <a:blip r:embed="rId3"/>
          <a:stretch>
            <a:fillRect/>
          </a:stretch>
        </p:blipFill>
        <p:spPr>
          <a:xfrm>
            <a:off x="901499" y="3660776"/>
            <a:ext cx="1653617" cy="321716"/>
          </a:xfrm>
          <a:prstGeom prst="rect">
            <a:avLst/>
          </a:prstGeom>
        </p:spPr>
      </p:pic>
      <p:sp>
        <p:nvSpPr>
          <p:cNvPr id="3" name="Text Placeholder 1">
            <a:extLst>
              <a:ext uri="{FF2B5EF4-FFF2-40B4-BE49-F238E27FC236}">
                <a16:creationId xmlns:a16="http://schemas.microsoft.com/office/drawing/2014/main" id="{D36B3636-F6A5-D529-D48F-7DC90F451F16}"/>
              </a:ext>
            </a:extLst>
          </p:cNvPr>
          <p:cNvSpPr txBox="1">
            <a:spLocks/>
          </p:cNvSpPr>
          <p:nvPr/>
        </p:nvSpPr>
        <p:spPr>
          <a:xfrm>
            <a:off x="827977" y="2564671"/>
            <a:ext cx="4826501" cy="656141"/>
          </a:xfrm>
          <a:prstGeom prst="rect">
            <a:avLst/>
          </a:prstGeom>
        </p:spPr>
        <p:txBody>
          <a:bodyPr lIns="68580" tIns="34290" rIns="68580" bIns="3429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_tradnl" sz="2250" b="1">
                <a:solidFill>
                  <a:schemeClr val="bg1"/>
                </a:solidFill>
                <a:latin typeface="Arial Black"/>
                <a:cs typeface="Arial Black" panose="020B0604020202020204" pitchFamily="34" charset="0"/>
              </a:rPr>
              <a:t>ANALYTICAL SCOPE</a:t>
            </a:r>
            <a:endParaRPr lang="es-ES_tradnl" sz="2250" b="1">
              <a:solidFill>
                <a:schemeClr val="bg1"/>
              </a:solidFill>
              <a:latin typeface="Arial Black" panose="020B0604020202020204" pitchFamily="34" charset="0"/>
              <a:cs typeface="Arial Black" panose="020B0604020202020204" pitchFamily="34" charset="0"/>
            </a:endParaRPr>
          </a:p>
        </p:txBody>
      </p:sp>
      <p:sp>
        <p:nvSpPr>
          <p:cNvPr id="5" name="Text Placeholder 1">
            <a:extLst>
              <a:ext uri="{FF2B5EF4-FFF2-40B4-BE49-F238E27FC236}">
                <a16:creationId xmlns:a16="http://schemas.microsoft.com/office/drawing/2014/main" id="{47162840-1D59-17C4-F74D-1908605B9E68}"/>
              </a:ext>
            </a:extLst>
          </p:cNvPr>
          <p:cNvSpPr txBox="1">
            <a:spLocks/>
          </p:cNvSpPr>
          <p:nvPr/>
        </p:nvSpPr>
        <p:spPr>
          <a:xfrm>
            <a:off x="622011" y="1203525"/>
            <a:ext cx="7392843" cy="507635"/>
          </a:xfrm>
          <a:prstGeom prst="rect">
            <a:avLst/>
          </a:prstGeom>
        </p:spPr>
        <p:txBody>
          <a:bodyPr lIns="68580" tIns="34290" rIns="68580" bIns="3429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_tradnl" sz="3300" dirty="0">
                <a:solidFill>
                  <a:srgbClr val="00BFB3"/>
                </a:solidFill>
                <a:latin typeface="Arial"/>
                <a:cs typeface="Arial"/>
              </a:rPr>
              <a:t> </a:t>
            </a:r>
            <a:r>
              <a:rPr lang="en-US" sz="2700" dirty="0">
                <a:solidFill>
                  <a:srgbClr val="8568FF"/>
                </a:solidFill>
              </a:rPr>
              <a:t>International Data Science Accelerator </a:t>
            </a:r>
            <a:r>
              <a:rPr lang="en-US" sz="2700" dirty="0" err="1">
                <a:solidFill>
                  <a:srgbClr val="8568FF"/>
                </a:solidFill>
              </a:rPr>
              <a:t>Programme</a:t>
            </a:r>
            <a:endParaRPr lang="en-US" sz="2700" dirty="0">
              <a:solidFill>
                <a:srgbClr val="8568FF"/>
              </a:solidFill>
            </a:endParaRPr>
          </a:p>
          <a:p>
            <a:pPr marL="0" indent="0">
              <a:buNone/>
            </a:pPr>
            <a:r>
              <a:rPr lang="en-US" sz="2700" dirty="0">
                <a:solidFill>
                  <a:srgbClr val="8568FF"/>
                </a:solidFill>
              </a:rPr>
              <a:t>  Cohort VI</a:t>
            </a:r>
          </a:p>
          <a:p>
            <a:pPr marL="0" indent="0">
              <a:buNone/>
            </a:pPr>
            <a:br>
              <a:rPr lang="en-US" sz="2700" dirty="0">
                <a:solidFill>
                  <a:srgbClr val="8568FF"/>
                </a:solidFill>
              </a:rPr>
            </a:br>
            <a:endParaRPr lang="es-ES_tradnl" sz="3300" dirty="0">
              <a:solidFill>
                <a:srgbClr val="00FFFF"/>
              </a:solidFill>
              <a:latin typeface="Arial"/>
              <a:cs typeface="Arial"/>
            </a:endParaRPr>
          </a:p>
          <a:p>
            <a:pPr marL="0" indent="0">
              <a:buNone/>
            </a:pPr>
            <a:endParaRPr lang="es-ES_tradnl" sz="3300" dirty="0">
              <a:solidFill>
                <a:srgbClr val="00BFB3"/>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52D1AA8-5AB0-59F4-2493-01AEF5A4EC52}"/>
              </a:ext>
            </a:extLst>
          </p:cNvPr>
          <p:cNvPicPr>
            <a:picLocks noChangeAspect="1"/>
          </p:cNvPicPr>
          <p:nvPr/>
        </p:nvPicPr>
        <p:blipFill>
          <a:blip r:embed="rId4"/>
          <a:stretch>
            <a:fillRect/>
          </a:stretch>
        </p:blipFill>
        <p:spPr>
          <a:xfrm>
            <a:off x="793982" y="4428489"/>
            <a:ext cx="1732022" cy="418650"/>
          </a:xfrm>
          <a:prstGeom prst="rect">
            <a:avLst/>
          </a:prstGeom>
        </p:spPr>
      </p:pic>
      <p:sp>
        <p:nvSpPr>
          <p:cNvPr id="9" name="TextBox 2">
            <a:extLst>
              <a:ext uri="{FF2B5EF4-FFF2-40B4-BE49-F238E27FC236}">
                <a16:creationId xmlns:a16="http://schemas.microsoft.com/office/drawing/2014/main" id="{1BBAA634-3D56-14FC-31AD-CD0BF90E383E}"/>
              </a:ext>
            </a:extLst>
          </p:cNvPr>
          <p:cNvSpPr txBox="1"/>
          <p:nvPr/>
        </p:nvSpPr>
        <p:spPr>
          <a:xfrm>
            <a:off x="793983" y="3762698"/>
            <a:ext cx="1717670" cy="6232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GB" b="1" dirty="0">
                <a:solidFill>
                  <a:srgbClr val="00FFFF"/>
                </a:solidFill>
                <a:latin typeface="Calibri"/>
                <a:ea typeface="Calibri"/>
                <a:cs typeface="Calibri"/>
              </a:rPr>
              <a:t>Arthur Beltrao</a:t>
            </a:r>
            <a:endParaRPr lang="en-GB" dirty="0">
              <a:solidFill>
                <a:srgbClr val="00FFFF"/>
              </a:solidFill>
              <a:latin typeface="Calibri"/>
              <a:ea typeface="Calibri"/>
              <a:cs typeface="Calibri"/>
            </a:endParaRPr>
          </a:p>
          <a:p>
            <a:r>
              <a:rPr lang="en-GB" dirty="0">
                <a:solidFill>
                  <a:srgbClr val="00FFFF"/>
                </a:solidFill>
                <a:latin typeface="Calibri"/>
                <a:ea typeface="Calibri"/>
                <a:cs typeface="Calibri"/>
              </a:rPr>
              <a:t>(Brazil/IBGE)</a:t>
            </a:r>
            <a:endParaRPr lang="en-US" dirty="0">
              <a:solidFill>
                <a:srgbClr val="00FFFF"/>
              </a:solidFill>
            </a:endParaRPr>
          </a:p>
        </p:txBody>
      </p:sp>
      <p:sp>
        <p:nvSpPr>
          <p:cNvPr id="10" name="TextBox 3">
            <a:extLst>
              <a:ext uri="{FF2B5EF4-FFF2-40B4-BE49-F238E27FC236}">
                <a16:creationId xmlns:a16="http://schemas.microsoft.com/office/drawing/2014/main" id="{4E70D07F-B124-EFD4-FE8E-2B5F28D4E703}"/>
              </a:ext>
            </a:extLst>
          </p:cNvPr>
          <p:cNvSpPr txBox="1"/>
          <p:nvPr/>
        </p:nvSpPr>
        <p:spPr>
          <a:xfrm>
            <a:off x="7176637" y="3939976"/>
            <a:ext cx="1761134" cy="6232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GB" b="1" dirty="0">
                <a:solidFill>
                  <a:srgbClr val="00FFFF"/>
                </a:solidFill>
                <a:latin typeface="Calibri"/>
                <a:ea typeface="Calibri"/>
                <a:cs typeface="Calibri"/>
              </a:rPr>
              <a:t>Itzel Sanchez</a:t>
            </a:r>
            <a:endParaRPr lang="en-US" dirty="0">
              <a:solidFill>
                <a:srgbClr val="00FFFF"/>
              </a:solidFill>
              <a:latin typeface="Calibri"/>
              <a:ea typeface="Calibri"/>
              <a:cs typeface="Calibri"/>
            </a:endParaRPr>
          </a:p>
          <a:p>
            <a:r>
              <a:rPr lang="en-GB" dirty="0">
                <a:solidFill>
                  <a:srgbClr val="00FFFF"/>
                </a:solidFill>
                <a:latin typeface="Calibri"/>
                <a:ea typeface="Calibri"/>
                <a:cs typeface="Calibri"/>
              </a:rPr>
              <a:t>(Mexico/INEGI)</a:t>
            </a:r>
            <a:endParaRPr lang="en-US" dirty="0">
              <a:solidFill>
                <a:srgbClr val="00FFFF"/>
              </a:solidFill>
            </a:endParaRPr>
          </a:p>
        </p:txBody>
      </p:sp>
      <p:sp>
        <p:nvSpPr>
          <p:cNvPr id="12" name="CuadroTexto 11">
            <a:extLst>
              <a:ext uri="{FF2B5EF4-FFF2-40B4-BE49-F238E27FC236}">
                <a16:creationId xmlns:a16="http://schemas.microsoft.com/office/drawing/2014/main" id="{AF350C66-0F2C-A8BD-8EE2-51DC3A798828}"/>
              </a:ext>
            </a:extLst>
          </p:cNvPr>
          <p:cNvSpPr txBox="1"/>
          <p:nvPr/>
        </p:nvSpPr>
        <p:spPr>
          <a:xfrm>
            <a:off x="610985" y="2564670"/>
            <a:ext cx="3616037" cy="300082"/>
          </a:xfrm>
          <a:prstGeom prst="rect">
            <a:avLst/>
          </a:prstGeom>
          <a:solidFill>
            <a:srgbClr val="003057"/>
          </a:solidFill>
        </p:spPr>
        <p:txBody>
          <a:bodyPr wrap="square" rtlCol="0">
            <a:spAutoFit/>
          </a:bodyPr>
          <a:lstStyle/>
          <a:p>
            <a:endParaRPr lang="es-MX" sz="1350" dirty="0">
              <a:solidFill>
                <a:srgbClr val="00FFFF"/>
              </a:solidFill>
              <a:highlight>
                <a:srgbClr val="003057"/>
              </a:highlight>
            </a:endParaRPr>
          </a:p>
        </p:txBody>
      </p:sp>
    </p:spTree>
    <p:extLst>
      <p:ext uri="{BB962C8B-B14F-4D97-AF65-F5344CB8AC3E}">
        <p14:creationId xmlns:p14="http://schemas.microsoft.com/office/powerpoint/2010/main" val="1844493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E0493733-4325-C755-F9F7-81E13CC53758}"/>
              </a:ext>
            </a:extLst>
          </p:cNvPr>
          <p:cNvSpPr txBox="1">
            <a:spLocks/>
          </p:cNvSpPr>
          <p:nvPr/>
        </p:nvSpPr>
        <p:spPr>
          <a:xfrm>
            <a:off x="2292655" y="658755"/>
            <a:ext cx="5339268" cy="701612"/>
          </a:xfrm>
          <a:prstGeom prst="rect">
            <a:avLst/>
          </a:prstGeom>
        </p:spPr>
        <p:txBody>
          <a:bodyPr lIns="68580" tIns="34290" rIns="68580" bIns="3429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300" b="1" dirty="0">
                <a:solidFill>
                  <a:srgbClr val="002060"/>
                </a:solidFill>
                <a:latin typeface="Arial"/>
                <a:cs typeface="Arial"/>
              </a:rPr>
              <a:t>Does every household in Mexico experience the same inflation?</a:t>
            </a:r>
            <a:endParaRPr lang="es-ES_tradnl" sz="3300" b="1" dirty="0">
              <a:solidFill>
                <a:srgbClr val="002060"/>
              </a:solidFill>
              <a:latin typeface="Arial"/>
              <a:cs typeface="Arial"/>
            </a:endParaRPr>
          </a:p>
        </p:txBody>
      </p:sp>
      <p:sp>
        <p:nvSpPr>
          <p:cNvPr id="11" name="Text Placeholder 1">
            <a:extLst>
              <a:ext uri="{FF2B5EF4-FFF2-40B4-BE49-F238E27FC236}">
                <a16:creationId xmlns:a16="http://schemas.microsoft.com/office/drawing/2014/main" id="{D1EC4DF7-95B4-F6BE-8432-4ACD1F19C6F9}"/>
              </a:ext>
            </a:extLst>
          </p:cNvPr>
          <p:cNvSpPr txBox="1">
            <a:spLocks/>
          </p:cNvSpPr>
          <p:nvPr/>
        </p:nvSpPr>
        <p:spPr>
          <a:xfrm>
            <a:off x="2475836" y="3094854"/>
            <a:ext cx="2092189" cy="218902"/>
          </a:xfrm>
          <a:prstGeom prst="rect">
            <a:avLst/>
          </a:prstGeom>
        </p:spPr>
        <p:txBody>
          <a:bodyPr lIns="68580" tIns="34290" rIns="68580" bIns="3429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_tradnl" sz="1500" dirty="0">
                <a:solidFill>
                  <a:srgbClr val="00BFB3"/>
                </a:solidFill>
                <a:ea typeface="+mn-lt"/>
                <a:cs typeface="+mn-lt"/>
              </a:rPr>
              <a:t>March 11th,</a:t>
            </a:r>
            <a:r>
              <a:rPr lang="es-ES_tradnl" sz="1500" dirty="0">
                <a:solidFill>
                  <a:srgbClr val="00BFB3"/>
                </a:solidFill>
                <a:latin typeface="Arial"/>
                <a:ea typeface="+mn-lt"/>
                <a:cs typeface="Arial"/>
              </a:rPr>
              <a:t> </a:t>
            </a:r>
            <a:r>
              <a:rPr lang="es-ES_tradnl" sz="1500" b="1" dirty="0">
                <a:solidFill>
                  <a:srgbClr val="00BFB3"/>
                </a:solidFill>
                <a:latin typeface="Arial"/>
                <a:cs typeface="Arial"/>
              </a:rPr>
              <a:t>2026</a:t>
            </a:r>
            <a:endParaRPr lang="en-US" sz="2100" dirty="0"/>
          </a:p>
        </p:txBody>
      </p:sp>
      <p:sp>
        <p:nvSpPr>
          <p:cNvPr id="5" name="Rectángulo 4">
            <a:extLst>
              <a:ext uri="{FF2B5EF4-FFF2-40B4-BE49-F238E27FC236}">
                <a16:creationId xmlns:a16="http://schemas.microsoft.com/office/drawing/2014/main" id="{D7BD64DD-DA11-145A-1DDC-AB27568B02EE}"/>
              </a:ext>
            </a:extLst>
          </p:cNvPr>
          <p:cNvSpPr/>
          <p:nvPr/>
        </p:nvSpPr>
        <p:spPr>
          <a:xfrm>
            <a:off x="2549359" y="2833899"/>
            <a:ext cx="1102056" cy="75234"/>
          </a:xfrm>
          <a:prstGeom prst="rect">
            <a:avLst/>
          </a:prstGeom>
          <a:solidFill>
            <a:srgbClr val="967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350"/>
          </a:p>
        </p:txBody>
      </p:sp>
    </p:spTree>
    <p:extLst>
      <p:ext uri="{BB962C8B-B14F-4D97-AF65-F5344CB8AC3E}">
        <p14:creationId xmlns:p14="http://schemas.microsoft.com/office/powerpoint/2010/main" val="360761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FA5"/>
          </a:solidFill>
          <a:ln w="12700">
            <a:solidFill>
              <a:srgbClr val="00BFA5"/>
            </a:solidFill>
            <a:prstDash val="solid"/>
          </a:ln>
        </p:spPr>
        <p:txBody>
          <a:bodyPr/>
          <a:lstStyle/>
          <a:p>
            <a:endParaRPr lang="es-MX"/>
          </a:p>
        </p:txBody>
      </p:sp>
      <p:sp>
        <p:nvSpPr>
          <p:cNvPr id="3" name="Shape 1"/>
          <p:cNvSpPr/>
          <p:nvPr/>
        </p:nvSpPr>
        <p:spPr>
          <a:xfrm>
            <a:off x="6858000" y="0"/>
            <a:ext cx="320040" cy="5143500"/>
          </a:xfrm>
          <a:prstGeom prst="rect">
            <a:avLst/>
          </a:prstGeom>
          <a:solidFill>
            <a:srgbClr val="1A3355">
              <a:alpha val="70000"/>
            </a:srgbClr>
          </a:solidFill>
          <a:ln w="12700">
            <a:solidFill>
              <a:srgbClr val="1A3355">
                <a:alpha val="70000"/>
              </a:srgbClr>
            </a:solidFill>
            <a:prstDash val="solid"/>
          </a:ln>
        </p:spPr>
        <p:txBody>
          <a:bodyPr/>
          <a:lstStyle/>
          <a:p>
            <a:endParaRPr lang="es-MX"/>
          </a:p>
        </p:txBody>
      </p:sp>
      <p:sp>
        <p:nvSpPr>
          <p:cNvPr id="4" name="Shape 2"/>
          <p:cNvSpPr/>
          <p:nvPr/>
        </p:nvSpPr>
        <p:spPr>
          <a:xfrm>
            <a:off x="7223760" y="0"/>
            <a:ext cx="320040" cy="5143500"/>
          </a:xfrm>
          <a:prstGeom prst="rect">
            <a:avLst/>
          </a:prstGeom>
          <a:solidFill>
            <a:srgbClr val="1A3355">
              <a:alpha val="60000"/>
            </a:srgbClr>
          </a:solidFill>
          <a:ln w="12700">
            <a:solidFill>
              <a:srgbClr val="1A3355">
                <a:alpha val="60000"/>
              </a:srgbClr>
            </a:solidFill>
            <a:prstDash val="solid"/>
          </a:ln>
        </p:spPr>
        <p:txBody>
          <a:bodyPr/>
          <a:lstStyle/>
          <a:p>
            <a:endParaRPr lang="es-MX"/>
          </a:p>
        </p:txBody>
      </p:sp>
      <p:sp>
        <p:nvSpPr>
          <p:cNvPr id="5" name="Shape 3"/>
          <p:cNvSpPr/>
          <p:nvPr/>
        </p:nvSpPr>
        <p:spPr>
          <a:xfrm>
            <a:off x="7589520" y="0"/>
            <a:ext cx="320040" cy="5143500"/>
          </a:xfrm>
          <a:prstGeom prst="rect">
            <a:avLst/>
          </a:prstGeom>
          <a:solidFill>
            <a:srgbClr val="1A3355">
              <a:alpha val="50000"/>
            </a:srgbClr>
          </a:solidFill>
          <a:ln w="12700">
            <a:solidFill>
              <a:srgbClr val="1A3355">
                <a:alpha val="50000"/>
              </a:srgbClr>
            </a:solidFill>
            <a:prstDash val="solid"/>
          </a:ln>
        </p:spPr>
        <p:txBody>
          <a:bodyPr/>
          <a:lstStyle/>
          <a:p>
            <a:endParaRPr lang="es-MX"/>
          </a:p>
        </p:txBody>
      </p:sp>
      <p:sp>
        <p:nvSpPr>
          <p:cNvPr id="6" name="Shape 4"/>
          <p:cNvSpPr/>
          <p:nvPr/>
        </p:nvSpPr>
        <p:spPr>
          <a:xfrm>
            <a:off x="7955280" y="0"/>
            <a:ext cx="320040" cy="5143500"/>
          </a:xfrm>
          <a:prstGeom prst="rect">
            <a:avLst/>
          </a:prstGeom>
          <a:solidFill>
            <a:srgbClr val="1A3355">
              <a:alpha val="40000"/>
            </a:srgbClr>
          </a:solidFill>
          <a:ln w="12700">
            <a:solidFill>
              <a:srgbClr val="1A3355">
                <a:alpha val="40000"/>
              </a:srgbClr>
            </a:solidFill>
            <a:prstDash val="solid"/>
          </a:ln>
        </p:spPr>
        <p:txBody>
          <a:bodyPr/>
          <a:lstStyle/>
          <a:p>
            <a:endParaRPr lang="es-MX"/>
          </a:p>
        </p:txBody>
      </p:sp>
      <p:sp>
        <p:nvSpPr>
          <p:cNvPr id="7" name="Shape 5"/>
          <p:cNvSpPr/>
          <p:nvPr/>
        </p:nvSpPr>
        <p:spPr>
          <a:xfrm>
            <a:off x="8321040" y="0"/>
            <a:ext cx="320040" cy="5143500"/>
          </a:xfrm>
          <a:prstGeom prst="rect">
            <a:avLst/>
          </a:prstGeom>
          <a:solidFill>
            <a:srgbClr val="1A3355">
              <a:alpha val="30000"/>
            </a:srgbClr>
          </a:solidFill>
          <a:ln w="12700">
            <a:solidFill>
              <a:srgbClr val="1A3355">
                <a:alpha val="30000"/>
              </a:srgbClr>
            </a:solidFill>
            <a:prstDash val="solid"/>
          </a:ln>
        </p:spPr>
        <p:txBody>
          <a:bodyPr/>
          <a:lstStyle/>
          <a:p>
            <a:endParaRPr lang="es-MX"/>
          </a:p>
        </p:txBody>
      </p:sp>
      <p:sp>
        <p:nvSpPr>
          <p:cNvPr id="8" name="Shape 6"/>
          <p:cNvSpPr/>
          <p:nvPr/>
        </p:nvSpPr>
        <p:spPr>
          <a:xfrm>
            <a:off x="8686800" y="0"/>
            <a:ext cx="320040" cy="5143500"/>
          </a:xfrm>
          <a:prstGeom prst="rect">
            <a:avLst/>
          </a:prstGeom>
          <a:solidFill>
            <a:srgbClr val="1A3355">
              <a:alpha val="20000"/>
            </a:srgbClr>
          </a:solidFill>
          <a:ln w="12700">
            <a:solidFill>
              <a:srgbClr val="1A3355">
                <a:alpha val="20000"/>
              </a:srgbClr>
            </a:solidFill>
            <a:prstDash val="solid"/>
          </a:ln>
        </p:spPr>
        <p:txBody>
          <a:bodyPr/>
          <a:lstStyle/>
          <a:p>
            <a:endParaRPr lang="es-MX"/>
          </a:p>
        </p:txBody>
      </p:sp>
      <p:sp>
        <p:nvSpPr>
          <p:cNvPr id="9" name="Text 7"/>
          <p:cNvSpPr/>
          <p:nvPr/>
        </p:nvSpPr>
        <p:spPr>
          <a:xfrm>
            <a:off x="457200" y="548640"/>
            <a:ext cx="6400800" cy="1371600"/>
          </a:xfrm>
          <a:prstGeom prst="rect">
            <a:avLst/>
          </a:prstGeom>
          <a:noFill/>
          <a:ln/>
        </p:spPr>
        <p:txBody>
          <a:bodyPr wrap="square" lIns="0" tIns="0" rIns="0" bIns="0" rtlCol="0" anchor="ctr"/>
          <a:lstStyle/>
          <a:p>
            <a:pPr marL="0" indent="0">
              <a:buNone/>
            </a:pPr>
            <a:r>
              <a:rPr lang="en-US" sz="8000" b="1" dirty="0">
                <a:solidFill>
                  <a:srgbClr val="00BFA5"/>
                </a:solidFill>
                <a:latin typeface="Arial Black" pitchFamily="34" charset="0"/>
                <a:ea typeface="Arial Black" pitchFamily="34" charset="-122"/>
                <a:cs typeface="Arial Black" pitchFamily="34" charset="-120"/>
              </a:rPr>
              <a:t>G-CPI</a:t>
            </a:r>
            <a:endParaRPr lang="en-US" sz="8000" dirty="0"/>
          </a:p>
        </p:txBody>
      </p:sp>
      <p:sp>
        <p:nvSpPr>
          <p:cNvPr id="10" name="Text 8"/>
          <p:cNvSpPr/>
          <p:nvPr/>
        </p:nvSpPr>
        <p:spPr>
          <a:xfrm>
            <a:off x="457200" y="1737360"/>
            <a:ext cx="7772400" cy="64008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Gender-Differentiated Consumer Price Index</a:t>
            </a:r>
            <a:endParaRPr lang="en-US" sz="2400" dirty="0"/>
          </a:p>
        </p:txBody>
      </p:sp>
      <p:sp>
        <p:nvSpPr>
          <p:cNvPr id="11" name="Text 9"/>
          <p:cNvSpPr/>
          <p:nvPr/>
        </p:nvSpPr>
        <p:spPr>
          <a:xfrm>
            <a:off x="457200" y="2286000"/>
            <a:ext cx="7772400" cy="457200"/>
          </a:xfrm>
          <a:prstGeom prst="rect">
            <a:avLst/>
          </a:prstGeom>
          <a:noFill/>
          <a:ln/>
        </p:spPr>
        <p:txBody>
          <a:bodyPr wrap="square" lIns="0" tIns="0" rIns="0" bIns="0" rtlCol="0" anchor="ctr"/>
          <a:lstStyle/>
          <a:p>
            <a:pPr marL="0" indent="0">
              <a:buNone/>
            </a:pPr>
            <a:r>
              <a:rPr lang="en-US" sz="2400" dirty="0">
                <a:solidFill>
                  <a:srgbClr val="FFFFFF"/>
                </a:solidFill>
                <a:latin typeface="Calibri" pitchFamily="34" charset="0"/>
                <a:ea typeface="Calibri" pitchFamily="34" charset="-122"/>
                <a:cs typeface="Calibri" pitchFamily="34" charset="-120"/>
              </a:rPr>
              <a:t>for Mexico</a:t>
            </a:r>
            <a:endParaRPr lang="en-US" sz="2400" dirty="0"/>
          </a:p>
        </p:txBody>
      </p:sp>
      <p:sp>
        <p:nvSpPr>
          <p:cNvPr id="12" name="Shape 10"/>
          <p:cNvSpPr/>
          <p:nvPr/>
        </p:nvSpPr>
        <p:spPr>
          <a:xfrm>
            <a:off x="457200" y="2880360"/>
            <a:ext cx="3657600" cy="36576"/>
          </a:xfrm>
          <a:prstGeom prst="rect">
            <a:avLst/>
          </a:prstGeom>
          <a:solidFill>
            <a:srgbClr val="00BFA5"/>
          </a:solidFill>
          <a:ln w="12700">
            <a:solidFill>
              <a:srgbClr val="00BFA5"/>
            </a:solidFill>
            <a:prstDash val="solid"/>
          </a:ln>
        </p:spPr>
        <p:txBody>
          <a:bodyPr/>
          <a:lstStyle/>
          <a:p>
            <a:endParaRPr lang="es-MX"/>
          </a:p>
        </p:txBody>
      </p:sp>
      <p:sp>
        <p:nvSpPr>
          <p:cNvPr id="13" name="Text 11"/>
          <p:cNvSpPr/>
          <p:nvPr/>
        </p:nvSpPr>
        <p:spPr>
          <a:xfrm>
            <a:off x="457200" y="3017520"/>
            <a:ext cx="7315200" cy="731520"/>
          </a:xfrm>
          <a:prstGeom prst="rect">
            <a:avLst/>
          </a:prstGeom>
          <a:noFill/>
          <a:ln/>
        </p:spPr>
        <p:txBody>
          <a:bodyPr wrap="square" lIns="0" tIns="0" rIns="0" bIns="0" rtlCol="0" anchor="ctr"/>
          <a:lstStyle/>
          <a:p>
            <a:pPr marL="0" indent="0">
              <a:buNone/>
            </a:pPr>
            <a:r>
              <a:rPr lang="en-US" sz="1400" dirty="0">
                <a:solidFill>
                  <a:srgbClr val="B0BEC5"/>
                </a:solidFill>
                <a:latin typeface="Calibri" pitchFamily="34" charset="0"/>
                <a:ea typeface="Calibri" pitchFamily="34" charset="-122"/>
                <a:cs typeface="Calibri" pitchFamily="34" charset="-120"/>
              </a:rPr>
              <a:t>Measuring inflation by household headship type</a:t>
            </a:r>
            <a:endParaRPr lang="en-US" sz="1400" dirty="0"/>
          </a:p>
          <a:p>
            <a:pPr marL="0" indent="0">
              <a:buNone/>
            </a:pPr>
            <a:r>
              <a:rPr lang="en-US" sz="1400" dirty="0">
                <a:solidFill>
                  <a:srgbClr val="B0BEC5"/>
                </a:solidFill>
                <a:latin typeface="Calibri" pitchFamily="34" charset="0"/>
                <a:ea typeface="Calibri" pitchFamily="34" charset="-122"/>
                <a:cs typeface="Calibri" pitchFamily="34" charset="-120"/>
              </a:rPr>
              <a:t>using ENIGH 2022 × CPI CCIF 2018 price indices</a:t>
            </a:r>
            <a:endParaRPr lang="en-US" sz="1400" dirty="0"/>
          </a:p>
        </p:txBody>
      </p:sp>
      <p:sp>
        <p:nvSpPr>
          <p:cNvPr id="14" name="Shape 12"/>
          <p:cNvSpPr/>
          <p:nvPr/>
        </p:nvSpPr>
        <p:spPr>
          <a:xfrm>
            <a:off x="457200" y="3977640"/>
            <a:ext cx="1828800" cy="868680"/>
          </a:xfrm>
          <a:prstGeom prst="rect">
            <a:avLst/>
          </a:prstGeom>
          <a:solidFill>
            <a:srgbClr val="112244"/>
          </a:solidFill>
          <a:ln w="12700">
            <a:solidFill>
              <a:srgbClr val="1E3A5F"/>
            </a:solidFill>
            <a:prstDash val="solid"/>
          </a:ln>
        </p:spPr>
        <p:txBody>
          <a:bodyPr/>
          <a:lstStyle/>
          <a:p>
            <a:endParaRPr lang="es-MX"/>
          </a:p>
        </p:txBody>
      </p:sp>
      <p:sp>
        <p:nvSpPr>
          <p:cNvPr id="15" name="Text 13"/>
          <p:cNvSpPr/>
          <p:nvPr/>
        </p:nvSpPr>
        <p:spPr>
          <a:xfrm>
            <a:off x="502920" y="4005072"/>
            <a:ext cx="1737360" cy="411480"/>
          </a:xfrm>
          <a:prstGeom prst="rect">
            <a:avLst/>
          </a:prstGeom>
          <a:noFill/>
          <a:ln/>
        </p:spPr>
        <p:txBody>
          <a:bodyPr wrap="square" lIns="0" tIns="0" rIns="0" bIns="0" rtlCol="0" anchor="ctr"/>
          <a:lstStyle/>
          <a:p>
            <a:pPr marL="0" indent="0" algn="ctr">
              <a:buNone/>
            </a:pPr>
            <a:r>
              <a:rPr lang="en-US" sz="2000" b="1" dirty="0">
                <a:solidFill>
                  <a:srgbClr val="00BFA5"/>
                </a:solidFill>
                <a:latin typeface="Arial Black" pitchFamily="34" charset="0"/>
                <a:ea typeface="Arial Black" pitchFamily="34" charset="-122"/>
                <a:cs typeface="Arial Black" pitchFamily="34" charset="-120"/>
              </a:rPr>
              <a:t>50,968</a:t>
            </a:r>
            <a:endParaRPr lang="en-US" sz="2000" dirty="0"/>
          </a:p>
        </p:txBody>
      </p:sp>
      <p:sp>
        <p:nvSpPr>
          <p:cNvPr id="16" name="Text 14"/>
          <p:cNvSpPr/>
          <p:nvPr/>
        </p:nvSpPr>
        <p:spPr>
          <a:xfrm>
            <a:off x="502920" y="4370832"/>
            <a:ext cx="1737360" cy="256032"/>
          </a:xfrm>
          <a:prstGeom prst="rect">
            <a:avLst/>
          </a:prstGeom>
          <a:noFill/>
          <a:ln/>
        </p:spPr>
        <p:txBody>
          <a:bodyPr wrap="square" lIns="0" tIns="0" rIns="0" bIns="0" rtlCol="0" anchor="ctr"/>
          <a:lstStyle/>
          <a:p>
            <a:pPr marL="0" indent="0" algn="ctr">
              <a:buNone/>
            </a:pPr>
            <a:r>
              <a:rPr lang="en-US" sz="900" dirty="0">
                <a:solidFill>
                  <a:srgbClr val="90A4AE"/>
                </a:solidFill>
              </a:rPr>
              <a:t>Households</a:t>
            </a:r>
            <a:endParaRPr lang="en-US" sz="900" dirty="0"/>
          </a:p>
        </p:txBody>
      </p:sp>
      <p:sp>
        <p:nvSpPr>
          <p:cNvPr id="17" name="Shape 15"/>
          <p:cNvSpPr/>
          <p:nvPr/>
        </p:nvSpPr>
        <p:spPr>
          <a:xfrm>
            <a:off x="2514600" y="3977640"/>
            <a:ext cx="1828800" cy="868680"/>
          </a:xfrm>
          <a:prstGeom prst="rect">
            <a:avLst/>
          </a:prstGeom>
          <a:solidFill>
            <a:srgbClr val="112244"/>
          </a:solidFill>
          <a:ln w="12700">
            <a:solidFill>
              <a:srgbClr val="1E3A5F"/>
            </a:solidFill>
            <a:prstDash val="solid"/>
          </a:ln>
        </p:spPr>
        <p:txBody>
          <a:bodyPr/>
          <a:lstStyle/>
          <a:p>
            <a:endParaRPr lang="es-MX"/>
          </a:p>
        </p:txBody>
      </p:sp>
      <p:sp>
        <p:nvSpPr>
          <p:cNvPr id="18" name="Text 16"/>
          <p:cNvSpPr/>
          <p:nvPr/>
        </p:nvSpPr>
        <p:spPr>
          <a:xfrm>
            <a:off x="2560320" y="4005072"/>
            <a:ext cx="1737360" cy="411480"/>
          </a:xfrm>
          <a:prstGeom prst="rect">
            <a:avLst/>
          </a:prstGeom>
          <a:noFill/>
          <a:ln/>
        </p:spPr>
        <p:txBody>
          <a:bodyPr wrap="square" lIns="0" tIns="0" rIns="0" bIns="0" rtlCol="0" anchor="ctr"/>
          <a:lstStyle/>
          <a:p>
            <a:pPr marL="0" indent="0" algn="ctr">
              <a:buNone/>
            </a:pPr>
            <a:r>
              <a:rPr lang="en-US" sz="2000" b="1" dirty="0">
                <a:solidFill>
                  <a:srgbClr val="00BFA5"/>
                </a:solidFill>
                <a:latin typeface="Arial Black" pitchFamily="34" charset="0"/>
                <a:ea typeface="Arial Black" pitchFamily="34" charset="-122"/>
                <a:cs typeface="Arial Black" pitchFamily="34" charset="-120"/>
              </a:rPr>
              <a:t>4</a:t>
            </a:r>
            <a:endParaRPr lang="en-US" sz="2000" dirty="0"/>
          </a:p>
        </p:txBody>
      </p:sp>
      <p:sp>
        <p:nvSpPr>
          <p:cNvPr id="19" name="Text 17"/>
          <p:cNvSpPr/>
          <p:nvPr/>
        </p:nvSpPr>
        <p:spPr>
          <a:xfrm>
            <a:off x="2560320" y="4370832"/>
            <a:ext cx="1737360" cy="256032"/>
          </a:xfrm>
          <a:prstGeom prst="rect">
            <a:avLst/>
          </a:prstGeom>
          <a:noFill/>
          <a:ln/>
        </p:spPr>
        <p:txBody>
          <a:bodyPr wrap="square" lIns="0" tIns="0" rIns="0" bIns="0" rtlCol="0" anchor="ctr"/>
          <a:lstStyle/>
          <a:p>
            <a:pPr marL="0" indent="0" algn="ctr">
              <a:buNone/>
            </a:pPr>
            <a:r>
              <a:rPr lang="en-US" sz="900" dirty="0">
                <a:solidFill>
                  <a:srgbClr val="90A4AE"/>
                </a:solidFill>
              </a:rPr>
              <a:t>Headship Groups</a:t>
            </a:r>
            <a:endParaRPr lang="en-US" sz="900" dirty="0"/>
          </a:p>
        </p:txBody>
      </p:sp>
      <p:sp>
        <p:nvSpPr>
          <p:cNvPr id="20" name="Shape 18"/>
          <p:cNvSpPr/>
          <p:nvPr/>
        </p:nvSpPr>
        <p:spPr>
          <a:xfrm>
            <a:off x="4572000" y="3977640"/>
            <a:ext cx="1828800" cy="868680"/>
          </a:xfrm>
          <a:prstGeom prst="rect">
            <a:avLst/>
          </a:prstGeom>
          <a:solidFill>
            <a:srgbClr val="112244"/>
          </a:solidFill>
          <a:ln w="12700">
            <a:solidFill>
              <a:srgbClr val="1E3A5F"/>
            </a:solidFill>
            <a:prstDash val="solid"/>
          </a:ln>
        </p:spPr>
        <p:txBody>
          <a:bodyPr/>
          <a:lstStyle/>
          <a:p>
            <a:endParaRPr lang="es-MX"/>
          </a:p>
        </p:txBody>
      </p:sp>
      <p:sp>
        <p:nvSpPr>
          <p:cNvPr id="21" name="Text 19"/>
          <p:cNvSpPr/>
          <p:nvPr/>
        </p:nvSpPr>
        <p:spPr>
          <a:xfrm>
            <a:off x="4617720" y="4005072"/>
            <a:ext cx="1737360" cy="411480"/>
          </a:xfrm>
          <a:prstGeom prst="rect">
            <a:avLst/>
          </a:prstGeom>
          <a:noFill/>
          <a:ln/>
        </p:spPr>
        <p:txBody>
          <a:bodyPr wrap="square" lIns="0" tIns="0" rIns="0" bIns="0" rtlCol="0" anchor="ctr"/>
          <a:lstStyle/>
          <a:p>
            <a:pPr marL="0" indent="0" algn="ctr">
              <a:buNone/>
            </a:pPr>
            <a:r>
              <a:rPr lang="en-US" sz="2000" b="1" dirty="0">
                <a:solidFill>
                  <a:srgbClr val="00BFA5"/>
                </a:solidFill>
                <a:latin typeface="Arial Black" pitchFamily="34" charset="0"/>
                <a:ea typeface="Arial Black" pitchFamily="34" charset="-122"/>
                <a:cs typeface="Arial Black" pitchFamily="34" charset="-120"/>
              </a:rPr>
              <a:t>90.4%</a:t>
            </a:r>
            <a:endParaRPr lang="en-US" sz="2000" dirty="0"/>
          </a:p>
        </p:txBody>
      </p:sp>
      <p:sp>
        <p:nvSpPr>
          <p:cNvPr id="22" name="Text 20"/>
          <p:cNvSpPr/>
          <p:nvPr/>
        </p:nvSpPr>
        <p:spPr>
          <a:xfrm>
            <a:off x="4617720" y="4370832"/>
            <a:ext cx="1737360" cy="256032"/>
          </a:xfrm>
          <a:prstGeom prst="rect">
            <a:avLst/>
          </a:prstGeom>
          <a:noFill/>
          <a:ln/>
        </p:spPr>
        <p:txBody>
          <a:bodyPr wrap="square" lIns="0" tIns="0" rIns="0" bIns="0" rtlCol="0" anchor="ctr"/>
          <a:lstStyle/>
          <a:p>
            <a:pPr marL="0" indent="0" algn="ctr">
              <a:buNone/>
            </a:pPr>
            <a:r>
              <a:rPr lang="en-US" sz="900" dirty="0">
                <a:solidFill>
                  <a:srgbClr val="90A4AE"/>
                </a:solidFill>
              </a:rPr>
              <a:t>Coverage</a:t>
            </a:r>
            <a:endParaRPr lang="en-US" sz="900" dirty="0"/>
          </a:p>
        </p:txBody>
      </p:sp>
      <p:sp>
        <p:nvSpPr>
          <p:cNvPr id="23" name="Shape 21"/>
          <p:cNvSpPr/>
          <p:nvPr/>
        </p:nvSpPr>
        <p:spPr>
          <a:xfrm>
            <a:off x="6629400" y="3977640"/>
            <a:ext cx="1828800" cy="868680"/>
          </a:xfrm>
          <a:prstGeom prst="rect">
            <a:avLst/>
          </a:prstGeom>
          <a:solidFill>
            <a:srgbClr val="112244"/>
          </a:solidFill>
          <a:ln w="12700">
            <a:solidFill>
              <a:srgbClr val="1E3A5F"/>
            </a:solidFill>
            <a:prstDash val="solid"/>
          </a:ln>
        </p:spPr>
        <p:txBody>
          <a:bodyPr/>
          <a:lstStyle/>
          <a:p>
            <a:endParaRPr lang="es-MX"/>
          </a:p>
        </p:txBody>
      </p:sp>
      <p:sp>
        <p:nvSpPr>
          <p:cNvPr id="24" name="Text 22"/>
          <p:cNvSpPr/>
          <p:nvPr/>
        </p:nvSpPr>
        <p:spPr>
          <a:xfrm>
            <a:off x="6675120" y="4005072"/>
            <a:ext cx="1737360" cy="411480"/>
          </a:xfrm>
          <a:prstGeom prst="rect">
            <a:avLst/>
          </a:prstGeom>
          <a:noFill/>
          <a:ln/>
        </p:spPr>
        <p:txBody>
          <a:bodyPr wrap="square" lIns="0" tIns="0" rIns="0" bIns="0" rtlCol="0" anchor="ctr"/>
          <a:lstStyle/>
          <a:p>
            <a:pPr marL="0" indent="0" algn="ctr">
              <a:buNone/>
            </a:pPr>
            <a:r>
              <a:rPr lang="en-US" sz="2000" b="1" dirty="0">
                <a:solidFill>
                  <a:srgbClr val="00BFA5"/>
                </a:solidFill>
                <a:latin typeface="Arial Black" pitchFamily="34" charset="0"/>
                <a:ea typeface="Arial Black" pitchFamily="34" charset="-122"/>
                <a:cs typeface="Arial Black" pitchFamily="34" charset="-120"/>
              </a:rPr>
              <a:t>2022–26</a:t>
            </a:r>
            <a:endParaRPr lang="en-US" sz="2000" dirty="0"/>
          </a:p>
        </p:txBody>
      </p:sp>
      <p:sp>
        <p:nvSpPr>
          <p:cNvPr id="25" name="Text 23"/>
          <p:cNvSpPr/>
          <p:nvPr/>
        </p:nvSpPr>
        <p:spPr>
          <a:xfrm>
            <a:off x="6675120" y="4370832"/>
            <a:ext cx="1737360" cy="256032"/>
          </a:xfrm>
          <a:prstGeom prst="rect">
            <a:avLst/>
          </a:prstGeom>
          <a:noFill/>
          <a:ln/>
        </p:spPr>
        <p:txBody>
          <a:bodyPr wrap="square" lIns="0" tIns="0" rIns="0" bIns="0" rtlCol="0" anchor="ctr"/>
          <a:lstStyle/>
          <a:p>
            <a:pPr marL="0" indent="0" algn="ctr">
              <a:buNone/>
            </a:pPr>
            <a:r>
              <a:rPr lang="en-US" sz="900" dirty="0">
                <a:solidFill>
                  <a:srgbClr val="90A4AE"/>
                </a:solidFill>
              </a:rPr>
              <a:t>Study Window</a:t>
            </a:r>
            <a:endParaRPr lang="en-US" sz="900" dirty="0"/>
          </a:p>
        </p:txBody>
      </p:sp>
      <p:sp>
        <p:nvSpPr>
          <p:cNvPr id="26" name="Shape 24"/>
          <p:cNvSpPr/>
          <p:nvPr/>
        </p:nvSpPr>
        <p:spPr>
          <a:xfrm>
            <a:off x="0" y="4919472"/>
            <a:ext cx="9144000" cy="224028"/>
          </a:xfrm>
          <a:prstGeom prst="rect">
            <a:avLst/>
          </a:prstGeom>
          <a:solidFill>
            <a:srgbClr val="071528"/>
          </a:solidFill>
          <a:ln w="12700">
            <a:solidFill>
              <a:srgbClr val="071528"/>
            </a:solidFill>
            <a:prstDash val="solid"/>
          </a:ln>
        </p:spPr>
        <p:txBody>
          <a:bodyPr/>
          <a:lstStyle/>
          <a:p>
            <a:endParaRPr lang="es-MX"/>
          </a:p>
        </p:txBody>
      </p:sp>
      <p:sp>
        <p:nvSpPr>
          <p:cNvPr id="27" name="Text 25"/>
          <p:cNvSpPr/>
          <p:nvPr/>
        </p:nvSpPr>
        <p:spPr>
          <a:xfrm>
            <a:off x="274320" y="4928616"/>
            <a:ext cx="8595360" cy="201168"/>
          </a:xfrm>
          <a:prstGeom prst="rect">
            <a:avLst/>
          </a:prstGeom>
          <a:noFill/>
          <a:ln/>
        </p:spPr>
        <p:txBody>
          <a:bodyPr wrap="square" lIns="0" tIns="0" rIns="0" bIns="0" rtlCol="0" anchor="ctr"/>
          <a:lstStyle/>
          <a:p>
            <a:pPr marL="0" indent="0" algn="l">
              <a:buNone/>
            </a:pPr>
            <a:r>
              <a:rPr lang="en-US" sz="800" dirty="0">
                <a:solidFill>
                  <a:srgbClr val="78909C"/>
                </a:solidFill>
              </a:rPr>
              <a:t>Itzel Sanchez  |  INEGI — Mexico   ·   Mentor: Arthur Beltrão | IBGE — Brazil   ·   International Data Science Accelerator — Cohort VI  |  March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FA5"/>
          </a:solidFill>
          <a:ln w="12700">
            <a:solidFill>
              <a:srgbClr val="00BFA5"/>
            </a:solidFill>
            <a:prstDash val="solid"/>
          </a:ln>
        </p:spPr>
        <p:txBody>
          <a:bodyPr/>
          <a:lstStyle/>
          <a:p>
            <a:endParaRPr lang="es-MX"/>
          </a:p>
        </p:txBody>
      </p:sp>
      <p:sp>
        <p:nvSpPr>
          <p:cNvPr id="3" name="Text 1"/>
          <p:cNvSpPr/>
          <p:nvPr/>
        </p:nvSpPr>
        <p:spPr>
          <a:xfrm>
            <a:off x="320040" y="256032"/>
            <a:ext cx="3657600" cy="274320"/>
          </a:xfrm>
          <a:prstGeom prst="rect">
            <a:avLst/>
          </a:prstGeom>
          <a:noFill/>
          <a:ln/>
        </p:spPr>
        <p:txBody>
          <a:bodyPr wrap="square" lIns="0" tIns="0" rIns="0" bIns="0" rtlCol="0" anchor="ctr"/>
          <a:lstStyle/>
          <a:p>
            <a:pPr marL="0" indent="0">
              <a:buNone/>
            </a:pPr>
            <a:r>
              <a:rPr lang="en-US" sz="1000" b="1" kern="0" spc="400" dirty="0">
                <a:solidFill>
                  <a:srgbClr val="00BFA5"/>
                </a:solidFill>
              </a:rPr>
              <a:t>THE PROBLEM</a:t>
            </a:r>
            <a:endParaRPr lang="en-US" sz="1000" dirty="0"/>
          </a:p>
        </p:txBody>
      </p:sp>
      <p:sp>
        <p:nvSpPr>
          <p:cNvPr id="4" name="Text 2"/>
          <p:cNvSpPr/>
          <p:nvPr/>
        </p:nvSpPr>
        <p:spPr>
          <a:xfrm>
            <a:off x="320040" y="54864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One CPI for 130 million people</a:t>
            </a:r>
            <a:endParaRPr lang="en-US" sz="3400" dirty="0"/>
          </a:p>
        </p:txBody>
      </p:sp>
      <p:sp>
        <p:nvSpPr>
          <p:cNvPr id="5" name="Shape 3"/>
          <p:cNvSpPr/>
          <p:nvPr/>
        </p:nvSpPr>
        <p:spPr>
          <a:xfrm>
            <a:off x="320040" y="1261872"/>
            <a:ext cx="8503920" cy="36576"/>
          </a:xfrm>
          <a:prstGeom prst="rect">
            <a:avLst/>
          </a:prstGeom>
          <a:solidFill>
            <a:srgbClr val="1E3A5F"/>
          </a:solidFill>
          <a:ln w="12700">
            <a:solidFill>
              <a:srgbClr val="1E3A5F"/>
            </a:solidFill>
            <a:prstDash val="solid"/>
          </a:ln>
        </p:spPr>
        <p:txBody>
          <a:bodyPr/>
          <a:lstStyle/>
          <a:p>
            <a:endParaRPr lang="es-MX"/>
          </a:p>
        </p:txBody>
      </p:sp>
      <p:sp>
        <p:nvSpPr>
          <p:cNvPr id="6" name="Text 4"/>
          <p:cNvSpPr/>
          <p:nvPr/>
        </p:nvSpPr>
        <p:spPr>
          <a:xfrm>
            <a:off x="457200" y="1417320"/>
            <a:ext cx="8229600" cy="1005840"/>
          </a:xfrm>
          <a:prstGeom prst="rect">
            <a:avLst/>
          </a:prstGeom>
          <a:noFill/>
          <a:ln/>
        </p:spPr>
        <p:txBody>
          <a:bodyPr wrap="square" lIns="0" tIns="0" rIns="0" bIns="0" rtlCol="0" anchor="ctr"/>
          <a:lstStyle/>
          <a:p>
            <a:pPr marL="0" indent="0" algn="ctr">
              <a:buNone/>
            </a:pPr>
            <a:r>
              <a:rPr lang="en-US" sz="1600" i="1" dirty="0">
                <a:solidFill>
                  <a:srgbClr val="B0BEC5"/>
                </a:solidFill>
                <a:latin typeface="Calibri" pitchFamily="34" charset="0"/>
                <a:ea typeface="Calibri" pitchFamily="34" charset="-122"/>
                <a:cs typeface="Calibri" pitchFamily="34" charset="-120"/>
              </a:rPr>
              <a:t>"INEGI publishes one inflation number for 130 million people.</a:t>
            </a:r>
            <a:endParaRPr lang="en-US" sz="1600" dirty="0"/>
          </a:p>
          <a:p>
            <a:pPr marL="0" indent="0" algn="ctr">
              <a:buNone/>
            </a:pPr>
            <a:r>
              <a:rPr lang="en-US" sz="1600" i="1" dirty="0">
                <a:solidFill>
                  <a:srgbClr val="B0BEC5"/>
                </a:solidFill>
                <a:latin typeface="Calibri" pitchFamily="34" charset="0"/>
                <a:ea typeface="Calibri" pitchFamily="34" charset="-122"/>
                <a:cs typeface="Calibri" pitchFamily="34" charset="-120"/>
              </a:rPr>
              <a:t>Rigorous — but never designed to ask: does a single mother face</a:t>
            </a:r>
            <a:endParaRPr lang="en-US" sz="1600" dirty="0"/>
          </a:p>
          <a:p>
            <a:pPr marL="0" indent="0" algn="ctr">
              <a:buNone/>
            </a:pPr>
            <a:r>
              <a:rPr lang="en-US" sz="1600" i="1" dirty="0">
                <a:solidFill>
                  <a:srgbClr val="B0BEC5"/>
                </a:solidFill>
                <a:latin typeface="Calibri" pitchFamily="34" charset="0"/>
                <a:ea typeface="Calibri" pitchFamily="34" charset="-122"/>
                <a:cs typeface="Calibri" pitchFamily="34" charset="-120"/>
              </a:rPr>
              <a:t>the same inflation as a married man?"</a:t>
            </a:r>
            <a:endParaRPr lang="en-US" sz="1600" dirty="0"/>
          </a:p>
        </p:txBody>
      </p:sp>
      <p:sp>
        <p:nvSpPr>
          <p:cNvPr id="7" name="Shape 5"/>
          <p:cNvSpPr/>
          <p:nvPr/>
        </p:nvSpPr>
        <p:spPr>
          <a:xfrm>
            <a:off x="320040" y="2560320"/>
            <a:ext cx="2743200" cy="2240280"/>
          </a:xfrm>
          <a:prstGeom prst="rect">
            <a:avLst/>
          </a:prstGeom>
          <a:solidFill>
            <a:srgbClr val="0D3380"/>
          </a:solidFill>
          <a:ln w="12700">
            <a:solidFill>
              <a:srgbClr val="0D3380"/>
            </a:solidFill>
            <a:prstDash val="solid"/>
          </a:ln>
          <a:effectLst>
            <a:outerShdw blurRad="101600" dist="38100" dir="8100000" algn="bl" rotWithShape="0">
              <a:srgbClr val="000000">
                <a:alpha val="12000"/>
              </a:srgbClr>
            </a:outerShdw>
          </a:effectLst>
        </p:spPr>
        <p:txBody>
          <a:bodyPr/>
          <a:lstStyle/>
          <a:p>
            <a:endParaRPr lang="es-MX"/>
          </a:p>
        </p:txBody>
      </p:sp>
      <p:sp>
        <p:nvSpPr>
          <p:cNvPr id="8" name="Shape 6"/>
          <p:cNvSpPr/>
          <p:nvPr/>
        </p:nvSpPr>
        <p:spPr>
          <a:xfrm>
            <a:off x="320040" y="2560320"/>
            <a:ext cx="2743200" cy="54864"/>
          </a:xfrm>
          <a:prstGeom prst="rect">
            <a:avLst/>
          </a:prstGeom>
          <a:solidFill>
            <a:srgbClr val="00BFA5"/>
          </a:solidFill>
          <a:ln w="12700">
            <a:solidFill>
              <a:srgbClr val="00BFA5"/>
            </a:solidFill>
            <a:prstDash val="solid"/>
          </a:ln>
        </p:spPr>
        <p:txBody>
          <a:bodyPr/>
          <a:lstStyle/>
          <a:p>
            <a:endParaRPr lang="es-MX"/>
          </a:p>
        </p:txBody>
      </p:sp>
      <p:sp>
        <p:nvSpPr>
          <p:cNvPr id="9" name="Text 7"/>
          <p:cNvSpPr/>
          <p:nvPr/>
        </p:nvSpPr>
        <p:spPr>
          <a:xfrm>
            <a:off x="457200" y="2651760"/>
            <a:ext cx="2468880" cy="320040"/>
          </a:xfrm>
          <a:prstGeom prst="rect">
            <a:avLst/>
          </a:prstGeom>
          <a:noFill/>
          <a:ln/>
        </p:spPr>
        <p:txBody>
          <a:bodyPr wrap="square" lIns="0" tIns="0" rIns="0" bIns="0" rtlCol="0" anchor="ctr"/>
          <a:lstStyle/>
          <a:p>
            <a:pPr marL="0" indent="0">
              <a:buNone/>
            </a:pPr>
            <a:r>
              <a:rPr lang="en-US" sz="1200" b="1" dirty="0">
                <a:solidFill>
                  <a:srgbClr val="FFFFFF"/>
                </a:solidFill>
              </a:rPr>
              <a:t>📊  Official CPI</a:t>
            </a:r>
            <a:endParaRPr lang="en-US" sz="1200" dirty="0"/>
          </a:p>
        </p:txBody>
      </p:sp>
      <p:sp>
        <p:nvSpPr>
          <p:cNvPr id="10" name="Text 8"/>
          <p:cNvSpPr/>
          <p:nvPr/>
        </p:nvSpPr>
        <p:spPr>
          <a:xfrm>
            <a:off x="457200" y="3017520"/>
            <a:ext cx="2514600" cy="1645920"/>
          </a:xfrm>
          <a:prstGeom prst="rect">
            <a:avLst/>
          </a:prstGeom>
          <a:noFill/>
          <a:ln/>
        </p:spPr>
        <p:txBody>
          <a:bodyPr wrap="square" lIns="0" tIns="0" rIns="0" bIns="0" rtlCol="0" anchor="ctr"/>
          <a:lstStyle/>
          <a:p>
            <a:pPr marL="0" indent="0">
              <a:buNone/>
            </a:pPr>
            <a:r>
              <a:rPr lang="en-US" sz="1100" dirty="0">
                <a:solidFill>
                  <a:srgbClr val="BBDEFB"/>
                </a:solidFill>
              </a:rPr>
              <a:t>Mexico's CPI assigns a single national basket to all 130M residents — ignoring how different household types actually spend their income.</a:t>
            </a:r>
            <a:endParaRPr lang="en-US" sz="1100" dirty="0"/>
          </a:p>
        </p:txBody>
      </p:sp>
      <p:sp>
        <p:nvSpPr>
          <p:cNvPr id="11" name="Shape 9"/>
          <p:cNvSpPr/>
          <p:nvPr/>
        </p:nvSpPr>
        <p:spPr>
          <a:xfrm>
            <a:off x="3200400" y="2560320"/>
            <a:ext cx="2743200" cy="2240280"/>
          </a:xfrm>
          <a:prstGeom prst="rect">
            <a:avLst/>
          </a:prstGeom>
          <a:solidFill>
            <a:srgbClr val="6A1060"/>
          </a:solidFill>
          <a:ln w="12700">
            <a:solidFill>
              <a:srgbClr val="6A1060"/>
            </a:solidFill>
            <a:prstDash val="solid"/>
          </a:ln>
          <a:effectLst>
            <a:outerShdw blurRad="101600" dist="38100" dir="8100000" algn="bl" rotWithShape="0">
              <a:srgbClr val="000000">
                <a:alpha val="12000"/>
              </a:srgbClr>
            </a:outerShdw>
          </a:effectLst>
        </p:spPr>
        <p:txBody>
          <a:bodyPr/>
          <a:lstStyle/>
          <a:p>
            <a:endParaRPr lang="es-MX"/>
          </a:p>
        </p:txBody>
      </p:sp>
      <p:sp>
        <p:nvSpPr>
          <p:cNvPr id="12" name="Shape 10"/>
          <p:cNvSpPr/>
          <p:nvPr/>
        </p:nvSpPr>
        <p:spPr>
          <a:xfrm>
            <a:off x="3200400" y="2560320"/>
            <a:ext cx="2743200" cy="54864"/>
          </a:xfrm>
          <a:prstGeom prst="rect">
            <a:avLst/>
          </a:prstGeom>
          <a:solidFill>
            <a:srgbClr val="00BFA5"/>
          </a:solidFill>
          <a:ln w="12700">
            <a:solidFill>
              <a:srgbClr val="00BFA5"/>
            </a:solidFill>
            <a:prstDash val="solid"/>
          </a:ln>
        </p:spPr>
        <p:txBody>
          <a:bodyPr/>
          <a:lstStyle/>
          <a:p>
            <a:endParaRPr lang="es-MX"/>
          </a:p>
        </p:txBody>
      </p:sp>
      <p:sp>
        <p:nvSpPr>
          <p:cNvPr id="13" name="Text 11"/>
          <p:cNvSpPr/>
          <p:nvPr/>
        </p:nvSpPr>
        <p:spPr>
          <a:xfrm>
            <a:off x="3337560" y="2651760"/>
            <a:ext cx="2468880" cy="320040"/>
          </a:xfrm>
          <a:prstGeom prst="rect">
            <a:avLst/>
          </a:prstGeom>
          <a:noFill/>
          <a:ln/>
        </p:spPr>
        <p:txBody>
          <a:bodyPr wrap="square" lIns="0" tIns="0" rIns="0" bIns="0" rtlCol="0" anchor="ctr"/>
          <a:lstStyle/>
          <a:p>
            <a:pPr marL="0" indent="0">
              <a:buNone/>
            </a:pPr>
            <a:r>
              <a:rPr lang="en-US" sz="1200" b="1" dirty="0">
                <a:solidFill>
                  <a:srgbClr val="FFFFFF"/>
                </a:solidFill>
              </a:rPr>
              <a:t>🏠  Household structure matters</a:t>
            </a:r>
            <a:endParaRPr lang="en-US" sz="1200" dirty="0"/>
          </a:p>
        </p:txBody>
      </p:sp>
      <p:sp>
        <p:nvSpPr>
          <p:cNvPr id="14" name="Text 12"/>
          <p:cNvSpPr/>
          <p:nvPr/>
        </p:nvSpPr>
        <p:spPr>
          <a:xfrm>
            <a:off x="3337560" y="3017520"/>
            <a:ext cx="2514600" cy="1645920"/>
          </a:xfrm>
          <a:prstGeom prst="rect">
            <a:avLst/>
          </a:prstGeom>
          <a:noFill/>
          <a:ln/>
        </p:spPr>
        <p:txBody>
          <a:bodyPr wrap="square" lIns="0" tIns="0" rIns="0" bIns="0" rtlCol="0" anchor="ctr"/>
          <a:lstStyle/>
          <a:p>
            <a:pPr marL="0" indent="0">
              <a:buNone/>
            </a:pPr>
            <a:r>
              <a:rPr lang="en-US" sz="1100" dirty="0">
                <a:solidFill>
                  <a:srgbClr val="BBDEFB"/>
                </a:solidFill>
              </a:rPr>
              <a:t>A single-person household eats out more. A household with children spends more on education. These differences translate into different inflation exposure.</a:t>
            </a:r>
            <a:endParaRPr lang="en-US" sz="1100" dirty="0"/>
          </a:p>
        </p:txBody>
      </p:sp>
      <p:sp>
        <p:nvSpPr>
          <p:cNvPr id="15" name="Shape 13"/>
          <p:cNvSpPr/>
          <p:nvPr/>
        </p:nvSpPr>
        <p:spPr>
          <a:xfrm>
            <a:off x="6080760" y="2560320"/>
            <a:ext cx="2743200" cy="2240280"/>
          </a:xfrm>
          <a:prstGeom prst="rect">
            <a:avLst/>
          </a:prstGeom>
          <a:solidFill>
            <a:srgbClr val="006060"/>
          </a:solidFill>
          <a:ln w="12700">
            <a:solidFill>
              <a:srgbClr val="006060"/>
            </a:solidFill>
            <a:prstDash val="solid"/>
          </a:ln>
          <a:effectLst>
            <a:outerShdw blurRad="101600" dist="38100" dir="8100000" algn="bl" rotWithShape="0">
              <a:srgbClr val="000000">
                <a:alpha val="12000"/>
              </a:srgbClr>
            </a:outerShdw>
          </a:effectLst>
        </p:spPr>
        <p:txBody>
          <a:bodyPr/>
          <a:lstStyle/>
          <a:p>
            <a:endParaRPr lang="es-MX"/>
          </a:p>
        </p:txBody>
      </p:sp>
      <p:sp>
        <p:nvSpPr>
          <p:cNvPr id="16" name="Shape 14"/>
          <p:cNvSpPr/>
          <p:nvPr/>
        </p:nvSpPr>
        <p:spPr>
          <a:xfrm>
            <a:off x="6080760" y="2560320"/>
            <a:ext cx="2743200" cy="54864"/>
          </a:xfrm>
          <a:prstGeom prst="rect">
            <a:avLst/>
          </a:prstGeom>
          <a:solidFill>
            <a:srgbClr val="00BFA5"/>
          </a:solidFill>
          <a:ln w="12700">
            <a:solidFill>
              <a:srgbClr val="00BFA5"/>
            </a:solidFill>
            <a:prstDash val="solid"/>
          </a:ln>
        </p:spPr>
        <p:txBody>
          <a:bodyPr/>
          <a:lstStyle/>
          <a:p>
            <a:endParaRPr lang="es-MX"/>
          </a:p>
        </p:txBody>
      </p:sp>
      <p:sp>
        <p:nvSpPr>
          <p:cNvPr id="17" name="Text 15"/>
          <p:cNvSpPr/>
          <p:nvPr/>
        </p:nvSpPr>
        <p:spPr>
          <a:xfrm>
            <a:off x="6217920" y="2651760"/>
            <a:ext cx="2468880" cy="320040"/>
          </a:xfrm>
          <a:prstGeom prst="rect">
            <a:avLst/>
          </a:prstGeom>
          <a:noFill/>
          <a:ln/>
        </p:spPr>
        <p:txBody>
          <a:bodyPr wrap="square" lIns="0" tIns="0" rIns="0" bIns="0" rtlCol="0" anchor="ctr"/>
          <a:lstStyle/>
          <a:p>
            <a:pPr marL="0" indent="0">
              <a:buNone/>
            </a:pPr>
            <a:r>
              <a:rPr lang="en-US" sz="1200" b="1" dirty="0">
                <a:solidFill>
                  <a:srgbClr val="FFFFFF"/>
                </a:solidFill>
              </a:rPr>
              <a:t>⚖️  The hypothesis</a:t>
            </a:r>
            <a:endParaRPr lang="en-US" sz="1200" dirty="0"/>
          </a:p>
        </p:txBody>
      </p:sp>
      <p:sp>
        <p:nvSpPr>
          <p:cNvPr id="18" name="Text 16"/>
          <p:cNvSpPr/>
          <p:nvPr/>
        </p:nvSpPr>
        <p:spPr>
          <a:xfrm>
            <a:off x="6217920" y="3017520"/>
            <a:ext cx="2514600" cy="1645920"/>
          </a:xfrm>
          <a:prstGeom prst="rect">
            <a:avLst/>
          </a:prstGeom>
          <a:noFill/>
          <a:ln/>
        </p:spPr>
        <p:txBody>
          <a:bodyPr wrap="square" lIns="0" tIns="0" rIns="0" bIns="0" rtlCol="0" anchor="ctr"/>
          <a:lstStyle/>
          <a:p>
            <a:pPr marL="0" indent="0">
              <a:buNone/>
            </a:pPr>
            <a:r>
              <a:rPr lang="en-US" sz="1100" dirty="0">
                <a:solidFill>
                  <a:srgbClr val="BBDEFB"/>
                </a:solidFill>
              </a:rPr>
              <a:t>Female-headed households — especially female-alone — were expected to face higher inflation due to income constraints. The data revealed something different.</a:t>
            </a:r>
            <a:endParaRPr lang="en-US" sz="1100" dirty="0"/>
          </a:p>
        </p:txBody>
      </p:sp>
      <p:sp>
        <p:nvSpPr>
          <p:cNvPr id="19" name="Shape 17"/>
          <p:cNvSpPr/>
          <p:nvPr/>
        </p:nvSpPr>
        <p:spPr>
          <a:xfrm>
            <a:off x="0" y="4919472"/>
            <a:ext cx="9144000" cy="224028"/>
          </a:xfrm>
          <a:prstGeom prst="rect">
            <a:avLst/>
          </a:prstGeom>
          <a:solidFill>
            <a:srgbClr val="071528"/>
          </a:solidFill>
          <a:ln w="12700">
            <a:solidFill>
              <a:srgbClr val="071528"/>
            </a:solidFill>
            <a:prstDash val="solid"/>
          </a:ln>
        </p:spPr>
        <p:txBody>
          <a:bodyPr/>
          <a:lstStyle/>
          <a:p>
            <a:endParaRPr lang="es-MX"/>
          </a:p>
        </p:txBody>
      </p:sp>
      <p:sp>
        <p:nvSpPr>
          <p:cNvPr id="20" name="Text 18"/>
          <p:cNvSpPr/>
          <p:nvPr/>
        </p:nvSpPr>
        <p:spPr>
          <a:xfrm>
            <a:off x="274320" y="4937760"/>
            <a:ext cx="8595360" cy="182880"/>
          </a:xfrm>
          <a:prstGeom prst="rect">
            <a:avLst/>
          </a:prstGeom>
          <a:noFill/>
          <a:ln/>
        </p:spPr>
        <p:txBody>
          <a:bodyPr wrap="square" lIns="0" tIns="0" rIns="0" bIns="0" rtlCol="0" anchor="ctr"/>
          <a:lstStyle/>
          <a:p>
            <a:pPr marL="0" indent="0">
              <a:buNone/>
            </a:pPr>
            <a:r>
              <a:rPr lang="en-US" sz="800" dirty="0">
                <a:solidFill>
                  <a:srgbClr val="78909C"/>
                </a:solidFill>
              </a:rPr>
              <a:t>G-CPI Mexico  ·  Itzel Sánchez — INEGI  ·  IDSA Cohort VI  ·  March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F3A"/>
          </a:solidFill>
          <a:ln w="12700">
            <a:solidFill>
              <a:srgbClr val="0B1F3A"/>
            </a:solidFill>
            <a:prstDash val="solid"/>
          </a:ln>
        </p:spPr>
        <p:txBody>
          <a:bodyPr/>
          <a:lstStyle/>
          <a:p>
            <a:endParaRPr lang="es-MX"/>
          </a:p>
        </p:txBody>
      </p:sp>
      <p:sp>
        <p:nvSpPr>
          <p:cNvPr id="3" name="Text 1"/>
          <p:cNvSpPr/>
          <p:nvPr/>
        </p:nvSpPr>
        <p:spPr>
          <a:xfrm>
            <a:off x="365760" y="109728"/>
            <a:ext cx="36576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DATA SOURCES</a:t>
            </a:r>
            <a:endParaRPr lang="en-US" sz="1000" dirty="0"/>
          </a:p>
        </p:txBody>
      </p:sp>
      <p:sp>
        <p:nvSpPr>
          <p:cNvPr id="4" name="Text 2"/>
          <p:cNvSpPr/>
          <p:nvPr/>
        </p:nvSpPr>
        <p:spPr>
          <a:xfrm>
            <a:off x="365760" y="411480"/>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Three official INEGI datasets power the G-CPI</a:t>
            </a:r>
            <a:endParaRPr lang="en-US" sz="2600" dirty="0"/>
          </a:p>
        </p:txBody>
      </p:sp>
      <p:sp>
        <p:nvSpPr>
          <p:cNvPr id="5" name="Shape 3"/>
          <p:cNvSpPr/>
          <p:nvPr/>
        </p:nvSpPr>
        <p:spPr>
          <a:xfrm>
            <a:off x="274320" y="1188720"/>
            <a:ext cx="2788920" cy="3566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6" name="Shape 4"/>
          <p:cNvSpPr/>
          <p:nvPr/>
        </p:nvSpPr>
        <p:spPr>
          <a:xfrm>
            <a:off x="274320" y="1188720"/>
            <a:ext cx="2788920" cy="502920"/>
          </a:xfrm>
          <a:prstGeom prst="rect">
            <a:avLst/>
          </a:prstGeom>
          <a:solidFill>
            <a:srgbClr val="0D3380"/>
          </a:solidFill>
          <a:ln w="12700">
            <a:solidFill>
              <a:srgbClr val="0D3380"/>
            </a:solidFill>
            <a:prstDash val="solid"/>
          </a:ln>
        </p:spPr>
        <p:txBody>
          <a:bodyPr/>
          <a:lstStyle/>
          <a:p>
            <a:endParaRPr lang="es-MX"/>
          </a:p>
        </p:txBody>
      </p:sp>
      <p:sp>
        <p:nvSpPr>
          <p:cNvPr id="7" name="Text 5"/>
          <p:cNvSpPr/>
          <p:nvPr/>
        </p:nvSpPr>
        <p:spPr>
          <a:xfrm>
            <a:off x="365760" y="1216152"/>
            <a:ext cx="457200" cy="438912"/>
          </a:xfrm>
          <a:prstGeom prst="rect">
            <a:avLst/>
          </a:prstGeom>
          <a:noFill/>
          <a:ln/>
        </p:spPr>
        <p:txBody>
          <a:bodyPr wrap="square" lIns="0" tIns="0" rIns="0" bIns="0" rtlCol="0" anchor="ctr"/>
          <a:lstStyle/>
          <a:p>
            <a:pPr marL="0" indent="0">
              <a:buNone/>
            </a:pPr>
            <a:r>
              <a:rPr lang="en-US" sz="2200" b="1" dirty="0">
                <a:solidFill>
                  <a:srgbClr val="00BFA5"/>
                </a:solidFill>
                <a:latin typeface="Arial Black" pitchFamily="34" charset="0"/>
                <a:ea typeface="Arial Black" pitchFamily="34" charset="-122"/>
                <a:cs typeface="Arial Black" pitchFamily="34" charset="-120"/>
              </a:rPr>
              <a:t>01</a:t>
            </a:r>
            <a:endParaRPr lang="en-US" sz="2200" dirty="0"/>
          </a:p>
        </p:txBody>
      </p:sp>
      <p:sp>
        <p:nvSpPr>
          <p:cNvPr id="8" name="Text 6"/>
          <p:cNvSpPr/>
          <p:nvPr/>
        </p:nvSpPr>
        <p:spPr>
          <a:xfrm>
            <a:off x="777240" y="1234440"/>
            <a:ext cx="2194560" cy="438912"/>
          </a:xfrm>
          <a:prstGeom prst="rect">
            <a:avLst/>
          </a:prstGeom>
          <a:noFill/>
          <a:ln/>
        </p:spPr>
        <p:txBody>
          <a:bodyPr wrap="square" lIns="0" tIns="0" rIns="0" bIns="0" rtlCol="0" anchor="ctr"/>
          <a:lstStyle/>
          <a:p>
            <a:pPr marL="0" indent="0">
              <a:buNone/>
            </a:pPr>
            <a:r>
              <a:rPr lang="en-US" sz="1100" b="1" dirty="0">
                <a:solidFill>
                  <a:srgbClr val="FFFFFF"/>
                </a:solidFill>
              </a:rPr>
              <a:t>ENIGH Estacional 2022</a:t>
            </a:r>
            <a:endParaRPr lang="en-US" sz="1100" dirty="0"/>
          </a:p>
        </p:txBody>
      </p:sp>
      <p:sp>
        <p:nvSpPr>
          <p:cNvPr id="9" name="Text 7"/>
          <p:cNvSpPr/>
          <p:nvPr/>
        </p:nvSpPr>
        <p:spPr>
          <a:xfrm>
            <a:off x="384048" y="1783080"/>
            <a:ext cx="2578608" cy="320040"/>
          </a:xfrm>
          <a:prstGeom prst="rect">
            <a:avLst/>
          </a:prstGeom>
          <a:noFill/>
          <a:ln/>
        </p:spPr>
        <p:txBody>
          <a:bodyPr wrap="square" lIns="0" tIns="0" rIns="0" bIns="0" rtlCol="0" anchor="ctr"/>
          <a:lstStyle/>
          <a:p>
            <a:pPr marL="0" indent="0">
              <a:buNone/>
            </a:pPr>
            <a:r>
              <a:rPr lang="en-US" sz="1000" i="1" dirty="0">
                <a:solidFill>
                  <a:srgbClr val="546E7A"/>
                </a:solidFill>
              </a:rPr>
              <a:t>National Household Income &amp; Expenditure Survey</a:t>
            </a:r>
            <a:endParaRPr lang="en-US" sz="1000" dirty="0"/>
          </a:p>
        </p:txBody>
      </p:sp>
      <p:sp>
        <p:nvSpPr>
          <p:cNvPr id="10" name="Text 8"/>
          <p:cNvSpPr/>
          <p:nvPr/>
        </p:nvSpPr>
        <p:spPr>
          <a:xfrm>
            <a:off x="384048" y="2148840"/>
            <a:ext cx="2578608" cy="822960"/>
          </a:xfrm>
          <a:prstGeom prst="rect">
            <a:avLst/>
          </a:prstGeom>
          <a:noFill/>
          <a:ln/>
        </p:spPr>
        <p:txBody>
          <a:bodyPr wrap="square" lIns="0" tIns="0" rIns="0" bIns="0" rtlCol="0" anchor="ctr"/>
          <a:lstStyle/>
          <a:p>
            <a:pPr marL="0" indent="0">
              <a:buNone/>
            </a:pPr>
            <a:r>
              <a:rPr lang="en-US" sz="1050" dirty="0">
                <a:solidFill>
                  <a:srgbClr val="263238"/>
                </a:solidFill>
              </a:rPr>
              <a:t>Same edition INEGI used for the 2024 CPI basket update. Probabilistic, stratified, two-stage cluster design.</a:t>
            </a:r>
            <a:endParaRPr lang="en-US" sz="1050" dirty="0"/>
          </a:p>
        </p:txBody>
      </p:sp>
      <p:sp>
        <p:nvSpPr>
          <p:cNvPr id="11" name="Shape 9"/>
          <p:cNvSpPr/>
          <p:nvPr/>
        </p:nvSpPr>
        <p:spPr>
          <a:xfrm>
            <a:off x="384048"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12" name="Text 10"/>
          <p:cNvSpPr/>
          <p:nvPr/>
        </p:nvSpPr>
        <p:spPr>
          <a:xfrm>
            <a:off x="384048" y="3081528"/>
            <a:ext cx="822960" cy="347472"/>
          </a:xfrm>
          <a:prstGeom prst="rect">
            <a:avLst/>
          </a:prstGeom>
          <a:noFill/>
          <a:ln/>
        </p:spPr>
        <p:txBody>
          <a:bodyPr wrap="square" lIns="0" tIns="0" rIns="0" bIns="0" rtlCol="0" anchor="ctr"/>
          <a:lstStyle/>
          <a:p>
            <a:pPr marL="0" indent="0" algn="ctr">
              <a:buNone/>
            </a:pPr>
            <a:r>
              <a:rPr lang="en-US" sz="1400" b="1" dirty="0">
                <a:solidFill>
                  <a:srgbClr val="0D3380"/>
                </a:solidFill>
              </a:rPr>
              <a:t>50,968</a:t>
            </a:r>
            <a:endParaRPr lang="en-US" sz="1400" dirty="0"/>
          </a:p>
        </p:txBody>
      </p:sp>
      <p:sp>
        <p:nvSpPr>
          <p:cNvPr id="13" name="Text 11"/>
          <p:cNvSpPr/>
          <p:nvPr/>
        </p:nvSpPr>
        <p:spPr>
          <a:xfrm>
            <a:off x="384048"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households</a:t>
            </a:r>
            <a:endParaRPr lang="en-US" sz="800" dirty="0"/>
          </a:p>
        </p:txBody>
      </p:sp>
      <p:sp>
        <p:nvSpPr>
          <p:cNvPr id="14" name="Shape 12"/>
          <p:cNvSpPr/>
          <p:nvPr/>
        </p:nvSpPr>
        <p:spPr>
          <a:xfrm>
            <a:off x="1280160"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15" name="Text 13"/>
          <p:cNvSpPr/>
          <p:nvPr/>
        </p:nvSpPr>
        <p:spPr>
          <a:xfrm>
            <a:off x="1280160" y="3081528"/>
            <a:ext cx="822960" cy="347472"/>
          </a:xfrm>
          <a:prstGeom prst="rect">
            <a:avLst/>
          </a:prstGeom>
          <a:noFill/>
          <a:ln/>
        </p:spPr>
        <p:txBody>
          <a:bodyPr wrap="square" lIns="0" tIns="0" rIns="0" bIns="0" rtlCol="0" anchor="ctr"/>
          <a:lstStyle/>
          <a:p>
            <a:pPr marL="0" indent="0" algn="ctr">
              <a:buNone/>
            </a:pPr>
            <a:r>
              <a:rPr lang="en-US" sz="1400" b="1" dirty="0">
                <a:solidFill>
                  <a:srgbClr val="0D3380"/>
                </a:solidFill>
              </a:rPr>
              <a:t>44,250</a:t>
            </a:r>
            <a:endParaRPr lang="en-US" sz="1400" dirty="0"/>
          </a:p>
        </p:txBody>
      </p:sp>
      <p:sp>
        <p:nvSpPr>
          <p:cNvPr id="16" name="Text 14"/>
          <p:cNvSpPr/>
          <p:nvPr/>
        </p:nvSpPr>
        <p:spPr>
          <a:xfrm>
            <a:off x="1280160"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usable sample</a:t>
            </a:r>
            <a:endParaRPr lang="en-US" sz="800" dirty="0"/>
          </a:p>
        </p:txBody>
      </p:sp>
      <p:sp>
        <p:nvSpPr>
          <p:cNvPr id="17" name="Shape 15"/>
          <p:cNvSpPr/>
          <p:nvPr/>
        </p:nvSpPr>
        <p:spPr>
          <a:xfrm>
            <a:off x="2176272"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18" name="Text 16"/>
          <p:cNvSpPr/>
          <p:nvPr/>
        </p:nvSpPr>
        <p:spPr>
          <a:xfrm>
            <a:off x="2176272" y="3081528"/>
            <a:ext cx="822960" cy="347472"/>
          </a:xfrm>
          <a:prstGeom prst="rect">
            <a:avLst/>
          </a:prstGeom>
          <a:noFill/>
          <a:ln/>
        </p:spPr>
        <p:txBody>
          <a:bodyPr wrap="square" lIns="0" tIns="0" rIns="0" bIns="0" rtlCol="0" anchor="ctr"/>
          <a:lstStyle/>
          <a:p>
            <a:pPr marL="0" indent="0" algn="ctr">
              <a:buNone/>
            </a:pPr>
            <a:r>
              <a:rPr lang="en-US" sz="1400" b="1" dirty="0">
                <a:solidFill>
                  <a:srgbClr val="0D3380"/>
                </a:solidFill>
              </a:rPr>
              <a:t>2.6M</a:t>
            </a:r>
            <a:endParaRPr lang="en-US" sz="1400" dirty="0"/>
          </a:p>
        </p:txBody>
      </p:sp>
      <p:sp>
        <p:nvSpPr>
          <p:cNvPr id="19" name="Text 17"/>
          <p:cNvSpPr/>
          <p:nvPr/>
        </p:nvSpPr>
        <p:spPr>
          <a:xfrm>
            <a:off x="2176272"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expenditure records</a:t>
            </a:r>
            <a:endParaRPr lang="en-US" sz="800" dirty="0"/>
          </a:p>
        </p:txBody>
      </p:sp>
      <p:sp>
        <p:nvSpPr>
          <p:cNvPr id="20" name="Shape 18"/>
          <p:cNvSpPr/>
          <p:nvPr/>
        </p:nvSpPr>
        <p:spPr>
          <a:xfrm>
            <a:off x="3182112" y="1188720"/>
            <a:ext cx="2788920" cy="3566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21" name="Shape 19"/>
          <p:cNvSpPr/>
          <p:nvPr/>
        </p:nvSpPr>
        <p:spPr>
          <a:xfrm>
            <a:off x="3182112" y="1188720"/>
            <a:ext cx="2788920" cy="502920"/>
          </a:xfrm>
          <a:prstGeom prst="rect">
            <a:avLst/>
          </a:prstGeom>
          <a:solidFill>
            <a:srgbClr val="2E6B9E"/>
          </a:solidFill>
          <a:ln w="12700">
            <a:solidFill>
              <a:srgbClr val="2E6B9E"/>
            </a:solidFill>
            <a:prstDash val="solid"/>
          </a:ln>
        </p:spPr>
        <p:txBody>
          <a:bodyPr/>
          <a:lstStyle/>
          <a:p>
            <a:endParaRPr lang="es-MX"/>
          </a:p>
        </p:txBody>
      </p:sp>
      <p:sp>
        <p:nvSpPr>
          <p:cNvPr id="22" name="Text 20"/>
          <p:cNvSpPr/>
          <p:nvPr/>
        </p:nvSpPr>
        <p:spPr>
          <a:xfrm>
            <a:off x="3273552" y="1216152"/>
            <a:ext cx="457200" cy="438912"/>
          </a:xfrm>
          <a:prstGeom prst="rect">
            <a:avLst/>
          </a:prstGeom>
          <a:noFill/>
          <a:ln/>
        </p:spPr>
        <p:txBody>
          <a:bodyPr wrap="square" lIns="0" tIns="0" rIns="0" bIns="0" rtlCol="0" anchor="ctr"/>
          <a:lstStyle/>
          <a:p>
            <a:pPr marL="0" indent="0">
              <a:buNone/>
            </a:pPr>
            <a:r>
              <a:rPr lang="en-US" sz="2200" b="1" dirty="0">
                <a:solidFill>
                  <a:srgbClr val="00BFA5"/>
                </a:solidFill>
                <a:latin typeface="Arial Black" pitchFamily="34" charset="0"/>
                <a:ea typeface="Arial Black" pitchFamily="34" charset="-122"/>
                <a:cs typeface="Arial Black" pitchFamily="34" charset="-120"/>
              </a:rPr>
              <a:t>02</a:t>
            </a:r>
            <a:endParaRPr lang="en-US" sz="2200" dirty="0"/>
          </a:p>
        </p:txBody>
      </p:sp>
      <p:sp>
        <p:nvSpPr>
          <p:cNvPr id="23" name="Text 21"/>
          <p:cNvSpPr/>
          <p:nvPr/>
        </p:nvSpPr>
        <p:spPr>
          <a:xfrm>
            <a:off x="3685032" y="1234440"/>
            <a:ext cx="2194560" cy="438912"/>
          </a:xfrm>
          <a:prstGeom prst="rect">
            <a:avLst/>
          </a:prstGeom>
          <a:noFill/>
          <a:ln/>
        </p:spPr>
        <p:txBody>
          <a:bodyPr wrap="square" lIns="0" tIns="0" rIns="0" bIns="0" rtlCol="0" anchor="ctr"/>
          <a:lstStyle/>
          <a:p>
            <a:pPr marL="0" indent="0">
              <a:buNone/>
            </a:pPr>
            <a:r>
              <a:rPr lang="en-US" sz="1100" b="1" dirty="0">
                <a:solidFill>
                  <a:srgbClr val="FFFFFF"/>
                </a:solidFill>
              </a:rPr>
              <a:t>CPI CCIF — Price Series</a:t>
            </a:r>
            <a:endParaRPr lang="en-US" sz="1100" dirty="0"/>
          </a:p>
        </p:txBody>
      </p:sp>
      <p:sp>
        <p:nvSpPr>
          <p:cNvPr id="24" name="Text 22"/>
          <p:cNvSpPr/>
          <p:nvPr/>
        </p:nvSpPr>
        <p:spPr>
          <a:xfrm>
            <a:off x="3291840" y="1783080"/>
            <a:ext cx="2578608" cy="320040"/>
          </a:xfrm>
          <a:prstGeom prst="rect">
            <a:avLst/>
          </a:prstGeom>
          <a:noFill/>
          <a:ln/>
        </p:spPr>
        <p:txBody>
          <a:bodyPr wrap="square" lIns="0" tIns="0" rIns="0" bIns="0" rtlCol="0" anchor="ctr"/>
          <a:lstStyle/>
          <a:p>
            <a:pPr marL="0" indent="0">
              <a:buNone/>
            </a:pPr>
            <a:r>
              <a:rPr lang="en-US" sz="1000" i="1" dirty="0">
                <a:solidFill>
                  <a:srgbClr val="546E7A"/>
                </a:solidFill>
              </a:rPr>
              <a:t>Official consumer price index by division (BIE)</a:t>
            </a:r>
            <a:endParaRPr lang="en-US" sz="1000" dirty="0"/>
          </a:p>
        </p:txBody>
      </p:sp>
      <p:sp>
        <p:nvSpPr>
          <p:cNvPr id="25" name="Text 23"/>
          <p:cNvSpPr/>
          <p:nvPr/>
        </p:nvSpPr>
        <p:spPr>
          <a:xfrm>
            <a:off x="3291840" y="2148840"/>
            <a:ext cx="2578608" cy="822960"/>
          </a:xfrm>
          <a:prstGeom prst="rect">
            <a:avLst/>
          </a:prstGeom>
          <a:noFill/>
          <a:ln/>
        </p:spPr>
        <p:txBody>
          <a:bodyPr wrap="square" lIns="0" tIns="0" rIns="0" bIns="0" rtlCol="0" anchor="ctr"/>
          <a:lstStyle/>
          <a:p>
            <a:pPr marL="0" indent="0">
              <a:buNone/>
            </a:pPr>
            <a:r>
              <a:rPr lang="en-US" sz="1050" dirty="0">
                <a:solidFill>
                  <a:srgbClr val="263238"/>
                </a:solidFill>
              </a:rPr>
              <a:t>Full post-COVID inflation cycle. 13 COICOP divisions. Bi-monthly publication. Base: 2nd fortnight July 2018 = 100.</a:t>
            </a:r>
            <a:endParaRPr lang="en-US" sz="1050" dirty="0"/>
          </a:p>
        </p:txBody>
      </p:sp>
      <p:sp>
        <p:nvSpPr>
          <p:cNvPr id="26" name="Shape 24"/>
          <p:cNvSpPr/>
          <p:nvPr/>
        </p:nvSpPr>
        <p:spPr>
          <a:xfrm>
            <a:off x="3291840"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27" name="Text 25"/>
          <p:cNvSpPr/>
          <p:nvPr/>
        </p:nvSpPr>
        <p:spPr>
          <a:xfrm>
            <a:off x="3291840" y="3081528"/>
            <a:ext cx="822960" cy="347472"/>
          </a:xfrm>
          <a:prstGeom prst="rect">
            <a:avLst/>
          </a:prstGeom>
          <a:noFill/>
          <a:ln/>
        </p:spPr>
        <p:txBody>
          <a:bodyPr wrap="square" lIns="0" tIns="0" rIns="0" bIns="0" rtlCol="0" anchor="ctr"/>
          <a:lstStyle/>
          <a:p>
            <a:pPr marL="0" indent="0" algn="ctr">
              <a:buNone/>
            </a:pPr>
            <a:r>
              <a:rPr lang="en-US" sz="1400" b="1" dirty="0">
                <a:solidFill>
                  <a:srgbClr val="2E6B9E"/>
                </a:solidFill>
              </a:rPr>
              <a:t>292</a:t>
            </a:r>
            <a:endParaRPr lang="en-US" sz="1400" dirty="0"/>
          </a:p>
        </p:txBody>
      </p:sp>
      <p:sp>
        <p:nvSpPr>
          <p:cNvPr id="28" name="Text 26"/>
          <p:cNvSpPr/>
          <p:nvPr/>
        </p:nvSpPr>
        <p:spPr>
          <a:xfrm>
            <a:off x="3291840"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generic products</a:t>
            </a:r>
            <a:endParaRPr lang="en-US" sz="800" dirty="0"/>
          </a:p>
        </p:txBody>
      </p:sp>
      <p:sp>
        <p:nvSpPr>
          <p:cNvPr id="29" name="Shape 27"/>
          <p:cNvSpPr/>
          <p:nvPr/>
        </p:nvSpPr>
        <p:spPr>
          <a:xfrm>
            <a:off x="4187952"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30" name="Text 28"/>
          <p:cNvSpPr/>
          <p:nvPr/>
        </p:nvSpPr>
        <p:spPr>
          <a:xfrm>
            <a:off x="4187952" y="3081528"/>
            <a:ext cx="822960" cy="347472"/>
          </a:xfrm>
          <a:prstGeom prst="rect">
            <a:avLst/>
          </a:prstGeom>
          <a:noFill/>
          <a:ln/>
        </p:spPr>
        <p:txBody>
          <a:bodyPr wrap="square" lIns="0" tIns="0" rIns="0" bIns="0" rtlCol="0" anchor="ctr"/>
          <a:lstStyle/>
          <a:p>
            <a:pPr marL="0" indent="0" algn="ctr">
              <a:buNone/>
            </a:pPr>
            <a:r>
              <a:rPr lang="en-US" sz="1400" b="1" dirty="0">
                <a:solidFill>
                  <a:srgbClr val="2E6B9E"/>
                </a:solidFill>
              </a:rPr>
              <a:t>73</a:t>
            </a:r>
            <a:endParaRPr lang="en-US" sz="1400" dirty="0"/>
          </a:p>
        </p:txBody>
      </p:sp>
      <p:sp>
        <p:nvSpPr>
          <p:cNvPr id="31" name="Text 29"/>
          <p:cNvSpPr/>
          <p:nvPr/>
        </p:nvSpPr>
        <p:spPr>
          <a:xfrm>
            <a:off x="4187952"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monthly obs.</a:t>
            </a:r>
            <a:endParaRPr lang="en-US" sz="800" dirty="0"/>
          </a:p>
        </p:txBody>
      </p:sp>
      <p:sp>
        <p:nvSpPr>
          <p:cNvPr id="32" name="Shape 30"/>
          <p:cNvSpPr/>
          <p:nvPr/>
        </p:nvSpPr>
        <p:spPr>
          <a:xfrm>
            <a:off x="5084064"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33" name="Text 31"/>
          <p:cNvSpPr/>
          <p:nvPr/>
        </p:nvSpPr>
        <p:spPr>
          <a:xfrm>
            <a:off x="5084064" y="3081528"/>
            <a:ext cx="822960" cy="347472"/>
          </a:xfrm>
          <a:prstGeom prst="rect">
            <a:avLst/>
          </a:prstGeom>
          <a:noFill/>
          <a:ln/>
        </p:spPr>
        <p:txBody>
          <a:bodyPr wrap="square" lIns="0" tIns="0" rIns="0" bIns="0" rtlCol="0" anchor="ctr"/>
          <a:lstStyle/>
          <a:p>
            <a:pPr marL="0" indent="0" algn="ctr">
              <a:buNone/>
            </a:pPr>
            <a:r>
              <a:rPr lang="en-US" sz="1400" b="1" dirty="0">
                <a:solidFill>
                  <a:srgbClr val="2E6B9E"/>
                </a:solidFill>
              </a:rPr>
              <a:t>7.99%</a:t>
            </a:r>
            <a:endParaRPr lang="en-US" sz="1400" dirty="0"/>
          </a:p>
        </p:txBody>
      </p:sp>
      <p:sp>
        <p:nvSpPr>
          <p:cNvPr id="34" name="Text 32"/>
          <p:cNvSpPr/>
          <p:nvPr/>
        </p:nvSpPr>
        <p:spPr>
          <a:xfrm>
            <a:off x="5084064"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peak 2022</a:t>
            </a:r>
            <a:endParaRPr lang="en-US" sz="800" dirty="0"/>
          </a:p>
        </p:txBody>
      </p:sp>
      <p:sp>
        <p:nvSpPr>
          <p:cNvPr id="35" name="Shape 33"/>
          <p:cNvSpPr/>
          <p:nvPr/>
        </p:nvSpPr>
        <p:spPr>
          <a:xfrm>
            <a:off x="6089904" y="1188720"/>
            <a:ext cx="2788920" cy="3566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36" name="Shape 34"/>
          <p:cNvSpPr/>
          <p:nvPr/>
        </p:nvSpPr>
        <p:spPr>
          <a:xfrm>
            <a:off x="6089904" y="1188720"/>
            <a:ext cx="2788920" cy="502920"/>
          </a:xfrm>
          <a:prstGeom prst="rect">
            <a:avLst/>
          </a:prstGeom>
          <a:solidFill>
            <a:srgbClr val="006060"/>
          </a:solidFill>
          <a:ln w="12700">
            <a:solidFill>
              <a:srgbClr val="006060"/>
            </a:solidFill>
            <a:prstDash val="solid"/>
          </a:ln>
        </p:spPr>
        <p:txBody>
          <a:bodyPr/>
          <a:lstStyle/>
          <a:p>
            <a:endParaRPr lang="es-MX"/>
          </a:p>
        </p:txBody>
      </p:sp>
      <p:sp>
        <p:nvSpPr>
          <p:cNvPr id="37" name="Text 35"/>
          <p:cNvSpPr/>
          <p:nvPr/>
        </p:nvSpPr>
        <p:spPr>
          <a:xfrm>
            <a:off x="6181344" y="1216152"/>
            <a:ext cx="457200" cy="438912"/>
          </a:xfrm>
          <a:prstGeom prst="rect">
            <a:avLst/>
          </a:prstGeom>
          <a:noFill/>
          <a:ln/>
        </p:spPr>
        <p:txBody>
          <a:bodyPr wrap="square" lIns="0" tIns="0" rIns="0" bIns="0" rtlCol="0" anchor="ctr"/>
          <a:lstStyle/>
          <a:p>
            <a:pPr marL="0" indent="0">
              <a:buNone/>
            </a:pPr>
            <a:r>
              <a:rPr lang="en-US" sz="2200" b="1" dirty="0">
                <a:solidFill>
                  <a:srgbClr val="00BFA5"/>
                </a:solidFill>
                <a:latin typeface="Arial Black" pitchFamily="34" charset="0"/>
                <a:ea typeface="Arial Black" pitchFamily="34" charset="-122"/>
                <a:cs typeface="Arial Black" pitchFamily="34" charset="-120"/>
              </a:rPr>
              <a:t>03</a:t>
            </a:r>
            <a:endParaRPr lang="en-US" sz="2200" dirty="0"/>
          </a:p>
        </p:txBody>
      </p:sp>
      <p:sp>
        <p:nvSpPr>
          <p:cNvPr id="38" name="Text 36"/>
          <p:cNvSpPr/>
          <p:nvPr/>
        </p:nvSpPr>
        <p:spPr>
          <a:xfrm>
            <a:off x="6592824" y="1234440"/>
            <a:ext cx="2194560" cy="438912"/>
          </a:xfrm>
          <a:prstGeom prst="rect">
            <a:avLst/>
          </a:prstGeom>
          <a:noFill/>
          <a:ln/>
        </p:spPr>
        <p:txBody>
          <a:bodyPr wrap="square" lIns="0" tIns="0" rIns="0" bIns="0" rtlCol="0" anchor="ctr"/>
          <a:lstStyle/>
          <a:p>
            <a:pPr marL="0" indent="0">
              <a:buNone/>
            </a:pPr>
            <a:r>
              <a:rPr lang="en-US" sz="1100" b="1" dirty="0">
                <a:solidFill>
                  <a:srgbClr val="FFFFFF"/>
                </a:solidFill>
              </a:rPr>
              <a:t>ENIGH–CCIF Crosswalk</a:t>
            </a:r>
            <a:endParaRPr lang="en-US" sz="1100" dirty="0"/>
          </a:p>
        </p:txBody>
      </p:sp>
      <p:sp>
        <p:nvSpPr>
          <p:cNvPr id="39" name="Text 37"/>
          <p:cNvSpPr/>
          <p:nvPr/>
        </p:nvSpPr>
        <p:spPr>
          <a:xfrm>
            <a:off x="6199632" y="1783080"/>
            <a:ext cx="2578608" cy="320040"/>
          </a:xfrm>
          <a:prstGeom prst="rect">
            <a:avLst/>
          </a:prstGeom>
          <a:noFill/>
          <a:ln/>
        </p:spPr>
        <p:txBody>
          <a:bodyPr wrap="square" lIns="0" tIns="0" rIns="0" bIns="0" rtlCol="0" anchor="ctr"/>
          <a:lstStyle/>
          <a:p>
            <a:pPr marL="0" indent="0">
              <a:buNone/>
            </a:pPr>
            <a:r>
              <a:rPr lang="en-US" sz="1000" i="1" dirty="0">
                <a:solidFill>
                  <a:srgbClr val="546E7A"/>
                </a:solidFill>
              </a:rPr>
              <a:t>Bridge between spending codes and CPI divisions</a:t>
            </a:r>
            <a:endParaRPr lang="en-US" sz="1000" dirty="0"/>
          </a:p>
        </p:txBody>
      </p:sp>
      <p:sp>
        <p:nvSpPr>
          <p:cNvPr id="40" name="Text 38"/>
          <p:cNvSpPr/>
          <p:nvPr/>
        </p:nvSpPr>
        <p:spPr>
          <a:xfrm>
            <a:off x="6199632" y="2148840"/>
            <a:ext cx="2578608" cy="822960"/>
          </a:xfrm>
          <a:prstGeom prst="rect">
            <a:avLst/>
          </a:prstGeom>
          <a:noFill/>
          <a:ln/>
        </p:spPr>
        <p:txBody>
          <a:bodyPr wrap="square" lIns="0" tIns="0" rIns="0" bIns="0" rtlCol="0" anchor="ctr"/>
          <a:lstStyle/>
          <a:p>
            <a:pPr marL="0" indent="0">
              <a:buNone/>
            </a:pPr>
            <a:r>
              <a:rPr lang="en-US" sz="1050" dirty="0">
                <a:solidFill>
                  <a:srgbClr val="263238"/>
                </a:solidFill>
              </a:rPr>
              <a:t>383 automated mappings + 74 manual reviews across 5 rounds. Achieves 90.4% expenditure coverage.</a:t>
            </a:r>
            <a:endParaRPr lang="en-US" sz="1050" dirty="0"/>
          </a:p>
        </p:txBody>
      </p:sp>
      <p:sp>
        <p:nvSpPr>
          <p:cNvPr id="41" name="Shape 39"/>
          <p:cNvSpPr/>
          <p:nvPr/>
        </p:nvSpPr>
        <p:spPr>
          <a:xfrm>
            <a:off x="6199632"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42" name="Text 40"/>
          <p:cNvSpPr/>
          <p:nvPr/>
        </p:nvSpPr>
        <p:spPr>
          <a:xfrm>
            <a:off x="6199632" y="3081528"/>
            <a:ext cx="822960" cy="347472"/>
          </a:xfrm>
          <a:prstGeom prst="rect">
            <a:avLst/>
          </a:prstGeom>
          <a:noFill/>
          <a:ln/>
        </p:spPr>
        <p:txBody>
          <a:bodyPr wrap="square" lIns="0" tIns="0" rIns="0" bIns="0" rtlCol="0" anchor="ctr"/>
          <a:lstStyle/>
          <a:p>
            <a:pPr marL="0" indent="0" algn="ctr">
              <a:buNone/>
            </a:pPr>
            <a:r>
              <a:rPr lang="en-US" sz="1400" b="1" dirty="0">
                <a:solidFill>
                  <a:srgbClr val="006060"/>
                </a:solidFill>
              </a:rPr>
              <a:t>457</a:t>
            </a:r>
            <a:endParaRPr lang="en-US" sz="1400" dirty="0"/>
          </a:p>
        </p:txBody>
      </p:sp>
      <p:sp>
        <p:nvSpPr>
          <p:cNvPr id="43" name="Text 41"/>
          <p:cNvSpPr/>
          <p:nvPr/>
        </p:nvSpPr>
        <p:spPr>
          <a:xfrm>
            <a:off x="6199632"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codes mapped</a:t>
            </a:r>
            <a:endParaRPr lang="en-US" sz="800" dirty="0"/>
          </a:p>
        </p:txBody>
      </p:sp>
      <p:sp>
        <p:nvSpPr>
          <p:cNvPr id="44" name="Shape 42"/>
          <p:cNvSpPr/>
          <p:nvPr/>
        </p:nvSpPr>
        <p:spPr>
          <a:xfrm>
            <a:off x="7095744"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45" name="Text 43"/>
          <p:cNvSpPr/>
          <p:nvPr/>
        </p:nvSpPr>
        <p:spPr>
          <a:xfrm>
            <a:off x="7095744" y="3081528"/>
            <a:ext cx="822960" cy="347472"/>
          </a:xfrm>
          <a:prstGeom prst="rect">
            <a:avLst/>
          </a:prstGeom>
          <a:noFill/>
          <a:ln/>
        </p:spPr>
        <p:txBody>
          <a:bodyPr wrap="square" lIns="0" tIns="0" rIns="0" bIns="0" rtlCol="0" anchor="ctr"/>
          <a:lstStyle/>
          <a:p>
            <a:pPr marL="0" indent="0" algn="ctr">
              <a:buNone/>
            </a:pPr>
            <a:r>
              <a:rPr lang="en-US" sz="1400" b="1" dirty="0">
                <a:solidFill>
                  <a:srgbClr val="006060"/>
                </a:solidFill>
              </a:rPr>
              <a:t>90.4%</a:t>
            </a:r>
            <a:endParaRPr lang="en-US" sz="1400" dirty="0"/>
          </a:p>
        </p:txBody>
      </p:sp>
      <p:sp>
        <p:nvSpPr>
          <p:cNvPr id="46" name="Text 44"/>
          <p:cNvSpPr/>
          <p:nvPr/>
        </p:nvSpPr>
        <p:spPr>
          <a:xfrm>
            <a:off x="7095744"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coverage</a:t>
            </a:r>
            <a:endParaRPr lang="en-US" sz="800" dirty="0"/>
          </a:p>
        </p:txBody>
      </p:sp>
      <p:sp>
        <p:nvSpPr>
          <p:cNvPr id="47" name="Shape 45"/>
          <p:cNvSpPr/>
          <p:nvPr/>
        </p:nvSpPr>
        <p:spPr>
          <a:xfrm>
            <a:off x="7991856" y="3063240"/>
            <a:ext cx="822960" cy="685800"/>
          </a:xfrm>
          <a:prstGeom prst="rect">
            <a:avLst/>
          </a:prstGeom>
          <a:solidFill>
            <a:srgbClr val="EEF3FA"/>
          </a:solidFill>
          <a:ln w="12700">
            <a:solidFill>
              <a:srgbClr val="D0D8E8"/>
            </a:solidFill>
            <a:prstDash val="solid"/>
          </a:ln>
        </p:spPr>
        <p:txBody>
          <a:bodyPr/>
          <a:lstStyle/>
          <a:p>
            <a:endParaRPr lang="es-MX"/>
          </a:p>
        </p:txBody>
      </p:sp>
      <p:sp>
        <p:nvSpPr>
          <p:cNvPr id="48" name="Text 46"/>
          <p:cNvSpPr/>
          <p:nvPr/>
        </p:nvSpPr>
        <p:spPr>
          <a:xfrm>
            <a:off x="7991856" y="3081528"/>
            <a:ext cx="822960" cy="347472"/>
          </a:xfrm>
          <a:prstGeom prst="rect">
            <a:avLst/>
          </a:prstGeom>
          <a:noFill/>
          <a:ln/>
        </p:spPr>
        <p:txBody>
          <a:bodyPr wrap="square" lIns="0" tIns="0" rIns="0" bIns="0" rtlCol="0" anchor="ctr"/>
          <a:lstStyle/>
          <a:p>
            <a:pPr marL="0" indent="0" algn="ctr">
              <a:buNone/>
            </a:pPr>
            <a:r>
              <a:rPr lang="en-US" sz="1400" b="1" dirty="0">
                <a:solidFill>
                  <a:srgbClr val="006060"/>
                </a:solidFill>
              </a:rPr>
              <a:t>12</a:t>
            </a:r>
            <a:endParaRPr lang="en-US" sz="1400" dirty="0"/>
          </a:p>
        </p:txBody>
      </p:sp>
      <p:sp>
        <p:nvSpPr>
          <p:cNvPr id="49" name="Text 47"/>
          <p:cNvSpPr/>
          <p:nvPr/>
        </p:nvSpPr>
        <p:spPr>
          <a:xfrm>
            <a:off x="7991856" y="3410712"/>
            <a:ext cx="822960" cy="256032"/>
          </a:xfrm>
          <a:prstGeom prst="rect">
            <a:avLst/>
          </a:prstGeom>
          <a:noFill/>
          <a:ln/>
        </p:spPr>
        <p:txBody>
          <a:bodyPr wrap="square" lIns="0" tIns="0" rIns="0" bIns="0" rtlCol="0" anchor="ctr"/>
          <a:lstStyle/>
          <a:p>
            <a:pPr marL="0" indent="0" algn="ctr">
              <a:buNone/>
            </a:pPr>
            <a:r>
              <a:rPr lang="en-US" sz="800" dirty="0">
                <a:solidFill>
                  <a:srgbClr val="546E7A"/>
                </a:solidFill>
              </a:rPr>
              <a:t>CPI divisions</a:t>
            </a:r>
            <a:endParaRPr lang="en-US" sz="800" dirty="0"/>
          </a:p>
        </p:txBody>
      </p:sp>
      <p:sp>
        <p:nvSpPr>
          <p:cNvPr id="50" name="Shape 48"/>
          <p:cNvSpPr/>
          <p:nvPr/>
        </p:nvSpPr>
        <p:spPr>
          <a:xfrm>
            <a:off x="274320" y="4572000"/>
            <a:ext cx="8595360" cy="411480"/>
          </a:xfrm>
          <a:prstGeom prst="rect">
            <a:avLst/>
          </a:prstGeom>
          <a:solidFill>
            <a:srgbClr val="E8F4F8"/>
          </a:solidFill>
          <a:ln w="12700">
            <a:solidFill>
              <a:srgbClr val="B0D4E8"/>
            </a:solidFill>
            <a:prstDash val="solid"/>
          </a:ln>
        </p:spPr>
        <p:txBody>
          <a:bodyPr/>
          <a:lstStyle/>
          <a:p>
            <a:endParaRPr lang="es-MX"/>
          </a:p>
        </p:txBody>
      </p:sp>
      <p:sp>
        <p:nvSpPr>
          <p:cNvPr id="51" name="Text 49"/>
          <p:cNvSpPr/>
          <p:nvPr/>
        </p:nvSpPr>
        <p:spPr>
          <a:xfrm>
            <a:off x="457200" y="4617720"/>
            <a:ext cx="8321040" cy="320040"/>
          </a:xfrm>
          <a:prstGeom prst="rect">
            <a:avLst/>
          </a:prstGeom>
          <a:noFill/>
          <a:ln/>
        </p:spPr>
        <p:txBody>
          <a:bodyPr wrap="square" lIns="0" tIns="0" rIns="0" bIns="0" rtlCol="0" anchor="ctr"/>
          <a:lstStyle/>
          <a:p>
            <a:pPr marL="0" indent="0">
              <a:buNone/>
            </a:pPr>
            <a:r>
              <a:rPr lang="en-US" sz="1050" dirty="0">
                <a:solidFill>
                  <a:srgbClr val="0D3380"/>
                </a:solidFill>
              </a:rPr>
              <a:t>✓  Both G-CPI expenditure weights AND the official CPI 2024 update use ENIGH 2022 — guaranteeing methodological coherence.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FA5"/>
          </a:solidFill>
          <a:ln w="12700">
            <a:solidFill>
              <a:srgbClr val="00BFA5"/>
            </a:solidFill>
            <a:prstDash val="solid"/>
          </a:ln>
        </p:spPr>
        <p:txBody>
          <a:bodyPr/>
          <a:lstStyle/>
          <a:p>
            <a:endParaRPr lang="es-MX"/>
          </a:p>
        </p:txBody>
      </p:sp>
      <p:sp>
        <p:nvSpPr>
          <p:cNvPr id="3" name="Text 1"/>
          <p:cNvSpPr/>
          <p:nvPr/>
        </p:nvSpPr>
        <p:spPr>
          <a:xfrm>
            <a:off x="320040" y="256032"/>
            <a:ext cx="3657600" cy="274320"/>
          </a:xfrm>
          <a:prstGeom prst="rect">
            <a:avLst/>
          </a:prstGeom>
          <a:noFill/>
          <a:ln/>
        </p:spPr>
        <p:txBody>
          <a:bodyPr wrap="square" lIns="0" tIns="0" rIns="0" bIns="0" rtlCol="0" anchor="ctr"/>
          <a:lstStyle/>
          <a:p>
            <a:pPr marL="0" indent="0">
              <a:buNone/>
            </a:pPr>
            <a:r>
              <a:rPr lang="en-US" sz="1000" b="1" kern="0" spc="400" dirty="0">
                <a:solidFill>
                  <a:srgbClr val="00BFA5"/>
                </a:solidFill>
              </a:rPr>
              <a:t>METHODOLOGY</a:t>
            </a:r>
            <a:endParaRPr lang="en-US" sz="1000" dirty="0"/>
          </a:p>
        </p:txBody>
      </p:sp>
      <p:sp>
        <p:nvSpPr>
          <p:cNvPr id="4" name="Text 2"/>
          <p:cNvSpPr/>
          <p:nvPr/>
        </p:nvSpPr>
        <p:spPr>
          <a:xfrm>
            <a:off x="320040" y="54864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G-CPI Formula</a:t>
            </a:r>
            <a:endParaRPr lang="en-US" sz="3000" dirty="0"/>
          </a:p>
        </p:txBody>
      </p:sp>
      <p:sp>
        <p:nvSpPr>
          <p:cNvPr id="5" name="Shape 3"/>
          <p:cNvSpPr/>
          <p:nvPr/>
        </p:nvSpPr>
        <p:spPr>
          <a:xfrm>
            <a:off x="457200" y="1234440"/>
            <a:ext cx="8229600" cy="777240"/>
          </a:xfrm>
          <a:prstGeom prst="rect">
            <a:avLst/>
          </a:prstGeom>
          <a:solidFill>
            <a:srgbClr val="112244"/>
          </a:solidFill>
          <a:ln w="12700">
            <a:solidFill>
              <a:srgbClr val="00BFA5"/>
            </a:solidFill>
            <a:prstDash val="solid"/>
          </a:ln>
        </p:spPr>
        <p:txBody>
          <a:bodyPr/>
          <a:lstStyle/>
          <a:p>
            <a:endParaRPr lang="es-MX"/>
          </a:p>
        </p:txBody>
      </p:sp>
      <p:sp>
        <p:nvSpPr>
          <p:cNvPr id="6" name="Text 4"/>
          <p:cNvSpPr/>
          <p:nvPr/>
        </p:nvSpPr>
        <p:spPr>
          <a:xfrm>
            <a:off x="457200" y="1234440"/>
            <a:ext cx="8229600" cy="777240"/>
          </a:xfrm>
          <a:prstGeom prst="rect">
            <a:avLst/>
          </a:prstGeom>
          <a:noFill/>
          <a:ln/>
        </p:spPr>
        <p:txBody>
          <a:bodyPr wrap="square" lIns="0" tIns="0" rIns="0" bIns="0" rtlCol="0" anchor="ctr"/>
          <a:lstStyle/>
          <a:p>
            <a:pPr marL="0" indent="0" algn="ctr">
              <a:buNone/>
            </a:pPr>
            <a:r>
              <a:rPr lang="en-US" sz="2200" b="1" dirty="0">
                <a:solidFill>
                  <a:srgbClr val="00BFA5"/>
                </a:solidFill>
                <a:latin typeface="Courier New" pitchFamily="34" charset="0"/>
                <a:ea typeface="Courier New" pitchFamily="34" charset="-122"/>
                <a:cs typeface="Courier New" pitchFamily="34" charset="-120"/>
              </a:rPr>
              <a:t>G-CPI(g,t)  =  Σ  w(g,d)  ×  I(d,t) / I(d,0)</a:t>
            </a:r>
            <a:endParaRPr lang="en-US" sz="2200" dirty="0"/>
          </a:p>
        </p:txBody>
      </p:sp>
      <p:sp>
        <p:nvSpPr>
          <p:cNvPr id="7" name="Text 5"/>
          <p:cNvSpPr/>
          <p:nvPr/>
        </p:nvSpPr>
        <p:spPr>
          <a:xfrm>
            <a:off x="457200" y="2057400"/>
            <a:ext cx="8229600" cy="274320"/>
          </a:xfrm>
          <a:prstGeom prst="rect">
            <a:avLst/>
          </a:prstGeom>
          <a:noFill/>
          <a:ln/>
        </p:spPr>
        <p:txBody>
          <a:bodyPr wrap="square" lIns="0" tIns="0" rIns="0" bIns="0" rtlCol="0" anchor="ctr"/>
          <a:lstStyle/>
          <a:p>
            <a:pPr marL="0" indent="0" algn="ctr">
              <a:buNone/>
            </a:pPr>
            <a:r>
              <a:rPr lang="en-US" sz="1000" dirty="0">
                <a:solidFill>
                  <a:srgbClr val="90A4AE"/>
                </a:solidFill>
              </a:rPr>
              <a:t>g = group  |  d = CCIF division  |  t = month  |  0 = base period (2nd fortnight July 2018)</a:t>
            </a:r>
            <a:endParaRPr lang="en-US" sz="1000" dirty="0"/>
          </a:p>
        </p:txBody>
      </p:sp>
      <p:sp>
        <p:nvSpPr>
          <p:cNvPr id="8" name="Shape 6"/>
          <p:cNvSpPr/>
          <p:nvPr/>
        </p:nvSpPr>
        <p:spPr>
          <a:xfrm>
            <a:off x="320040" y="2468880"/>
            <a:ext cx="2011680" cy="2331720"/>
          </a:xfrm>
          <a:prstGeom prst="rect">
            <a:avLst/>
          </a:prstGeom>
          <a:solidFill>
            <a:srgbClr val="112244"/>
          </a:solidFill>
          <a:ln w="12700">
            <a:solidFill>
              <a:srgbClr val="0D3380"/>
            </a:solidFill>
            <a:prstDash val="solid"/>
          </a:ln>
          <a:effectLst>
            <a:outerShdw blurRad="101600" dist="38100" dir="8100000" algn="bl" rotWithShape="0">
              <a:srgbClr val="000000">
                <a:alpha val="12000"/>
              </a:srgbClr>
            </a:outerShdw>
          </a:effectLst>
        </p:spPr>
        <p:txBody>
          <a:bodyPr/>
          <a:lstStyle/>
          <a:p>
            <a:endParaRPr lang="es-MX"/>
          </a:p>
        </p:txBody>
      </p:sp>
      <p:sp>
        <p:nvSpPr>
          <p:cNvPr id="9" name="Shape 7"/>
          <p:cNvSpPr/>
          <p:nvPr/>
        </p:nvSpPr>
        <p:spPr>
          <a:xfrm>
            <a:off x="320040" y="2468880"/>
            <a:ext cx="2011680" cy="54864"/>
          </a:xfrm>
          <a:prstGeom prst="rect">
            <a:avLst/>
          </a:prstGeom>
          <a:solidFill>
            <a:srgbClr val="0D3380"/>
          </a:solidFill>
          <a:ln w="12700">
            <a:solidFill>
              <a:srgbClr val="0D3380"/>
            </a:solidFill>
            <a:prstDash val="solid"/>
          </a:ln>
        </p:spPr>
        <p:txBody>
          <a:bodyPr/>
          <a:lstStyle/>
          <a:p>
            <a:endParaRPr lang="es-MX"/>
          </a:p>
        </p:txBody>
      </p:sp>
      <p:sp>
        <p:nvSpPr>
          <p:cNvPr id="10" name="Shape 8"/>
          <p:cNvSpPr/>
          <p:nvPr/>
        </p:nvSpPr>
        <p:spPr>
          <a:xfrm>
            <a:off x="987552" y="2578608"/>
            <a:ext cx="658368" cy="658368"/>
          </a:xfrm>
          <a:prstGeom prst="ellipse">
            <a:avLst/>
          </a:prstGeom>
          <a:solidFill>
            <a:srgbClr val="0D3380"/>
          </a:solidFill>
          <a:ln w="12700">
            <a:solidFill>
              <a:srgbClr val="0D3380"/>
            </a:solidFill>
            <a:prstDash val="solid"/>
          </a:ln>
        </p:spPr>
        <p:txBody>
          <a:bodyPr/>
          <a:lstStyle/>
          <a:p>
            <a:endParaRPr lang="es-MX"/>
          </a:p>
        </p:txBody>
      </p:sp>
      <p:sp>
        <p:nvSpPr>
          <p:cNvPr id="11" name="Text 9"/>
          <p:cNvSpPr/>
          <p:nvPr/>
        </p:nvSpPr>
        <p:spPr>
          <a:xfrm>
            <a:off x="987552" y="2578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12" name="Text 10"/>
          <p:cNvSpPr/>
          <p:nvPr/>
        </p:nvSpPr>
        <p:spPr>
          <a:xfrm>
            <a:off x="411480" y="3337560"/>
            <a:ext cx="1828800" cy="347472"/>
          </a:xfrm>
          <a:prstGeom prst="rect">
            <a:avLst/>
          </a:prstGeom>
          <a:noFill/>
          <a:ln/>
        </p:spPr>
        <p:txBody>
          <a:bodyPr wrap="square" lIns="0" tIns="0" rIns="0" bIns="0" rtlCol="0" anchor="ctr"/>
          <a:lstStyle/>
          <a:p>
            <a:pPr marL="0" indent="0" algn="ctr">
              <a:buNone/>
            </a:pPr>
            <a:r>
              <a:rPr lang="en-US" sz="1400" b="1" dirty="0">
                <a:solidFill>
                  <a:srgbClr val="00BFA5"/>
                </a:solidFill>
              </a:rPr>
              <a:t>Classify</a:t>
            </a:r>
            <a:endParaRPr lang="en-US" sz="1400" dirty="0"/>
          </a:p>
        </p:txBody>
      </p:sp>
      <p:sp>
        <p:nvSpPr>
          <p:cNvPr id="13" name="Text 11"/>
          <p:cNvSpPr/>
          <p:nvPr/>
        </p:nvSpPr>
        <p:spPr>
          <a:xfrm>
            <a:off x="411480" y="3703320"/>
            <a:ext cx="1828800" cy="868680"/>
          </a:xfrm>
          <a:prstGeom prst="rect">
            <a:avLst/>
          </a:prstGeom>
          <a:noFill/>
          <a:ln/>
        </p:spPr>
        <p:txBody>
          <a:bodyPr wrap="square" lIns="0" tIns="0" rIns="0" bIns="0" rtlCol="0" anchor="ctr"/>
          <a:lstStyle/>
          <a:p>
            <a:pPr marL="0" indent="0" algn="ctr">
              <a:buNone/>
            </a:pPr>
            <a:r>
              <a:rPr lang="en-US" sz="1050" dirty="0">
                <a:solidFill>
                  <a:srgbClr val="B0BEC5"/>
                </a:solidFill>
              </a:rPr>
              <a:t>ENIGH variable:</a:t>
            </a:r>
            <a:endParaRPr lang="en-US" sz="1050" dirty="0"/>
          </a:p>
          <a:p>
            <a:pPr marL="0" indent="0" algn="ctr">
              <a:buNone/>
            </a:pPr>
            <a:r>
              <a:rPr lang="en-US" sz="1050" dirty="0">
                <a:solidFill>
                  <a:srgbClr val="B0BEC5"/>
                </a:solidFill>
              </a:rPr>
              <a:t>sex of head × partner</a:t>
            </a:r>
            <a:endParaRPr lang="en-US" sz="1050" dirty="0"/>
          </a:p>
          <a:p>
            <a:pPr marL="0" indent="0" algn="ctr">
              <a:buNone/>
            </a:pPr>
            <a:r>
              <a:rPr lang="en-US" sz="1050" dirty="0">
                <a:solidFill>
                  <a:srgbClr val="B0BEC5"/>
                </a:solidFill>
              </a:rPr>
              <a:t>→ 4 groups</a:t>
            </a:r>
            <a:endParaRPr lang="en-US" sz="1050" dirty="0"/>
          </a:p>
        </p:txBody>
      </p:sp>
      <p:sp>
        <p:nvSpPr>
          <p:cNvPr id="14" name="Shape 12"/>
          <p:cNvSpPr/>
          <p:nvPr/>
        </p:nvSpPr>
        <p:spPr>
          <a:xfrm>
            <a:off x="2496312" y="2468880"/>
            <a:ext cx="2011680" cy="2331720"/>
          </a:xfrm>
          <a:prstGeom prst="rect">
            <a:avLst/>
          </a:prstGeom>
          <a:solidFill>
            <a:srgbClr val="112244"/>
          </a:solidFill>
          <a:ln w="12700">
            <a:solidFill>
              <a:srgbClr val="2E6B9E"/>
            </a:solidFill>
            <a:prstDash val="solid"/>
          </a:ln>
          <a:effectLst>
            <a:outerShdw blurRad="101600" dist="38100" dir="8100000" algn="bl" rotWithShape="0">
              <a:srgbClr val="000000">
                <a:alpha val="12000"/>
              </a:srgbClr>
            </a:outerShdw>
          </a:effectLst>
        </p:spPr>
        <p:txBody>
          <a:bodyPr/>
          <a:lstStyle/>
          <a:p>
            <a:endParaRPr lang="es-MX"/>
          </a:p>
        </p:txBody>
      </p:sp>
      <p:sp>
        <p:nvSpPr>
          <p:cNvPr id="15" name="Shape 13"/>
          <p:cNvSpPr/>
          <p:nvPr/>
        </p:nvSpPr>
        <p:spPr>
          <a:xfrm>
            <a:off x="2496312" y="2468880"/>
            <a:ext cx="2011680" cy="54864"/>
          </a:xfrm>
          <a:prstGeom prst="rect">
            <a:avLst/>
          </a:prstGeom>
          <a:solidFill>
            <a:srgbClr val="2E6B9E"/>
          </a:solidFill>
          <a:ln w="12700">
            <a:solidFill>
              <a:srgbClr val="2E6B9E"/>
            </a:solidFill>
            <a:prstDash val="solid"/>
          </a:ln>
        </p:spPr>
        <p:txBody>
          <a:bodyPr/>
          <a:lstStyle/>
          <a:p>
            <a:endParaRPr lang="es-MX"/>
          </a:p>
        </p:txBody>
      </p:sp>
      <p:sp>
        <p:nvSpPr>
          <p:cNvPr id="16" name="Shape 14"/>
          <p:cNvSpPr/>
          <p:nvPr/>
        </p:nvSpPr>
        <p:spPr>
          <a:xfrm>
            <a:off x="3163824" y="2578608"/>
            <a:ext cx="658368" cy="658368"/>
          </a:xfrm>
          <a:prstGeom prst="ellipse">
            <a:avLst/>
          </a:prstGeom>
          <a:solidFill>
            <a:srgbClr val="2E6B9E"/>
          </a:solidFill>
          <a:ln w="12700">
            <a:solidFill>
              <a:srgbClr val="2E6B9E"/>
            </a:solidFill>
            <a:prstDash val="solid"/>
          </a:ln>
        </p:spPr>
        <p:txBody>
          <a:bodyPr/>
          <a:lstStyle/>
          <a:p>
            <a:endParaRPr lang="es-MX"/>
          </a:p>
        </p:txBody>
      </p:sp>
      <p:sp>
        <p:nvSpPr>
          <p:cNvPr id="17" name="Text 15"/>
          <p:cNvSpPr/>
          <p:nvPr/>
        </p:nvSpPr>
        <p:spPr>
          <a:xfrm>
            <a:off x="3163824" y="2578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8" name="Text 16"/>
          <p:cNvSpPr/>
          <p:nvPr/>
        </p:nvSpPr>
        <p:spPr>
          <a:xfrm>
            <a:off x="2587752" y="3337560"/>
            <a:ext cx="1828800" cy="347472"/>
          </a:xfrm>
          <a:prstGeom prst="rect">
            <a:avLst/>
          </a:prstGeom>
          <a:noFill/>
          <a:ln/>
        </p:spPr>
        <p:txBody>
          <a:bodyPr wrap="square" lIns="0" tIns="0" rIns="0" bIns="0" rtlCol="0" anchor="ctr"/>
          <a:lstStyle/>
          <a:p>
            <a:pPr marL="0" indent="0" algn="ctr">
              <a:buNone/>
            </a:pPr>
            <a:r>
              <a:rPr lang="en-US" sz="1400" b="1" dirty="0">
                <a:solidFill>
                  <a:srgbClr val="00BFA5"/>
                </a:solidFill>
              </a:rPr>
              <a:t>Weigh</a:t>
            </a:r>
            <a:endParaRPr lang="en-US" sz="1400" dirty="0"/>
          </a:p>
        </p:txBody>
      </p:sp>
      <p:sp>
        <p:nvSpPr>
          <p:cNvPr id="19" name="Text 17"/>
          <p:cNvSpPr/>
          <p:nvPr/>
        </p:nvSpPr>
        <p:spPr>
          <a:xfrm>
            <a:off x="2587752" y="3703320"/>
            <a:ext cx="1828800" cy="868680"/>
          </a:xfrm>
          <a:prstGeom prst="rect">
            <a:avLst/>
          </a:prstGeom>
          <a:noFill/>
          <a:ln/>
        </p:spPr>
        <p:txBody>
          <a:bodyPr wrap="square" lIns="0" tIns="0" rIns="0" bIns="0" rtlCol="0" anchor="ctr"/>
          <a:lstStyle/>
          <a:p>
            <a:pPr marL="0" indent="0" algn="ctr">
              <a:buNone/>
            </a:pPr>
            <a:r>
              <a:rPr lang="en-US" sz="1050" dirty="0">
                <a:solidFill>
                  <a:srgbClr val="B0BEC5"/>
                </a:solidFill>
              </a:rPr>
              <a:t>Real spending share</a:t>
            </a:r>
            <a:endParaRPr lang="en-US" sz="1050" dirty="0"/>
          </a:p>
          <a:p>
            <a:pPr marL="0" indent="0" algn="ctr">
              <a:buNone/>
            </a:pPr>
            <a:r>
              <a:rPr lang="en-US" sz="1050" dirty="0">
                <a:solidFill>
                  <a:srgbClr val="B0BEC5"/>
                </a:solidFill>
              </a:rPr>
              <a:t>per group &amp; division</a:t>
            </a:r>
            <a:endParaRPr lang="en-US" sz="1050" dirty="0"/>
          </a:p>
          <a:p>
            <a:pPr marL="0" indent="0" algn="ctr">
              <a:buNone/>
            </a:pPr>
            <a:r>
              <a:rPr lang="en-US" sz="1050" dirty="0">
                <a:solidFill>
                  <a:srgbClr val="B0BEC5"/>
                </a:solidFill>
              </a:rPr>
              <a:t>(50,968 households)</a:t>
            </a:r>
            <a:endParaRPr lang="en-US" sz="1050" dirty="0"/>
          </a:p>
        </p:txBody>
      </p:sp>
      <p:sp>
        <p:nvSpPr>
          <p:cNvPr id="20" name="Shape 18"/>
          <p:cNvSpPr/>
          <p:nvPr/>
        </p:nvSpPr>
        <p:spPr>
          <a:xfrm>
            <a:off x="4672584" y="2468880"/>
            <a:ext cx="2011680" cy="2331720"/>
          </a:xfrm>
          <a:prstGeom prst="rect">
            <a:avLst/>
          </a:prstGeom>
          <a:solidFill>
            <a:srgbClr val="112244"/>
          </a:solidFill>
          <a:ln w="12700">
            <a:solidFill>
              <a:srgbClr val="006060"/>
            </a:solidFill>
            <a:prstDash val="solid"/>
          </a:ln>
          <a:effectLst>
            <a:outerShdw blurRad="101600" dist="38100" dir="8100000" algn="bl" rotWithShape="0">
              <a:srgbClr val="000000">
                <a:alpha val="12000"/>
              </a:srgbClr>
            </a:outerShdw>
          </a:effectLst>
        </p:spPr>
        <p:txBody>
          <a:bodyPr/>
          <a:lstStyle/>
          <a:p>
            <a:endParaRPr lang="es-MX"/>
          </a:p>
        </p:txBody>
      </p:sp>
      <p:sp>
        <p:nvSpPr>
          <p:cNvPr id="21" name="Shape 19"/>
          <p:cNvSpPr/>
          <p:nvPr/>
        </p:nvSpPr>
        <p:spPr>
          <a:xfrm>
            <a:off x="4672584" y="2468880"/>
            <a:ext cx="2011680" cy="54864"/>
          </a:xfrm>
          <a:prstGeom prst="rect">
            <a:avLst/>
          </a:prstGeom>
          <a:solidFill>
            <a:srgbClr val="006060"/>
          </a:solidFill>
          <a:ln w="12700">
            <a:solidFill>
              <a:srgbClr val="006060"/>
            </a:solidFill>
            <a:prstDash val="solid"/>
          </a:ln>
        </p:spPr>
        <p:txBody>
          <a:bodyPr/>
          <a:lstStyle/>
          <a:p>
            <a:endParaRPr lang="es-MX"/>
          </a:p>
        </p:txBody>
      </p:sp>
      <p:sp>
        <p:nvSpPr>
          <p:cNvPr id="22" name="Shape 20"/>
          <p:cNvSpPr/>
          <p:nvPr/>
        </p:nvSpPr>
        <p:spPr>
          <a:xfrm>
            <a:off x="5340096" y="2578608"/>
            <a:ext cx="658368" cy="658368"/>
          </a:xfrm>
          <a:prstGeom prst="ellipse">
            <a:avLst/>
          </a:prstGeom>
          <a:solidFill>
            <a:srgbClr val="006060"/>
          </a:solidFill>
          <a:ln w="12700">
            <a:solidFill>
              <a:srgbClr val="006060"/>
            </a:solidFill>
            <a:prstDash val="solid"/>
          </a:ln>
        </p:spPr>
        <p:txBody>
          <a:bodyPr/>
          <a:lstStyle/>
          <a:p>
            <a:endParaRPr lang="es-MX"/>
          </a:p>
        </p:txBody>
      </p:sp>
      <p:sp>
        <p:nvSpPr>
          <p:cNvPr id="23" name="Text 21"/>
          <p:cNvSpPr/>
          <p:nvPr/>
        </p:nvSpPr>
        <p:spPr>
          <a:xfrm>
            <a:off x="5340096" y="2578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24" name="Text 22"/>
          <p:cNvSpPr/>
          <p:nvPr/>
        </p:nvSpPr>
        <p:spPr>
          <a:xfrm>
            <a:off x="4764024" y="3337560"/>
            <a:ext cx="1828800" cy="347472"/>
          </a:xfrm>
          <a:prstGeom prst="rect">
            <a:avLst/>
          </a:prstGeom>
          <a:noFill/>
          <a:ln/>
        </p:spPr>
        <p:txBody>
          <a:bodyPr wrap="square" lIns="0" tIns="0" rIns="0" bIns="0" rtlCol="0" anchor="ctr"/>
          <a:lstStyle/>
          <a:p>
            <a:pPr marL="0" indent="0" algn="ctr">
              <a:buNone/>
            </a:pPr>
            <a:r>
              <a:rPr lang="en-US" sz="1400" b="1" dirty="0">
                <a:solidFill>
                  <a:srgbClr val="00BFA5"/>
                </a:solidFill>
              </a:rPr>
              <a:t>Map</a:t>
            </a:r>
            <a:endParaRPr lang="en-US" sz="1400" dirty="0"/>
          </a:p>
        </p:txBody>
      </p:sp>
      <p:sp>
        <p:nvSpPr>
          <p:cNvPr id="25" name="Text 23"/>
          <p:cNvSpPr/>
          <p:nvPr/>
        </p:nvSpPr>
        <p:spPr>
          <a:xfrm>
            <a:off x="4764024" y="3703320"/>
            <a:ext cx="1828800" cy="868680"/>
          </a:xfrm>
          <a:prstGeom prst="rect">
            <a:avLst/>
          </a:prstGeom>
          <a:noFill/>
          <a:ln/>
        </p:spPr>
        <p:txBody>
          <a:bodyPr wrap="square" lIns="0" tIns="0" rIns="0" bIns="0" rtlCol="0" anchor="ctr"/>
          <a:lstStyle/>
          <a:p>
            <a:pPr marL="0" indent="0" algn="ctr">
              <a:buNone/>
            </a:pPr>
            <a:r>
              <a:rPr lang="en-US" sz="1050" dirty="0">
                <a:solidFill>
                  <a:srgbClr val="B0BEC5"/>
                </a:solidFill>
              </a:rPr>
              <a:t>457 ENIGH codes</a:t>
            </a:r>
            <a:endParaRPr lang="en-US" sz="1050" dirty="0"/>
          </a:p>
          <a:p>
            <a:pPr marL="0" indent="0" algn="ctr">
              <a:buNone/>
            </a:pPr>
            <a:r>
              <a:rPr lang="en-US" sz="1050" dirty="0">
                <a:solidFill>
                  <a:srgbClr val="B0BEC5"/>
                </a:solidFill>
              </a:rPr>
              <a:t>→ 12 CPI divisions</a:t>
            </a:r>
            <a:endParaRPr lang="en-US" sz="1050" dirty="0"/>
          </a:p>
          <a:p>
            <a:pPr marL="0" indent="0" algn="ctr">
              <a:buNone/>
            </a:pPr>
            <a:r>
              <a:rPr lang="en-US" sz="1050" dirty="0">
                <a:solidFill>
                  <a:srgbClr val="B0BEC5"/>
                </a:solidFill>
              </a:rPr>
              <a:t>(90.4% coverage)</a:t>
            </a:r>
            <a:endParaRPr lang="en-US" sz="1050" dirty="0"/>
          </a:p>
        </p:txBody>
      </p:sp>
      <p:sp>
        <p:nvSpPr>
          <p:cNvPr id="26" name="Shape 24"/>
          <p:cNvSpPr/>
          <p:nvPr/>
        </p:nvSpPr>
        <p:spPr>
          <a:xfrm>
            <a:off x="6848856" y="2468880"/>
            <a:ext cx="2011680" cy="2331720"/>
          </a:xfrm>
          <a:prstGeom prst="rect">
            <a:avLst/>
          </a:prstGeom>
          <a:solidFill>
            <a:srgbClr val="112244"/>
          </a:solidFill>
          <a:ln w="12700">
            <a:solidFill>
              <a:srgbClr val="4527A0"/>
            </a:solidFill>
            <a:prstDash val="solid"/>
          </a:ln>
          <a:effectLst>
            <a:outerShdw blurRad="101600" dist="38100" dir="8100000" algn="bl" rotWithShape="0">
              <a:srgbClr val="000000">
                <a:alpha val="12000"/>
              </a:srgbClr>
            </a:outerShdw>
          </a:effectLst>
        </p:spPr>
        <p:txBody>
          <a:bodyPr/>
          <a:lstStyle/>
          <a:p>
            <a:endParaRPr lang="es-MX"/>
          </a:p>
        </p:txBody>
      </p:sp>
      <p:sp>
        <p:nvSpPr>
          <p:cNvPr id="27" name="Shape 25"/>
          <p:cNvSpPr/>
          <p:nvPr/>
        </p:nvSpPr>
        <p:spPr>
          <a:xfrm>
            <a:off x="6848856" y="2468880"/>
            <a:ext cx="2011680" cy="54864"/>
          </a:xfrm>
          <a:prstGeom prst="rect">
            <a:avLst/>
          </a:prstGeom>
          <a:solidFill>
            <a:srgbClr val="4527A0"/>
          </a:solidFill>
          <a:ln w="12700">
            <a:solidFill>
              <a:srgbClr val="4527A0"/>
            </a:solidFill>
            <a:prstDash val="solid"/>
          </a:ln>
        </p:spPr>
        <p:txBody>
          <a:bodyPr/>
          <a:lstStyle/>
          <a:p>
            <a:endParaRPr lang="es-MX"/>
          </a:p>
        </p:txBody>
      </p:sp>
      <p:sp>
        <p:nvSpPr>
          <p:cNvPr id="28" name="Shape 26"/>
          <p:cNvSpPr/>
          <p:nvPr/>
        </p:nvSpPr>
        <p:spPr>
          <a:xfrm>
            <a:off x="7516368" y="2578608"/>
            <a:ext cx="658368" cy="658368"/>
          </a:xfrm>
          <a:prstGeom prst="ellipse">
            <a:avLst/>
          </a:prstGeom>
          <a:solidFill>
            <a:srgbClr val="4527A0"/>
          </a:solidFill>
          <a:ln w="12700">
            <a:solidFill>
              <a:srgbClr val="4527A0"/>
            </a:solidFill>
            <a:prstDash val="solid"/>
          </a:ln>
        </p:spPr>
        <p:txBody>
          <a:bodyPr/>
          <a:lstStyle/>
          <a:p>
            <a:endParaRPr lang="es-MX"/>
          </a:p>
        </p:txBody>
      </p:sp>
      <p:sp>
        <p:nvSpPr>
          <p:cNvPr id="29" name="Text 27"/>
          <p:cNvSpPr/>
          <p:nvPr/>
        </p:nvSpPr>
        <p:spPr>
          <a:xfrm>
            <a:off x="7516368" y="25786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30" name="Text 28"/>
          <p:cNvSpPr/>
          <p:nvPr/>
        </p:nvSpPr>
        <p:spPr>
          <a:xfrm>
            <a:off x="6940296" y="3337560"/>
            <a:ext cx="1828800" cy="347472"/>
          </a:xfrm>
          <a:prstGeom prst="rect">
            <a:avLst/>
          </a:prstGeom>
          <a:noFill/>
          <a:ln/>
        </p:spPr>
        <p:txBody>
          <a:bodyPr wrap="square" lIns="0" tIns="0" rIns="0" bIns="0" rtlCol="0" anchor="ctr"/>
          <a:lstStyle/>
          <a:p>
            <a:pPr marL="0" indent="0" algn="ctr">
              <a:buNone/>
            </a:pPr>
            <a:r>
              <a:rPr lang="en-US" sz="1400" b="1" dirty="0">
                <a:solidFill>
                  <a:srgbClr val="00BFA5"/>
                </a:solidFill>
              </a:rPr>
              <a:t>Compute</a:t>
            </a:r>
            <a:endParaRPr lang="en-US" sz="1400" dirty="0"/>
          </a:p>
        </p:txBody>
      </p:sp>
      <p:sp>
        <p:nvSpPr>
          <p:cNvPr id="31" name="Text 29"/>
          <p:cNvSpPr/>
          <p:nvPr/>
        </p:nvSpPr>
        <p:spPr>
          <a:xfrm>
            <a:off x="6940296" y="3703320"/>
            <a:ext cx="1828800" cy="868680"/>
          </a:xfrm>
          <a:prstGeom prst="rect">
            <a:avLst/>
          </a:prstGeom>
          <a:noFill/>
          <a:ln/>
        </p:spPr>
        <p:txBody>
          <a:bodyPr wrap="square" lIns="0" tIns="0" rIns="0" bIns="0" rtlCol="0" anchor="ctr"/>
          <a:lstStyle/>
          <a:p>
            <a:pPr marL="0" indent="0" algn="ctr">
              <a:buNone/>
            </a:pPr>
            <a:r>
              <a:rPr lang="en-US" sz="1050" dirty="0">
                <a:solidFill>
                  <a:srgbClr val="B0BEC5"/>
                </a:solidFill>
              </a:rPr>
              <a:t>Price ratio × weight</a:t>
            </a:r>
            <a:endParaRPr lang="en-US" sz="1050" dirty="0"/>
          </a:p>
          <a:p>
            <a:pPr marL="0" indent="0" algn="ctr">
              <a:buNone/>
            </a:pPr>
            <a:r>
              <a:rPr lang="en-US" sz="1050" dirty="0">
                <a:solidFill>
                  <a:srgbClr val="B0BEC5"/>
                </a:solidFill>
              </a:rPr>
              <a:t>= each group's</a:t>
            </a:r>
            <a:endParaRPr lang="en-US" sz="1050" dirty="0"/>
          </a:p>
          <a:p>
            <a:pPr marL="0" indent="0" algn="ctr">
              <a:buNone/>
            </a:pPr>
            <a:r>
              <a:rPr lang="en-US" sz="1050" dirty="0">
                <a:solidFill>
                  <a:srgbClr val="B0BEC5"/>
                </a:solidFill>
              </a:rPr>
              <a:t>actual inflation</a:t>
            </a:r>
            <a:endParaRPr lang="en-US" sz="1050" dirty="0"/>
          </a:p>
        </p:txBody>
      </p:sp>
      <p:sp>
        <p:nvSpPr>
          <p:cNvPr id="32" name="Shape 30"/>
          <p:cNvSpPr/>
          <p:nvPr/>
        </p:nvSpPr>
        <p:spPr>
          <a:xfrm>
            <a:off x="2286000" y="3611880"/>
            <a:ext cx="201168" cy="0"/>
          </a:xfrm>
          <a:prstGeom prst="line">
            <a:avLst/>
          </a:prstGeom>
          <a:noFill/>
          <a:ln w="25400">
            <a:solidFill>
              <a:srgbClr val="00BFA5"/>
            </a:solidFill>
            <a:prstDash val="solid"/>
          </a:ln>
        </p:spPr>
        <p:txBody>
          <a:bodyPr/>
          <a:lstStyle/>
          <a:p>
            <a:endParaRPr lang="es-MX"/>
          </a:p>
        </p:txBody>
      </p:sp>
      <p:sp>
        <p:nvSpPr>
          <p:cNvPr id="33" name="Shape 31"/>
          <p:cNvSpPr/>
          <p:nvPr/>
        </p:nvSpPr>
        <p:spPr>
          <a:xfrm>
            <a:off x="4462272" y="3611880"/>
            <a:ext cx="201168" cy="0"/>
          </a:xfrm>
          <a:prstGeom prst="line">
            <a:avLst/>
          </a:prstGeom>
          <a:noFill/>
          <a:ln w="25400">
            <a:solidFill>
              <a:srgbClr val="00BFA5"/>
            </a:solidFill>
            <a:prstDash val="solid"/>
          </a:ln>
        </p:spPr>
        <p:txBody>
          <a:bodyPr/>
          <a:lstStyle/>
          <a:p>
            <a:endParaRPr lang="es-MX"/>
          </a:p>
        </p:txBody>
      </p:sp>
      <p:sp>
        <p:nvSpPr>
          <p:cNvPr id="34" name="Shape 32"/>
          <p:cNvSpPr/>
          <p:nvPr/>
        </p:nvSpPr>
        <p:spPr>
          <a:xfrm>
            <a:off x="6638544" y="3611880"/>
            <a:ext cx="201168" cy="0"/>
          </a:xfrm>
          <a:prstGeom prst="line">
            <a:avLst/>
          </a:prstGeom>
          <a:noFill/>
          <a:ln w="25400">
            <a:solidFill>
              <a:srgbClr val="00BFA5"/>
            </a:solidFill>
            <a:prstDash val="solid"/>
          </a:ln>
        </p:spPr>
        <p:txBody>
          <a:bodyPr/>
          <a:lstStyle/>
          <a:p>
            <a:endParaRPr lang="es-MX"/>
          </a:p>
        </p:txBody>
      </p:sp>
      <p:sp>
        <p:nvSpPr>
          <p:cNvPr id="35" name="Shape 33"/>
          <p:cNvSpPr/>
          <p:nvPr/>
        </p:nvSpPr>
        <p:spPr>
          <a:xfrm>
            <a:off x="0" y="4919472"/>
            <a:ext cx="9144000" cy="224028"/>
          </a:xfrm>
          <a:prstGeom prst="rect">
            <a:avLst/>
          </a:prstGeom>
          <a:solidFill>
            <a:srgbClr val="071528"/>
          </a:solidFill>
          <a:ln w="12700">
            <a:solidFill>
              <a:srgbClr val="071528"/>
            </a:solidFill>
            <a:prstDash val="solid"/>
          </a:ln>
        </p:spPr>
        <p:txBody>
          <a:bodyPr/>
          <a:lstStyle/>
          <a:p>
            <a:endParaRPr lang="es-MX"/>
          </a:p>
        </p:txBody>
      </p:sp>
      <p:sp>
        <p:nvSpPr>
          <p:cNvPr id="36" name="Text 34"/>
          <p:cNvSpPr/>
          <p:nvPr/>
        </p:nvSpPr>
        <p:spPr>
          <a:xfrm>
            <a:off x="274320" y="4937760"/>
            <a:ext cx="8595360" cy="182880"/>
          </a:xfrm>
          <a:prstGeom prst="rect">
            <a:avLst/>
          </a:prstGeom>
          <a:noFill/>
          <a:ln/>
        </p:spPr>
        <p:txBody>
          <a:bodyPr wrap="square" lIns="0" tIns="0" rIns="0" bIns="0" rtlCol="0" anchor="ctr"/>
          <a:lstStyle/>
          <a:p>
            <a:pPr marL="0" indent="0">
              <a:buNone/>
            </a:pPr>
            <a:r>
              <a:rPr lang="en-US" sz="800" dirty="0">
                <a:solidFill>
                  <a:srgbClr val="78909C"/>
                </a:solidFill>
              </a:rPr>
              <a:t>G-CPI Mexico  ·  Itzel Sánchez — INEGI  ·  IDSA Cohort VI  ·  March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F3A"/>
          </a:solidFill>
          <a:ln w="12700">
            <a:solidFill>
              <a:srgbClr val="0B1F3A"/>
            </a:solidFill>
            <a:prstDash val="solid"/>
          </a:ln>
        </p:spPr>
        <p:txBody>
          <a:bodyPr/>
          <a:lstStyle/>
          <a:p>
            <a:endParaRPr lang="es-MX"/>
          </a:p>
        </p:txBody>
      </p:sp>
      <p:sp>
        <p:nvSpPr>
          <p:cNvPr id="3" name="Text 1"/>
          <p:cNvSpPr/>
          <p:nvPr/>
        </p:nvSpPr>
        <p:spPr>
          <a:xfrm>
            <a:off x="365760" y="91440"/>
            <a:ext cx="54864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MEET THE FOUR GROUPS</a:t>
            </a:r>
            <a:endParaRPr lang="en-US" sz="1000" dirty="0"/>
          </a:p>
        </p:txBody>
      </p:sp>
      <p:sp>
        <p:nvSpPr>
          <p:cNvPr id="4" name="Text 2"/>
          <p:cNvSpPr/>
          <p:nvPr/>
        </p:nvSpPr>
        <p:spPr>
          <a:xfrm>
            <a:off x="365760" y="384048"/>
            <a:ext cx="8229600" cy="457200"/>
          </a:xfrm>
          <a:prstGeom prst="rect">
            <a:avLst/>
          </a:prstGeom>
          <a:noFill/>
          <a:ln/>
        </p:spPr>
        <p:txBody>
          <a:bodyPr wrap="square" lIns="0" tIns="0" rIns="0" bIns="0" rtlCol="0" anchor="ctr"/>
          <a:lstStyle/>
          <a:p>
            <a:pPr marL="0" indent="0">
              <a:buNone/>
            </a:pPr>
            <a:r>
              <a:rPr lang="en-US" sz="2200" b="1" dirty="0">
                <a:solidFill>
                  <a:srgbClr val="FFFFFF"/>
                </a:solidFill>
              </a:rPr>
              <a:t>Sex of head of household  ×  Partner presence</a:t>
            </a:r>
            <a:endParaRPr lang="en-US" sz="2200" dirty="0"/>
          </a:p>
        </p:txBody>
      </p:sp>
      <p:sp>
        <p:nvSpPr>
          <p:cNvPr id="5" name="Shape 3"/>
          <p:cNvSpPr/>
          <p:nvPr/>
        </p:nvSpPr>
        <p:spPr>
          <a:xfrm>
            <a:off x="228600" y="1097280"/>
            <a:ext cx="2057400" cy="374904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6" name="Shape 4"/>
          <p:cNvSpPr/>
          <p:nvPr/>
        </p:nvSpPr>
        <p:spPr>
          <a:xfrm>
            <a:off x="228600" y="1097280"/>
            <a:ext cx="2057400" cy="594360"/>
          </a:xfrm>
          <a:prstGeom prst="rect">
            <a:avLst/>
          </a:prstGeom>
          <a:solidFill>
            <a:srgbClr val="1565C0"/>
          </a:solidFill>
          <a:ln w="12700">
            <a:solidFill>
              <a:srgbClr val="1565C0"/>
            </a:solidFill>
            <a:prstDash val="solid"/>
          </a:ln>
        </p:spPr>
        <p:txBody>
          <a:bodyPr/>
          <a:lstStyle/>
          <a:p>
            <a:endParaRPr lang="es-MX"/>
          </a:p>
        </p:txBody>
      </p:sp>
      <p:sp>
        <p:nvSpPr>
          <p:cNvPr id="7" name="Text 5"/>
          <p:cNvSpPr/>
          <p:nvPr/>
        </p:nvSpPr>
        <p:spPr>
          <a:xfrm>
            <a:off x="320040" y="1124712"/>
            <a:ext cx="137160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MWP</a:t>
            </a:r>
            <a:endParaRPr lang="en-US" sz="2200" dirty="0"/>
          </a:p>
        </p:txBody>
      </p:sp>
      <p:sp>
        <p:nvSpPr>
          <p:cNvPr id="8" name="Text 6"/>
          <p:cNvSpPr/>
          <p:nvPr/>
        </p:nvSpPr>
        <p:spPr>
          <a:xfrm>
            <a:off x="320040" y="1481328"/>
            <a:ext cx="1874520" cy="182880"/>
          </a:xfrm>
          <a:prstGeom prst="rect">
            <a:avLst/>
          </a:prstGeom>
          <a:noFill/>
          <a:ln/>
        </p:spPr>
        <p:txBody>
          <a:bodyPr wrap="square" lIns="0" tIns="0" rIns="0" bIns="0" rtlCol="0" anchor="ctr"/>
          <a:lstStyle/>
          <a:p>
            <a:pPr marL="0" indent="0">
              <a:buNone/>
            </a:pPr>
            <a:r>
              <a:rPr lang="en-US" sz="850" b="1" dirty="0">
                <a:solidFill>
                  <a:srgbClr val="00BFA5"/>
                </a:solidFill>
              </a:rPr>
              <a:t>2nd</a:t>
            </a:r>
            <a:endParaRPr lang="en-US" sz="850" dirty="0"/>
          </a:p>
        </p:txBody>
      </p:sp>
      <p:sp>
        <p:nvSpPr>
          <p:cNvPr id="9" name="Text 7"/>
          <p:cNvSpPr/>
          <p:nvPr/>
        </p:nvSpPr>
        <p:spPr>
          <a:xfrm>
            <a:off x="320040" y="1783080"/>
            <a:ext cx="1874520" cy="347472"/>
          </a:xfrm>
          <a:prstGeom prst="rect">
            <a:avLst/>
          </a:prstGeom>
          <a:noFill/>
          <a:ln/>
        </p:spPr>
        <p:txBody>
          <a:bodyPr wrap="square" lIns="0" tIns="0" rIns="0" bIns="0" rtlCol="0" anchor="ctr"/>
          <a:lstStyle/>
          <a:p>
            <a:pPr marL="0" indent="0">
              <a:buNone/>
            </a:pPr>
            <a:r>
              <a:rPr lang="en-US" sz="1100" b="1" dirty="0">
                <a:solidFill>
                  <a:srgbClr val="263238"/>
                </a:solidFill>
              </a:rPr>
              <a:t>Male With Partner</a:t>
            </a:r>
            <a:endParaRPr lang="en-US" sz="1100" dirty="0"/>
          </a:p>
        </p:txBody>
      </p:sp>
      <p:sp>
        <p:nvSpPr>
          <p:cNvPr id="10" name="Shape 8"/>
          <p:cNvSpPr/>
          <p:nvPr/>
        </p:nvSpPr>
        <p:spPr>
          <a:xfrm>
            <a:off x="320040" y="2176272"/>
            <a:ext cx="1874520" cy="502920"/>
          </a:xfrm>
          <a:prstGeom prst="rect">
            <a:avLst/>
          </a:prstGeom>
          <a:solidFill>
            <a:srgbClr val="EEF3FA"/>
          </a:solidFill>
          <a:ln w="12700">
            <a:solidFill>
              <a:srgbClr val="D0D8E8"/>
            </a:solidFill>
            <a:prstDash val="solid"/>
          </a:ln>
        </p:spPr>
        <p:txBody>
          <a:bodyPr/>
          <a:lstStyle/>
          <a:p>
            <a:endParaRPr lang="es-MX"/>
          </a:p>
        </p:txBody>
      </p:sp>
      <p:sp>
        <p:nvSpPr>
          <p:cNvPr id="11" name="Text 9"/>
          <p:cNvSpPr/>
          <p:nvPr/>
        </p:nvSpPr>
        <p:spPr>
          <a:xfrm>
            <a:off x="320040" y="2194560"/>
            <a:ext cx="1874520" cy="256032"/>
          </a:xfrm>
          <a:prstGeom prst="rect">
            <a:avLst/>
          </a:prstGeom>
          <a:noFill/>
          <a:ln/>
        </p:spPr>
        <p:txBody>
          <a:bodyPr wrap="square" lIns="0" tIns="0" rIns="0" bIns="0" rtlCol="0" anchor="ctr"/>
          <a:lstStyle/>
          <a:p>
            <a:pPr marL="0" indent="0" algn="ctr">
              <a:buNone/>
            </a:pPr>
            <a:r>
              <a:rPr lang="en-US" sz="2200" b="1" dirty="0">
                <a:solidFill>
                  <a:srgbClr val="1565C0"/>
                </a:solidFill>
                <a:latin typeface="Arial Black" pitchFamily="34" charset="0"/>
                <a:ea typeface="Arial Black" pitchFamily="34" charset="-122"/>
                <a:cs typeface="Arial Black" pitchFamily="34" charset="-120"/>
              </a:rPr>
              <a:t>48%</a:t>
            </a:r>
            <a:endParaRPr lang="en-US" sz="2200" dirty="0"/>
          </a:p>
        </p:txBody>
      </p:sp>
      <p:sp>
        <p:nvSpPr>
          <p:cNvPr id="12" name="Text 10"/>
          <p:cNvSpPr/>
          <p:nvPr/>
        </p:nvSpPr>
        <p:spPr>
          <a:xfrm>
            <a:off x="320040" y="2432304"/>
            <a:ext cx="1874520" cy="182880"/>
          </a:xfrm>
          <a:prstGeom prst="rect">
            <a:avLst/>
          </a:prstGeom>
          <a:noFill/>
          <a:ln/>
        </p:spPr>
        <p:txBody>
          <a:bodyPr wrap="square" lIns="0" tIns="0" rIns="0" bIns="0" rtlCol="0" anchor="ctr"/>
          <a:lstStyle/>
          <a:p>
            <a:pPr marL="0" indent="0" algn="ctr">
              <a:buNone/>
            </a:pPr>
            <a:r>
              <a:rPr lang="en-US" sz="800" dirty="0">
                <a:solidFill>
                  <a:srgbClr val="546E7A"/>
                </a:solidFill>
              </a:rPr>
              <a:t>of all households</a:t>
            </a:r>
            <a:endParaRPr lang="en-US" sz="800" dirty="0"/>
          </a:p>
        </p:txBody>
      </p:sp>
      <p:sp>
        <p:nvSpPr>
          <p:cNvPr id="13" name="Shape 11"/>
          <p:cNvSpPr/>
          <p:nvPr/>
        </p:nvSpPr>
        <p:spPr>
          <a:xfrm>
            <a:off x="320040" y="2743200"/>
            <a:ext cx="1874520" cy="27432"/>
          </a:xfrm>
          <a:prstGeom prst="rect">
            <a:avLst/>
          </a:prstGeom>
          <a:solidFill>
            <a:srgbClr val="E0E5EF"/>
          </a:solidFill>
          <a:ln w="12700">
            <a:solidFill>
              <a:srgbClr val="E0E5EF"/>
            </a:solidFill>
            <a:prstDash val="solid"/>
          </a:ln>
        </p:spPr>
        <p:txBody>
          <a:bodyPr/>
          <a:lstStyle/>
          <a:p>
            <a:endParaRPr lang="es-MX"/>
          </a:p>
        </p:txBody>
      </p:sp>
      <p:sp>
        <p:nvSpPr>
          <p:cNvPr id="14" name="Text 12"/>
          <p:cNvSpPr/>
          <p:nvPr/>
        </p:nvSpPr>
        <p:spPr>
          <a:xfrm>
            <a:off x="320040" y="2816352"/>
            <a:ext cx="1874520" cy="685800"/>
          </a:xfrm>
          <a:prstGeom prst="rect">
            <a:avLst/>
          </a:prstGeom>
          <a:noFill/>
          <a:ln/>
        </p:spPr>
        <p:txBody>
          <a:bodyPr wrap="square" lIns="0" tIns="0" rIns="0" bIns="0" rtlCol="0" anchor="ctr"/>
          <a:lstStyle/>
          <a:p>
            <a:pPr marL="0" indent="0">
              <a:buNone/>
            </a:pPr>
            <a:r>
              <a:rPr lang="en-US" sz="950" dirty="0">
                <a:solidFill>
                  <a:srgbClr val="37474F"/>
                </a:solidFill>
              </a:rPr>
              <a:t>The typical family household. Two-income potential. Higher spending on transport and education.</a:t>
            </a:r>
            <a:endParaRPr lang="en-US" sz="950" dirty="0"/>
          </a:p>
        </p:txBody>
      </p:sp>
      <p:sp>
        <p:nvSpPr>
          <p:cNvPr id="15" name="Shape 13"/>
          <p:cNvSpPr/>
          <p:nvPr/>
        </p:nvSpPr>
        <p:spPr>
          <a:xfrm>
            <a:off x="228600" y="3584448"/>
            <a:ext cx="2057400" cy="594360"/>
          </a:xfrm>
          <a:prstGeom prst="rect">
            <a:avLst/>
          </a:prstGeom>
          <a:solidFill>
            <a:srgbClr val="1565C0"/>
          </a:solidFill>
          <a:ln w="12700">
            <a:solidFill>
              <a:srgbClr val="1565C0"/>
            </a:solidFill>
            <a:prstDash val="solid"/>
          </a:ln>
        </p:spPr>
        <p:txBody>
          <a:bodyPr/>
          <a:lstStyle/>
          <a:p>
            <a:endParaRPr lang="es-MX"/>
          </a:p>
        </p:txBody>
      </p:sp>
      <p:sp>
        <p:nvSpPr>
          <p:cNvPr id="16" name="Text 14"/>
          <p:cNvSpPr/>
          <p:nvPr/>
        </p:nvSpPr>
        <p:spPr>
          <a:xfrm>
            <a:off x="274320" y="3611880"/>
            <a:ext cx="1188720" cy="256032"/>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4.43%</a:t>
            </a:r>
            <a:endParaRPr lang="en-US" sz="1800" dirty="0"/>
          </a:p>
        </p:txBody>
      </p:sp>
      <p:sp>
        <p:nvSpPr>
          <p:cNvPr id="17" name="Text 15"/>
          <p:cNvSpPr/>
          <p:nvPr/>
        </p:nvSpPr>
        <p:spPr>
          <a:xfrm>
            <a:off x="274320" y="3858768"/>
            <a:ext cx="1188720" cy="274320"/>
          </a:xfrm>
          <a:prstGeom prst="rect">
            <a:avLst/>
          </a:prstGeom>
          <a:noFill/>
          <a:ln/>
        </p:spPr>
        <p:txBody>
          <a:bodyPr wrap="square" lIns="0" tIns="0" rIns="0" bIns="0" rtlCol="0" anchor="ctr"/>
          <a:lstStyle/>
          <a:p>
            <a:pPr marL="0" indent="0">
              <a:buNone/>
            </a:pPr>
            <a:r>
              <a:rPr lang="en-US" sz="750" dirty="0">
                <a:solidFill>
                  <a:srgbClr val="B0D4E8"/>
                </a:solidFill>
              </a:rPr>
              <a:t>avg inflation</a:t>
            </a:r>
            <a:endParaRPr lang="en-US" sz="750" dirty="0"/>
          </a:p>
          <a:p>
            <a:pPr marL="0" indent="0">
              <a:buNone/>
            </a:pPr>
            <a:r>
              <a:rPr lang="en-US" sz="750" dirty="0">
                <a:solidFill>
                  <a:srgbClr val="B0D4E8"/>
                </a:solidFill>
              </a:rPr>
              <a:t>2023–25</a:t>
            </a:r>
            <a:endParaRPr lang="en-US" sz="750" dirty="0"/>
          </a:p>
        </p:txBody>
      </p:sp>
      <p:sp>
        <p:nvSpPr>
          <p:cNvPr id="18" name="Shape 16"/>
          <p:cNvSpPr/>
          <p:nvPr/>
        </p:nvSpPr>
        <p:spPr>
          <a:xfrm>
            <a:off x="2423160" y="1097280"/>
            <a:ext cx="2057400" cy="374904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19" name="Shape 17"/>
          <p:cNvSpPr/>
          <p:nvPr/>
        </p:nvSpPr>
        <p:spPr>
          <a:xfrm>
            <a:off x="2423160" y="1097280"/>
            <a:ext cx="2057400" cy="594360"/>
          </a:xfrm>
          <a:prstGeom prst="rect">
            <a:avLst/>
          </a:prstGeom>
          <a:solidFill>
            <a:srgbClr val="0D3380"/>
          </a:solidFill>
          <a:ln w="12700">
            <a:solidFill>
              <a:srgbClr val="0D3380"/>
            </a:solidFill>
            <a:prstDash val="solid"/>
          </a:ln>
        </p:spPr>
        <p:txBody>
          <a:bodyPr/>
          <a:lstStyle/>
          <a:p>
            <a:endParaRPr lang="es-MX"/>
          </a:p>
        </p:txBody>
      </p:sp>
      <p:sp>
        <p:nvSpPr>
          <p:cNvPr id="20" name="Text 18"/>
          <p:cNvSpPr/>
          <p:nvPr/>
        </p:nvSpPr>
        <p:spPr>
          <a:xfrm>
            <a:off x="2514600" y="1124712"/>
            <a:ext cx="137160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MWoP</a:t>
            </a:r>
            <a:endParaRPr lang="en-US" sz="2200" dirty="0"/>
          </a:p>
        </p:txBody>
      </p:sp>
      <p:sp>
        <p:nvSpPr>
          <p:cNvPr id="21" name="Text 19"/>
          <p:cNvSpPr/>
          <p:nvPr/>
        </p:nvSpPr>
        <p:spPr>
          <a:xfrm>
            <a:off x="2514600" y="1481328"/>
            <a:ext cx="1874520" cy="182880"/>
          </a:xfrm>
          <a:prstGeom prst="rect">
            <a:avLst/>
          </a:prstGeom>
          <a:noFill/>
          <a:ln/>
        </p:spPr>
        <p:txBody>
          <a:bodyPr wrap="square" lIns="0" tIns="0" rIns="0" bIns="0" rtlCol="0" anchor="ctr"/>
          <a:lstStyle/>
          <a:p>
            <a:pPr marL="0" indent="0">
              <a:buNone/>
            </a:pPr>
            <a:r>
              <a:rPr lang="en-US" sz="850" b="1" dirty="0">
                <a:solidFill>
                  <a:srgbClr val="00BFA5"/>
                </a:solidFill>
              </a:rPr>
              <a:t>HIGHEST ↑</a:t>
            </a:r>
            <a:endParaRPr lang="en-US" sz="850" dirty="0"/>
          </a:p>
        </p:txBody>
      </p:sp>
      <p:sp>
        <p:nvSpPr>
          <p:cNvPr id="22" name="Text 20"/>
          <p:cNvSpPr/>
          <p:nvPr/>
        </p:nvSpPr>
        <p:spPr>
          <a:xfrm>
            <a:off x="2514600" y="1783080"/>
            <a:ext cx="1874520" cy="347472"/>
          </a:xfrm>
          <a:prstGeom prst="rect">
            <a:avLst/>
          </a:prstGeom>
          <a:noFill/>
          <a:ln/>
        </p:spPr>
        <p:txBody>
          <a:bodyPr wrap="square" lIns="0" tIns="0" rIns="0" bIns="0" rtlCol="0" anchor="ctr"/>
          <a:lstStyle/>
          <a:p>
            <a:pPr marL="0" indent="0">
              <a:buNone/>
            </a:pPr>
            <a:r>
              <a:rPr lang="en-US" sz="1100" b="1" dirty="0">
                <a:solidFill>
                  <a:srgbClr val="263238"/>
                </a:solidFill>
              </a:rPr>
              <a:t>Male Without Partner</a:t>
            </a:r>
            <a:endParaRPr lang="en-US" sz="1100" dirty="0"/>
          </a:p>
        </p:txBody>
      </p:sp>
      <p:sp>
        <p:nvSpPr>
          <p:cNvPr id="23" name="Shape 21"/>
          <p:cNvSpPr/>
          <p:nvPr/>
        </p:nvSpPr>
        <p:spPr>
          <a:xfrm>
            <a:off x="2514600" y="2176272"/>
            <a:ext cx="1874520" cy="502920"/>
          </a:xfrm>
          <a:prstGeom prst="rect">
            <a:avLst/>
          </a:prstGeom>
          <a:solidFill>
            <a:srgbClr val="EEF3FA"/>
          </a:solidFill>
          <a:ln w="12700">
            <a:solidFill>
              <a:srgbClr val="D0D8E8"/>
            </a:solidFill>
            <a:prstDash val="solid"/>
          </a:ln>
        </p:spPr>
        <p:txBody>
          <a:bodyPr/>
          <a:lstStyle/>
          <a:p>
            <a:endParaRPr lang="es-MX"/>
          </a:p>
        </p:txBody>
      </p:sp>
      <p:sp>
        <p:nvSpPr>
          <p:cNvPr id="24" name="Text 22"/>
          <p:cNvSpPr/>
          <p:nvPr/>
        </p:nvSpPr>
        <p:spPr>
          <a:xfrm>
            <a:off x="2514600" y="2194560"/>
            <a:ext cx="1874520" cy="256032"/>
          </a:xfrm>
          <a:prstGeom prst="rect">
            <a:avLst/>
          </a:prstGeom>
          <a:noFill/>
          <a:ln/>
        </p:spPr>
        <p:txBody>
          <a:bodyPr wrap="square" lIns="0" tIns="0" rIns="0" bIns="0" rtlCol="0" anchor="ctr"/>
          <a:lstStyle/>
          <a:p>
            <a:pPr marL="0" indent="0" algn="ctr">
              <a:buNone/>
            </a:pPr>
            <a:r>
              <a:rPr lang="en-US" sz="2200" b="1" dirty="0">
                <a:solidFill>
                  <a:srgbClr val="0D3380"/>
                </a:solidFill>
                <a:latin typeface="Arial Black" pitchFamily="34" charset="0"/>
                <a:ea typeface="Arial Black" pitchFamily="34" charset="-122"/>
                <a:cs typeface="Arial Black" pitchFamily="34" charset="-120"/>
              </a:rPr>
              <a:t>10%</a:t>
            </a:r>
            <a:endParaRPr lang="en-US" sz="2200" dirty="0"/>
          </a:p>
        </p:txBody>
      </p:sp>
      <p:sp>
        <p:nvSpPr>
          <p:cNvPr id="25" name="Text 23"/>
          <p:cNvSpPr/>
          <p:nvPr/>
        </p:nvSpPr>
        <p:spPr>
          <a:xfrm>
            <a:off x="2514600" y="2432304"/>
            <a:ext cx="1874520" cy="182880"/>
          </a:xfrm>
          <a:prstGeom prst="rect">
            <a:avLst/>
          </a:prstGeom>
          <a:noFill/>
          <a:ln/>
        </p:spPr>
        <p:txBody>
          <a:bodyPr wrap="square" lIns="0" tIns="0" rIns="0" bIns="0" rtlCol="0" anchor="ctr"/>
          <a:lstStyle/>
          <a:p>
            <a:pPr marL="0" indent="0" algn="ctr">
              <a:buNone/>
            </a:pPr>
            <a:r>
              <a:rPr lang="en-US" sz="800" dirty="0">
                <a:solidFill>
                  <a:srgbClr val="546E7A"/>
                </a:solidFill>
              </a:rPr>
              <a:t>of all households</a:t>
            </a:r>
            <a:endParaRPr lang="en-US" sz="800" dirty="0"/>
          </a:p>
        </p:txBody>
      </p:sp>
      <p:sp>
        <p:nvSpPr>
          <p:cNvPr id="26" name="Shape 24"/>
          <p:cNvSpPr/>
          <p:nvPr/>
        </p:nvSpPr>
        <p:spPr>
          <a:xfrm>
            <a:off x="2514600" y="2743200"/>
            <a:ext cx="1874520" cy="27432"/>
          </a:xfrm>
          <a:prstGeom prst="rect">
            <a:avLst/>
          </a:prstGeom>
          <a:solidFill>
            <a:srgbClr val="E0E5EF"/>
          </a:solidFill>
          <a:ln w="12700">
            <a:solidFill>
              <a:srgbClr val="E0E5EF"/>
            </a:solidFill>
            <a:prstDash val="solid"/>
          </a:ln>
        </p:spPr>
        <p:txBody>
          <a:bodyPr/>
          <a:lstStyle/>
          <a:p>
            <a:endParaRPr lang="es-MX"/>
          </a:p>
        </p:txBody>
      </p:sp>
      <p:sp>
        <p:nvSpPr>
          <p:cNvPr id="27" name="Text 25"/>
          <p:cNvSpPr/>
          <p:nvPr/>
        </p:nvSpPr>
        <p:spPr>
          <a:xfrm>
            <a:off x="2514600" y="2816352"/>
            <a:ext cx="1874520" cy="685800"/>
          </a:xfrm>
          <a:prstGeom prst="rect">
            <a:avLst/>
          </a:prstGeom>
          <a:noFill/>
          <a:ln/>
        </p:spPr>
        <p:txBody>
          <a:bodyPr wrap="square" lIns="0" tIns="0" rIns="0" bIns="0" rtlCol="0" anchor="ctr"/>
          <a:lstStyle/>
          <a:p>
            <a:pPr marL="0" indent="0">
              <a:buNone/>
            </a:pPr>
            <a:r>
              <a:rPr lang="en-US" sz="950" dirty="0">
                <a:solidFill>
                  <a:srgbClr val="37474F"/>
                </a:solidFill>
              </a:rPr>
              <a:t>Single men living alone. Highest spending on restaurants and personal care — both high-inflation categories.</a:t>
            </a:r>
            <a:endParaRPr lang="en-US" sz="950" dirty="0"/>
          </a:p>
        </p:txBody>
      </p:sp>
      <p:sp>
        <p:nvSpPr>
          <p:cNvPr id="28" name="Shape 26"/>
          <p:cNvSpPr/>
          <p:nvPr/>
        </p:nvSpPr>
        <p:spPr>
          <a:xfrm>
            <a:off x="2423160" y="3584448"/>
            <a:ext cx="2057400" cy="594360"/>
          </a:xfrm>
          <a:prstGeom prst="rect">
            <a:avLst/>
          </a:prstGeom>
          <a:solidFill>
            <a:srgbClr val="0D3380"/>
          </a:solidFill>
          <a:ln w="12700">
            <a:solidFill>
              <a:srgbClr val="0D3380"/>
            </a:solidFill>
            <a:prstDash val="solid"/>
          </a:ln>
        </p:spPr>
        <p:txBody>
          <a:bodyPr/>
          <a:lstStyle/>
          <a:p>
            <a:endParaRPr lang="es-MX"/>
          </a:p>
        </p:txBody>
      </p:sp>
      <p:sp>
        <p:nvSpPr>
          <p:cNvPr id="29" name="Text 27"/>
          <p:cNvSpPr/>
          <p:nvPr/>
        </p:nvSpPr>
        <p:spPr>
          <a:xfrm>
            <a:off x="2468880" y="3611880"/>
            <a:ext cx="1188720" cy="256032"/>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4.67%</a:t>
            </a:r>
            <a:endParaRPr lang="en-US" sz="1800" dirty="0"/>
          </a:p>
        </p:txBody>
      </p:sp>
      <p:sp>
        <p:nvSpPr>
          <p:cNvPr id="30" name="Text 28"/>
          <p:cNvSpPr/>
          <p:nvPr/>
        </p:nvSpPr>
        <p:spPr>
          <a:xfrm>
            <a:off x="2468880" y="3858768"/>
            <a:ext cx="1188720" cy="274320"/>
          </a:xfrm>
          <a:prstGeom prst="rect">
            <a:avLst/>
          </a:prstGeom>
          <a:noFill/>
          <a:ln/>
        </p:spPr>
        <p:txBody>
          <a:bodyPr wrap="square" lIns="0" tIns="0" rIns="0" bIns="0" rtlCol="0" anchor="ctr"/>
          <a:lstStyle/>
          <a:p>
            <a:pPr marL="0" indent="0">
              <a:buNone/>
            </a:pPr>
            <a:r>
              <a:rPr lang="en-US" sz="750" dirty="0">
                <a:solidFill>
                  <a:srgbClr val="B0D4E8"/>
                </a:solidFill>
              </a:rPr>
              <a:t>avg inflation</a:t>
            </a:r>
            <a:endParaRPr lang="en-US" sz="750" dirty="0"/>
          </a:p>
          <a:p>
            <a:pPr marL="0" indent="0">
              <a:buNone/>
            </a:pPr>
            <a:r>
              <a:rPr lang="en-US" sz="750" dirty="0">
                <a:solidFill>
                  <a:srgbClr val="B0D4E8"/>
                </a:solidFill>
              </a:rPr>
              <a:t>2023–25</a:t>
            </a:r>
            <a:endParaRPr lang="en-US" sz="750" dirty="0"/>
          </a:p>
        </p:txBody>
      </p:sp>
      <p:sp>
        <p:nvSpPr>
          <p:cNvPr id="31" name="Text 29"/>
          <p:cNvSpPr/>
          <p:nvPr/>
        </p:nvSpPr>
        <p:spPr>
          <a:xfrm>
            <a:off x="3429000" y="3639312"/>
            <a:ext cx="1005840" cy="502920"/>
          </a:xfrm>
          <a:prstGeom prst="rect">
            <a:avLst/>
          </a:prstGeom>
          <a:noFill/>
          <a:ln/>
        </p:spPr>
        <p:txBody>
          <a:bodyPr wrap="square" lIns="0" tIns="0" rIns="0" bIns="0" rtlCol="0" anchor="ctr"/>
          <a:lstStyle/>
          <a:p>
            <a:pPr marL="0" indent="0" algn="r">
              <a:buNone/>
            </a:pPr>
            <a:r>
              <a:rPr lang="en-US" sz="850" b="1" dirty="0">
                <a:solidFill>
                  <a:srgbClr val="00BFA5"/>
                </a:solidFill>
              </a:rPr>
              <a:t>Most exposed</a:t>
            </a:r>
            <a:endParaRPr lang="en-US" sz="850" dirty="0"/>
          </a:p>
        </p:txBody>
      </p:sp>
      <p:sp>
        <p:nvSpPr>
          <p:cNvPr id="32" name="Shape 30"/>
          <p:cNvSpPr/>
          <p:nvPr/>
        </p:nvSpPr>
        <p:spPr>
          <a:xfrm>
            <a:off x="2423160" y="4178808"/>
            <a:ext cx="2057400" cy="475488"/>
          </a:xfrm>
          <a:prstGeom prst="rect">
            <a:avLst/>
          </a:prstGeom>
          <a:solidFill>
            <a:srgbClr val="E3F2FD"/>
          </a:solidFill>
          <a:ln w="12700">
            <a:solidFill>
              <a:srgbClr val="1565C0"/>
            </a:solidFill>
            <a:prstDash val="solid"/>
          </a:ln>
        </p:spPr>
        <p:txBody>
          <a:bodyPr/>
          <a:lstStyle/>
          <a:p>
            <a:endParaRPr lang="es-MX"/>
          </a:p>
        </p:txBody>
      </p:sp>
      <p:sp>
        <p:nvSpPr>
          <p:cNvPr id="33" name="Text 31"/>
          <p:cNvSpPr/>
          <p:nvPr/>
        </p:nvSpPr>
        <p:spPr>
          <a:xfrm>
            <a:off x="2496312" y="4206240"/>
            <a:ext cx="1920240" cy="420624"/>
          </a:xfrm>
          <a:prstGeom prst="rect">
            <a:avLst/>
          </a:prstGeom>
          <a:noFill/>
          <a:ln/>
        </p:spPr>
        <p:txBody>
          <a:bodyPr wrap="square" lIns="0" tIns="0" rIns="0" bIns="0" rtlCol="0" anchor="ctr"/>
          <a:lstStyle/>
          <a:p>
            <a:pPr marL="0" indent="0" algn="ctr">
              <a:buNone/>
            </a:pPr>
            <a:r>
              <a:rPr lang="en-US" sz="900" b="1" dirty="0">
                <a:solidFill>
                  <a:srgbClr val="0D3380"/>
                </a:solidFill>
              </a:rPr>
              <a:t>Restaurants 15.7%</a:t>
            </a:r>
            <a:endParaRPr lang="en-US" sz="900" dirty="0"/>
          </a:p>
          <a:p>
            <a:pPr marL="0" indent="0" algn="ctr">
              <a:buNone/>
            </a:pPr>
            <a:r>
              <a:rPr lang="en-US" sz="900" b="1" dirty="0">
                <a:solidFill>
                  <a:srgbClr val="0D3380"/>
                </a:solidFill>
              </a:rPr>
              <a:t>Personal care 11.1%</a:t>
            </a:r>
            <a:endParaRPr lang="en-US" sz="900" dirty="0"/>
          </a:p>
        </p:txBody>
      </p:sp>
      <p:sp>
        <p:nvSpPr>
          <p:cNvPr id="34" name="Shape 32"/>
          <p:cNvSpPr/>
          <p:nvPr/>
        </p:nvSpPr>
        <p:spPr>
          <a:xfrm>
            <a:off x="4617720" y="1097280"/>
            <a:ext cx="2057400" cy="374904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35" name="Shape 33"/>
          <p:cNvSpPr/>
          <p:nvPr/>
        </p:nvSpPr>
        <p:spPr>
          <a:xfrm>
            <a:off x="4617720" y="1097280"/>
            <a:ext cx="2057400" cy="594360"/>
          </a:xfrm>
          <a:prstGeom prst="rect">
            <a:avLst/>
          </a:prstGeom>
          <a:solidFill>
            <a:srgbClr val="880E4F"/>
          </a:solidFill>
          <a:ln w="12700">
            <a:solidFill>
              <a:srgbClr val="880E4F"/>
            </a:solidFill>
            <a:prstDash val="solid"/>
          </a:ln>
        </p:spPr>
        <p:txBody>
          <a:bodyPr/>
          <a:lstStyle/>
          <a:p>
            <a:endParaRPr lang="es-MX"/>
          </a:p>
        </p:txBody>
      </p:sp>
      <p:sp>
        <p:nvSpPr>
          <p:cNvPr id="36" name="Text 34"/>
          <p:cNvSpPr/>
          <p:nvPr/>
        </p:nvSpPr>
        <p:spPr>
          <a:xfrm>
            <a:off x="4709160" y="1124712"/>
            <a:ext cx="137160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FWoP</a:t>
            </a:r>
            <a:endParaRPr lang="en-US" sz="2200" dirty="0"/>
          </a:p>
        </p:txBody>
      </p:sp>
      <p:sp>
        <p:nvSpPr>
          <p:cNvPr id="37" name="Text 35"/>
          <p:cNvSpPr/>
          <p:nvPr/>
        </p:nvSpPr>
        <p:spPr>
          <a:xfrm>
            <a:off x="4709160" y="1481328"/>
            <a:ext cx="1874520" cy="182880"/>
          </a:xfrm>
          <a:prstGeom prst="rect">
            <a:avLst/>
          </a:prstGeom>
          <a:noFill/>
          <a:ln/>
        </p:spPr>
        <p:txBody>
          <a:bodyPr wrap="square" lIns="0" tIns="0" rIns="0" bIns="0" rtlCol="0" anchor="ctr"/>
          <a:lstStyle/>
          <a:p>
            <a:pPr marL="0" indent="0">
              <a:buNone/>
            </a:pPr>
            <a:r>
              <a:rPr lang="en-US" sz="850" b="1" dirty="0">
                <a:solidFill>
                  <a:srgbClr val="00BFA5"/>
                </a:solidFill>
              </a:rPr>
              <a:t>3rd</a:t>
            </a:r>
            <a:endParaRPr lang="en-US" sz="850" dirty="0"/>
          </a:p>
        </p:txBody>
      </p:sp>
      <p:sp>
        <p:nvSpPr>
          <p:cNvPr id="38" name="Text 36"/>
          <p:cNvSpPr/>
          <p:nvPr/>
        </p:nvSpPr>
        <p:spPr>
          <a:xfrm>
            <a:off x="4709160" y="1783080"/>
            <a:ext cx="1874520" cy="347472"/>
          </a:xfrm>
          <a:prstGeom prst="rect">
            <a:avLst/>
          </a:prstGeom>
          <a:noFill/>
          <a:ln/>
        </p:spPr>
        <p:txBody>
          <a:bodyPr wrap="square" lIns="0" tIns="0" rIns="0" bIns="0" rtlCol="0" anchor="ctr"/>
          <a:lstStyle/>
          <a:p>
            <a:pPr marL="0" indent="0">
              <a:buNone/>
            </a:pPr>
            <a:r>
              <a:rPr lang="en-US" sz="1100" b="1" dirty="0">
                <a:solidFill>
                  <a:srgbClr val="263238"/>
                </a:solidFill>
              </a:rPr>
              <a:t>Female Without Partner</a:t>
            </a:r>
            <a:endParaRPr lang="en-US" sz="1100" dirty="0"/>
          </a:p>
        </p:txBody>
      </p:sp>
      <p:sp>
        <p:nvSpPr>
          <p:cNvPr id="39" name="Shape 37"/>
          <p:cNvSpPr/>
          <p:nvPr/>
        </p:nvSpPr>
        <p:spPr>
          <a:xfrm>
            <a:off x="4709160" y="2176272"/>
            <a:ext cx="1874520" cy="502920"/>
          </a:xfrm>
          <a:prstGeom prst="rect">
            <a:avLst/>
          </a:prstGeom>
          <a:solidFill>
            <a:srgbClr val="EEF3FA"/>
          </a:solidFill>
          <a:ln w="12700">
            <a:solidFill>
              <a:srgbClr val="D0D8E8"/>
            </a:solidFill>
            <a:prstDash val="solid"/>
          </a:ln>
        </p:spPr>
        <p:txBody>
          <a:bodyPr/>
          <a:lstStyle/>
          <a:p>
            <a:endParaRPr lang="es-MX"/>
          </a:p>
        </p:txBody>
      </p:sp>
      <p:sp>
        <p:nvSpPr>
          <p:cNvPr id="40" name="Text 38"/>
          <p:cNvSpPr/>
          <p:nvPr/>
        </p:nvSpPr>
        <p:spPr>
          <a:xfrm>
            <a:off x="4709160" y="2194560"/>
            <a:ext cx="1874520" cy="256032"/>
          </a:xfrm>
          <a:prstGeom prst="rect">
            <a:avLst/>
          </a:prstGeom>
          <a:noFill/>
          <a:ln/>
        </p:spPr>
        <p:txBody>
          <a:bodyPr wrap="square" lIns="0" tIns="0" rIns="0" bIns="0" rtlCol="0" anchor="ctr"/>
          <a:lstStyle/>
          <a:p>
            <a:pPr marL="0" indent="0" algn="ctr">
              <a:buNone/>
            </a:pPr>
            <a:r>
              <a:rPr lang="en-US" sz="2200" b="1" dirty="0">
                <a:solidFill>
                  <a:srgbClr val="880E4F"/>
                </a:solidFill>
                <a:latin typeface="Arial Black" pitchFamily="34" charset="0"/>
                <a:ea typeface="Arial Black" pitchFamily="34" charset="-122"/>
                <a:cs typeface="Arial Black" pitchFamily="34" charset="-120"/>
              </a:rPr>
              <a:t>22%</a:t>
            </a:r>
            <a:endParaRPr lang="en-US" sz="2200" dirty="0"/>
          </a:p>
        </p:txBody>
      </p:sp>
      <p:sp>
        <p:nvSpPr>
          <p:cNvPr id="41" name="Text 39"/>
          <p:cNvSpPr/>
          <p:nvPr/>
        </p:nvSpPr>
        <p:spPr>
          <a:xfrm>
            <a:off x="4709160" y="2432304"/>
            <a:ext cx="1874520" cy="182880"/>
          </a:xfrm>
          <a:prstGeom prst="rect">
            <a:avLst/>
          </a:prstGeom>
          <a:noFill/>
          <a:ln/>
        </p:spPr>
        <p:txBody>
          <a:bodyPr wrap="square" lIns="0" tIns="0" rIns="0" bIns="0" rtlCol="0" anchor="ctr"/>
          <a:lstStyle/>
          <a:p>
            <a:pPr marL="0" indent="0" algn="ctr">
              <a:buNone/>
            </a:pPr>
            <a:r>
              <a:rPr lang="en-US" sz="800" dirty="0">
                <a:solidFill>
                  <a:srgbClr val="546E7A"/>
                </a:solidFill>
              </a:rPr>
              <a:t>of all households</a:t>
            </a:r>
            <a:endParaRPr lang="en-US" sz="800" dirty="0"/>
          </a:p>
        </p:txBody>
      </p:sp>
      <p:sp>
        <p:nvSpPr>
          <p:cNvPr id="42" name="Shape 40"/>
          <p:cNvSpPr/>
          <p:nvPr/>
        </p:nvSpPr>
        <p:spPr>
          <a:xfrm>
            <a:off x="4709160" y="2743200"/>
            <a:ext cx="1874520" cy="27432"/>
          </a:xfrm>
          <a:prstGeom prst="rect">
            <a:avLst/>
          </a:prstGeom>
          <a:solidFill>
            <a:srgbClr val="E0E5EF"/>
          </a:solidFill>
          <a:ln w="12700">
            <a:solidFill>
              <a:srgbClr val="E0E5EF"/>
            </a:solidFill>
            <a:prstDash val="solid"/>
          </a:ln>
        </p:spPr>
        <p:txBody>
          <a:bodyPr/>
          <a:lstStyle/>
          <a:p>
            <a:endParaRPr lang="es-MX"/>
          </a:p>
        </p:txBody>
      </p:sp>
      <p:sp>
        <p:nvSpPr>
          <p:cNvPr id="43" name="Text 41"/>
          <p:cNvSpPr/>
          <p:nvPr/>
        </p:nvSpPr>
        <p:spPr>
          <a:xfrm>
            <a:off x="4709160" y="2816352"/>
            <a:ext cx="1874520" cy="685800"/>
          </a:xfrm>
          <a:prstGeom prst="rect">
            <a:avLst/>
          </a:prstGeom>
          <a:noFill/>
          <a:ln/>
        </p:spPr>
        <p:txBody>
          <a:bodyPr wrap="square" lIns="0" tIns="0" rIns="0" bIns="0" rtlCol="0" anchor="ctr"/>
          <a:lstStyle/>
          <a:p>
            <a:pPr marL="0" indent="0">
              <a:buNone/>
            </a:pPr>
            <a:r>
              <a:rPr lang="en-US" sz="950" dirty="0">
                <a:solidFill>
                  <a:srgbClr val="37474F"/>
                </a:solidFill>
              </a:rPr>
              <a:t>Single mothers, widows, women living alone. ~1 in 4 Mexican households. Higher food spending.</a:t>
            </a:r>
            <a:endParaRPr lang="en-US" sz="950" dirty="0"/>
          </a:p>
        </p:txBody>
      </p:sp>
      <p:sp>
        <p:nvSpPr>
          <p:cNvPr id="44" name="Shape 42"/>
          <p:cNvSpPr/>
          <p:nvPr/>
        </p:nvSpPr>
        <p:spPr>
          <a:xfrm>
            <a:off x="4617720" y="3584448"/>
            <a:ext cx="2057400" cy="594360"/>
          </a:xfrm>
          <a:prstGeom prst="rect">
            <a:avLst/>
          </a:prstGeom>
          <a:solidFill>
            <a:srgbClr val="880E4F"/>
          </a:solidFill>
          <a:ln w="12700">
            <a:solidFill>
              <a:srgbClr val="880E4F"/>
            </a:solidFill>
            <a:prstDash val="solid"/>
          </a:ln>
        </p:spPr>
        <p:txBody>
          <a:bodyPr/>
          <a:lstStyle/>
          <a:p>
            <a:endParaRPr lang="es-MX"/>
          </a:p>
        </p:txBody>
      </p:sp>
      <p:sp>
        <p:nvSpPr>
          <p:cNvPr id="45" name="Text 43"/>
          <p:cNvSpPr/>
          <p:nvPr/>
        </p:nvSpPr>
        <p:spPr>
          <a:xfrm>
            <a:off x="4663440" y="3611880"/>
            <a:ext cx="1188720" cy="256032"/>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4.41%</a:t>
            </a:r>
            <a:endParaRPr lang="en-US" sz="1800" dirty="0"/>
          </a:p>
        </p:txBody>
      </p:sp>
      <p:sp>
        <p:nvSpPr>
          <p:cNvPr id="46" name="Text 44"/>
          <p:cNvSpPr/>
          <p:nvPr/>
        </p:nvSpPr>
        <p:spPr>
          <a:xfrm>
            <a:off x="4663440" y="3858768"/>
            <a:ext cx="1188720" cy="274320"/>
          </a:xfrm>
          <a:prstGeom prst="rect">
            <a:avLst/>
          </a:prstGeom>
          <a:noFill/>
          <a:ln/>
        </p:spPr>
        <p:txBody>
          <a:bodyPr wrap="square" lIns="0" tIns="0" rIns="0" bIns="0" rtlCol="0" anchor="ctr"/>
          <a:lstStyle/>
          <a:p>
            <a:pPr marL="0" indent="0">
              <a:buNone/>
            </a:pPr>
            <a:r>
              <a:rPr lang="en-US" sz="750" dirty="0">
                <a:solidFill>
                  <a:srgbClr val="B0D4E8"/>
                </a:solidFill>
              </a:rPr>
              <a:t>avg inflation</a:t>
            </a:r>
            <a:endParaRPr lang="en-US" sz="750" dirty="0"/>
          </a:p>
          <a:p>
            <a:pPr marL="0" indent="0">
              <a:buNone/>
            </a:pPr>
            <a:r>
              <a:rPr lang="en-US" sz="750" dirty="0">
                <a:solidFill>
                  <a:srgbClr val="B0D4E8"/>
                </a:solidFill>
              </a:rPr>
              <a:t>2023–25</a:t>
            </a:r>
            <a:endParaRPr lang="en-US" sz="750" dirty="0"/>
          </a:p>
        </p:txBody>
      </p:sp>
      <p:sp>
        <p:nvSpPr>
          <p:cNvPr id="47" name="Text 45"/>
          <p:cNvSpPr/>
          <p:nvPr/>
        </p:nvSpPr>
        <p:spPr>
          <a:xfrm>
            <a:off x="5623560" y="3639312"/>
            <a:ext cx="1005840" cy="502920"/>
          </a:xfrm>
          <a:prstGeom prst="rect">
            <a:avLst/>
          </a:prstGeom>
          <a:noFill/>
          <a:ln/>
        </p:spPr>
        <p:txBody>
          <a:bodyPr wrap="square" lIns="0" tIns="0" rIns="0" bIns="0" rtlCol="0" anchor="ctr"/>
          <a:lstStyle/>
          <a:p>
            <a:pPr marL="0" indent="0" algn="r">
              <a:buNone/>
            </a:pPr>
            <a:r>
              <a:rPr lang="en-US" sz="850" b="1" dirty="0">
                <a:solidFill>
                  <a:srgbClr val="00BFA5"/>
                </a:solidFill>
              </a:rPr>
              <a:t>Expected #1. Actually #3.</a:t>
            </a:r>
            <a:endParaRPr lang="en-US" sz="850" dirty="0"/>
          </a:p>
        </p:txBody>
      </p:sp>
      <p:sp>
        <p:nvSpPr>
          <p:cNvPr id="48" name="Shape 46"/>
          <p:cNvSpPr/>
          <p:nvPr/>
        </p:nvSpPr>
        <p:spPr>
          <a:xfrm>
            <a:off x="4617720" y="4178808"/>
            <a:ext cx="2057400" cy="475488"/>
          </a:xfrm>
          <a:prstGeom prst="rect">
            <a:avLst/>
          </a:prstGeom>
          <a:solidFill>
            <a:srgbClr val="FFF3E0"/>
          </a:solidFill>
          <a:ln w="12700">
            <a:solidFill>
              <a:srgbClr val="FFB74D"/>
            </a:solidFill>
            <a:prstDash val="solid"/>
          </a:ln>
        </p:spPr>
        <p:txBody>
          <a:bodyPr/>
          <a:lstStyle/>
          <a:p>
            <a:endParaRPr lang="es-MX"/>
          </a:p>
        </p:txBody>
      </p:sp>
      <p:sp>
        <p:nvSpPr>
          <p:cNvPr id="49" name="Text 47"/>
          <p:cNvSpPr/>
          <p:nvPr/>
        </p:nvSpPr>
        <p:spPr>
          <a:xfrm>
            <a:off x="4690872" y="4206240"/>
            <a:ext cx="1920240" cy="420624"/>
          </a:xfrm>
          <a:prstGeom prst="rect">
            <a:avLst/>
          </a:prstGeom>
          <a:noFill/>
          <a:ln/>
        </p:spPr>
        <p:txBody>
          <a:bodyPr wrap="square" lIns="0" tIns="0" rIns="0" bIns="0" rtlCol="0" anchor="ctr"/>
          <a:lstStyle/>
          <a:p>
            <a:pPr marL="0" indent="0" algn="ctr">
              <a:buNone/>
            </a:pPr>
            <a:r>
              <a:rPr lang="en-US" sz="900" b="1" dirty="0">
                <a:solidFill>
                  <a:srgbClr val="E65100"/>
                </a:solidFill>
              </a:rPr>
              <a:t>⚠ Expected #1</a:t>
            </a:r>
            <a:endParaRPr lang="en-US" sz="900" dirty="0"/>
          </a:p>
          <a:p>
            <a:pPr marL="0" indent="0" algn="ctr">
              <a:buNone/>
            </a:pPr>
            <a:r>
              <a:rPr lang="en-US" sz="900" b="1" dirty="0">
                <a:solidFill>
                  <a:srgbClr val="E65100"/>
                </a:solidFill>
              </a:rPr>
              <a:t>Actually #3 — why?</a:t>
            </a:r>
            <a:endParaRPr lang="en-US" sz="900" dirty="0"/>
          </a:p>
        </p:txBody>
      </p:sp>
      <p:sp>
        <p:nvSpPr>
          <p:cNvPr id="50" name="Shape 48"/>
          <p:cNvSpPr/>
          <p:nvPr/>
        </p:nvSpPr>
        <p:spPr>
          <a:xfrm>
            <a:off x="6812280" y="1097280"/>
            <a:ext cx="2057400" cy="374904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51" name="Shape 49"/>
          <p:cNvSpPr/>
          <p:nvPr/>
        </p:nvSpPr>
        <p:spPr>
          <a:xfrm>
            <a:off x="6812280" y="1097280"/>
            <a:ext cx="2057400" cy="594360"/>
          </a:xfrm>
          <a:prstGeom prst="rect">
            <a:avLst/>
          </a:prstGeom>
          <a:solidFill>
            <a:srgbClr val="006064"/>
          </a:solidFill>
          <a:ln w="12700">
            <a:solidFill>
              <a:srgbClr val="006064"/>
            </a:solidFill>
            <a:prstDash val="solid"/>
          </a:ln>
        </p:spPr>
        <p:txBody>
          <a:bodyPr/>
          <a:lstStyle/>
          <a:p>
            <a:endParaRPr lang="es-MX"/>
          </a:p>
        </p:txBody>
      </p:sp>
      <p:sp>
        <p:nvSpPr>
          <p:cNvPr id="52" name="Text 50"/>
          <p:cNvSpPr/>
          <p:nvPr/>
        </p:nvSpPr>
        <p:spPr>
          <a:xfrm>
            <a:off x="6903720" y="1124712"/>
            <a:ext cx="137160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FWP</a:t>
            </a:r>
            <a:endParaRPr lang="en-US" sz="2200" dirty="0"/>
          </a:p>
        </p:txBody>
      </p:sp>
      <p:sp>
        <p:nvSpPr>
          <p:cNvPr id="53" name="Text 51"/>
          <p:cNvSpPr/>
          <p:nvPr/>
        </p:nvSpPr>
        <p:spPr>
          <a:xfrm>
            <a:off x="6903720" y="1481328"/>
            <a:ext cx="1874520" cy="182880"/>
          </a:xfrm>
          <a:prstGeom prst="rect">
            <a:avLst/>
          </a:prstGeom>
          <a:noFill/>
          <a:ln/>
        </p:spPr>
        <p:txBody>
          <a:bodyPr wrap="square" lIns="0" tIns="0" rIns="0" bIns="0" rtlCol="0" anchor="ctr"/>
          <a:lstStyle/>
          <a:p>
            <a:pPr marL="0" indent="0">
              <a:buNone/>
            </a:pPr>
            <a:r>
              <a:rPr lang="en-US" sz="850" b="1" dirty="0">
                <a:solidFill>
                  <a:srgbClr val="00BFA5"/>
                </a:solidFill>
              </a:rPr>
              <a:t>LOWEST ↓</a:t>
            </a:r>
            <a:endParaRPr lang="en-US" sz="850" dirty="0"/>
          </a:p>
        </p:txBody>
      </p:sp>
      <p:sp>
        <p:nvSpPr>
          <p:cNvPr id="54" name="Text 52"/>
          <p:cNvSpPr/>
          <p:nvPr/>
        </p:nvSpPr>
        <p:spPr>
          <a:xfrm>
            <a:off x="6903720" y="1783080"/>
            <a:ext cx="1874520" cy="347472"/>
          </a:xfrm>
          <a:prstGeom prst="rect">
            <a:avLst/>
          </a:prstGeom>
          <a:noFill/>
          <a:ln/>
        </p:spPr>
        <p:txBody>
          <a:bodyPr wrap="square" lIns="0" tIns="0" rIns="0" bIns="0" rtlCol="0" anchor="ctr"/>
          <a:lstStyle/>
          <a:p>
            <a:pPr marL="0" indent="0">
              <a:buNone/>
            </a:pPr>
            <a:r>
              <a:rPr lang="en-US" sz="1100" b="1" dirty="0">
                <a:solidFill>
                  <a:srgbClr val="263238"/>
                </a:solidFill>
              </a:rPr>
              <a:t>Female With Partner</a:t>
            </a:r>
            <a:endParaRPr lang="en-US" sz="1100" dirty="0"/>
          </a:p>
        </p:txBody>
      </p:sp>
      <p:sp>
        <p:nvSpPr>
          <p:cNvPr id="55" name="Shape 53"/>
          <p:cNvSpPr/>
          <p:nvPr/>
        </p:nvSpPr>
        <p:spPr>
          <a:xfrm>
            <a:off x="6903720" y="2176272"/>
            <a:ext cx="1874520" cy="502920"/>
          </a:xfrm>
          <a:prstGeom prst="rect">
            <a:avLst/>
          </a:prstGeom>
          <a:solidFill>
            <a:srgbClr val="EEF3FA"/>
          </a:solidFill>
          <a:ln w="12700">
            <a:solidFill>
              <a:srgbClr val="D0D8E8"/>
            </a:solidFill>
            <a:prstDash val="solid"/>
          </a:ln>
        </p:spPr>
        <p:txBody>
          <a:bodyPr/>
          <a:lstStyle/>
          <a:p>
            <a:endParaRPr lang="es-MX"/>
          </a:p>
        </p:txBody>
      </p:sp>
      <p:sp>
        <p:nvSpPr>
          <p:cNvPr id="56" name="Text 54"/>
          <p:cNvSpPr/>
          <p:nvPr/>
        </p:nvSpPr>
        <p:spPr>
          <a:xfrm>
            <a:off x="6903720" y="2194560"/>
            <a:ext cx="1874520" cy="256032"/>
          </a:xfrm>
          <a:prstGeom prst="rect">
            <a:avLst/>
          </a:prstGeom>
          <a:noFill/>
          <a:ln/>
        </p:spPr>
        <p:txBody>
          <a:bodyPr wrap="square" lIns="0" tIns="0" rIns="0" bIns="0" rtlCol="0" anchor="ctr"/>
          <a:lstStyle/>
          <a:p>
            <a:pPr marL="0" indent="0" algn="ctr">
              <a:buNone/>
            </a:pPr>
            <a:r>
              <a:rPr lang="en-US" sz="2200" b="1" dirty="0">
                <a:solidFill>
                  <a:srgbClr val="006064"/>
                </a:solidFill>
                <a:latin typeface="Arial Black" pitchFamily="34" charset="0"/>
                <a:ea typeface="Arial Black" pitchFamily="34" charset="-122"/>
                <a:cs typeface="Arial Black" pitchFamily="34" charset="-120"/>
              </a:rPr>
              <a:t>6%</a:t>
            </a:r>
            <a:endParaRPr lang="en-US" sz="2200" dirty="0"/>
          </a:p>
        </p:txBody>
      </p:sp>
      <p:sp>
        <p:nvSpPr>
          <p:cNvPr id="57" name="Text 55"/>
          <p:cNvSpPr/>
          <p:nvPr/>
        </p:nvSpPr>
        <p:spPr>
          <a:xfrm>
            <a:off x="6903720" y="2432304"/>
            <a:ext cx="1874520" cy="182880"/>
          </a:xfrm>
          <a:prstGeom prst="rect">
            <a:avLst/>
          </a:prstGeom>
          <a:noFill/>
          <a:ln/>
        </p:spPr>
        <p:txBody>
          <a:bodyPr wrap="square" lIns="0" tIns="0" rIns="0" bIns="0" rtlCol="0" anchor="ctr"/>
          <a:lstStyle/>
          <a:p>
            <a:pPr marL="0" indent="0" algn="ctr">
              <a:buNone/>
            </a:pPr>
            <a:r>
              <a:rPr lang="en-US" sz="800" dirty="0">
                <a:solidFill>
                  <a:srgbClr val="546E7A"/>
                </a:solidFill>
              </a:rPr>
              <a:t>of all households</a:t>
            </a:r>
            <a:endParaRPr lang="en-US" sz="800" dirty="0"/>
          </a:p>
        </p:txBody>
      </p:sp>
      <p:sp>
        <p:nvSpPr>
          <p:cNvPr id="58" name="Shape 56"/>
          <p:cNvSpPr/>
          <p:nvPr/>
        </p:nvSpPr>
        <p:spPr>
          <a:xfrm>
            <a:off x="6903720" y="2743200"/>
            <a:ext cx="1874520" cy="27432"/>
          </a:xfrm>
          <a:prstGeom prst="rect">
            <a:avLst/>
          </a:prstGeom>
          <a:solidFill>
            <a:srgbClr val="E0E5EF"/>
          </a:solidFill>
          <a:ln w="12700">
            <a:solidFill>
              <a:srgbClr val="E0E5EF"/>
            </a:solidFill>
            <a:prstDash val="solid"/>
          </a:ln>
        </p:spPr>
        <p:txBody>
          <a:bodyPr/>
          <a:lstStyle/>
          <a:p>
            <a:endParaRPr lang="es-MX"/>
          </a:p>
        </p:txBody>
      </p:sp>
      <p:sp>
        <p:nvSpPr>
          <p:cNvPr id="59" name="Text 57"/>
          <p:cNvSpPr/>
          <p:nvPr/>
        </p:nvSpPr>
        <p:spPr>
          <a:xfrm>
            <a:off x="6903720" y="2816352"/>
            <a:ext cx="1874520" cy="685800"/>
          </a:xfrm>
          <a:prstGeom prst="rect">
            <a:avLst/>
          </a:prstGeom>
          <a:noFill/>
          <a:ln/>
        </p:spPr>
        <p:txBody>
          <a:bodyPr wrap="square" lIns="0" tIns="0" rIns="0" bIns="0" rtlCol="0" anchor="ctr"/>
          <a:lstStyle/>
          <a:p>
            <a:pPr marL="0" indent="0">
              <a:buNone/>
            </a:pPr>
            <a:r>
              <a:rPr lang="en-US" sz="950" dirty="0">
                <a:solidFill>
                  <a:srgbClr val="37474F"/>
                </a:solidFill>
              </a:rPr>
              <a:t>Female-headed households with a partner present. Most stable and diversified spending profile.</a:t>
            </a:r>
            <a:endParaRPr lang="en-US" sz="950" dirty="0"/>
          </a:p>
        </p:txBody>
      </p:sp>
      <p:sp>
        <p:nvSpPr>
          <p:cNvPr id="60" name="Shape 58"/>
          <p:cNvSpPr/>
          <p:nvPr/>
        </p:nvSpPr>
        <p:spPr>
          <a:xfrm>
            <a:off x="6812280" y="3584448"/>
            <a:ext cx="2057400" cy="594360"/>
          </a:xfrm>
          <a:prstGeom prst="rect">
            <a:avLst/>
          </a:prstGeom>
          <a:solidFill>
            <a:srgbClr val="006064"/>
          </a:solidFill>
          <a:ln w="12700">
            <a:solidFill>
              <a:srgbClr val="006064"/>
            </a:solidFill>
            <a:prstDash val="solid"/>
          </a:ln>
        </p:spPr>
        <p:txBody>
          <a:bodyPr/>
          <a:lstStyle/>
          <a:p>
            <a:endParaRPr lang="es-MX"/>
          </a:p>
        </p:txBody>
      </p:sp>
      <p:sp>
        <p:nvSpPr>
          <p:cNvPr id="61" name="Text 59"/>
          <p:cNvSpPr/>
          <p:nvPr/>
        </p:nvSpPr>
        <p:spPr>
          <a:xfrm>
            <a:off x="6858000" y="3611880"/>
            <a:ext cx="1188720" cy="256032"/>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4.39%</a:t>
            </a:r>
            <a:endParaRPr lang="en-US" sz="1800" dirty="0"/>
          </a:p>
        </p:txBody>
      </p:sp>
      <p:sp>
        <p:nvSpPr>
          <p:cNvPr id="62" name="Text 60"/>
          <p:cNvSpPr/>
          <p:nvPr/>
        </p:nvSpPr>
        <p:spPr>
          <a:xfrm>
            <a:off x="6858000" y="3858768"/>
            <a:ext cx="1188720" cy="274320"/>
          </a:xfrm>
          <a:prstGeom prst="rect">
            <a:avLst/>
          </a:prstGeom>
          <a:noFill/>
          <a:ln/>
        </p:spPr>
        <p:txBody>
          <a:bodyPr wrap="square" lIns="0" tIns="0" rIns="0" bIns="0" rtlCol="0" anchor="ctr"/>
          <a:lstStyle/>
          <a:p>
            <a:pPr marL="0" indent="0">
              <a:buNone/>
            </a:pPr>
            <a:r>
              <a:rPr lang="en-US" sz="750" dirty="0">
                <a:solidFill>
                  <a:srgbClr val="B0D4E8"/>
                </a:solidFill>
              </a:rPr>
              <a:t>avg inflation</a:t>
            </a:r>
            <a:endParaRPr lang="en-US" sz="750" dirty="0"/>
          </a:p>
          <a:p>
            <a:pPr marL="0" indent="0">
              <a:buNone/>
            </a:pPr>
            <a:r>
              <a:rPr lang="en-US" sz="750" dirty="0">
                <a:solidFill>
                  <a:srgbClr val="B0D4E8"/>
                </a:solidFill>
              </a:rPr>
              <a:t>2023–25</a:t>
            </a:r>
            <a:endParaRPr lang="en-US" sz="750" dirty="0"/>
          </a:p>
        </p:txBody>
      </p:sp>
      <p:sp>
        <p:nvSpPr>
          <p:cNvPr id="63" name="Text 61"/>
          <p:cNvSpPr/>
          <p:nvPr/>
        </p:nvSpPr>
        <p:spPr>
          <a:xfrm>
            <a:off x="7818120" y="3639312"/>
            <a:ext cx="1005840" cy="502920"/>
          </a:xfrm>
          <a:prstGeom prst="rect">
            <a:avLst/>
          </a:prstGeom>
          <a:noFill/>
          <a:ln/>
        </p:spPr>
        <p:txBody>
          <a:bodyPr wrap="square" lIns="0" tIns="0" rIns="0" bIns="0" rtlCol="0" anchor="ctr"/>
          <a:lstStyle/>
          <a:p>
            <a:pPr marL="0" indent="0" algn="r">
              <a:buNone/>
            </a:pPr>
            <a:r>
              <a:rPr lang="en-US" sz="850" b="1" dirty="0">
                <a:solidFill>
                  <a:srgbClr val="00BFA5"/>
                </a:solidFill>
              </a:rPr>
              <a:t>Least exposed</a:t>
            </a:r>
            <a:endParaRPr lang="en-US" sz="850" dirty="0"/>
          </a:p>
        </p:txBody>
      </p:sp>
      <p:sp>
        <p:nvSpPr>
          <p:cNvPr id="64" name="Shape 62"/>
          <p:cNvSpPr/>
          <p:nvPr/>
        </p:nvSpPr>
        <p:spPr>
          <a:xfrm>
            <a:off x="0" y="4828032"/>
            <a:ext cx="9144000" cy="315468"/>
          </a:xfrm>
          <a:prstGeom prst="rect">
            <a:avLst/>
          </a:prstGeom>
          <a:solidFill>
            <a:srgbClr val="0B1F3A"/>
          </a:solidFill>
          <a:ln w="12700">
            <a:solidFill>
              <a:srgbClr val="0B1F3A"/>
            </a:solidFill>
            <a:prstDash val="solid"/>
          </a:ln>
        </p:spPr>
        <p:txBody>
          <a:bodyPr/>
          <a:lstStyle/>
          <a:p>
            <a:endParaRPr lang="es-MX"/>
          </a:p>
        </p:txBody>
      </p:sp>
      <p:sp>
        <p:nvSpPr>
          <p:cNvPr id="65" name="Text 63"/>
          <p:cNvSpPr/>
          <p:nvPr/>
        </p:nvSpPr>
        <p:spPr>
          <a:xfrm>
            <a:off x="274320" y="4846320"/>
            <a:ext cx="8595360" cy="274320"/>
          </a:xfrm>
          <a:prstGeom prst="rect">
            <a:avLst/>
          </a:prstGeom>
          <a:noFill/>
          <a:ln/>
        </p:spPr>
        <p:txBody>
          <a:bodyPr wrap="square" lIns="0" tIns="0" rIns="0" bIns="0" rtlCol="0" anchor="ctr"/>
          <a:lstStyle/>
          <a:p>
            <a:pPr marL="0" indent="0" algn="ctr">
              <a:buNone/>
            </a:pPr>
            <a:r>
              <a:rPr lang="en-US" sz="1050" b="1" dirty="0">
                <a:solidFill>
                  <a:srgbClr val="00BFA5"/>
                </a:solidFill>
              </a:rPr>
              <a:t>Most people expect FWoP (women alone) to face the highest inflation.  The data shows MWoP (men alone) is #1 — and we're going to show you exactly why.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49808" cy="5143500"/>
          </a:xfrm>
          <a:prstGeom prst="rect">
            <a:avLst/>
          </a:prstGeom>
        </p:spPr>
      </p:pic>
      <p:sp>
        <p:nvSpPr>
          <p:cNvPr id="3" name="Shape 0"/>
          <p:cNvSpPr/>
          <p:nvPr/>
        </p:nvSpPr>
        <p:spPr>
          <a:xfrm>
            <a:off x="804672" y="182880"/>
            <a:ext cx="64008" cy="640080"/>
          </a:xfrm>
          <a:prstGeom prst="rect">
            <a:avLst/>
          </a:prstGeom>
          <a:solidFill>
            <a:srgbClr val="7B5EA7"/>
          </a:solidFill>
          <a:ln w="12700">
            <a:solidFill>
              <a:srgbClr val="7B5EA7"/>
            </a:solidFill>
            <a:prstDash val="solid"/>
          </a:ln>
        </p:spPr>
        <p:txBody>
          <a:bodyPr/>
          <a:lstStyle/>
          <a:p>
            <a:endParaRPr lang="es-MX"/>
          </a:p>
        </p:txBody>
      </p:sp>
      <p:sp>
        <p:nvSpPr>
          <p:cNvPr id="4" name="Text 1"/>
          <p:cNvSpPr/>
          <p:nvPr/>
        </p:nvSpPr>
        <p:spPr>
          <a:xfrm>
            <a:off x="932688" y="146304"/>
            <a:ext cx="7863840" cy="713232"/>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Where Do Groups Spend Differently? — Scatter View</a:t>
            </a:r>
            <a:endParaRPr lang="en-US" sz="2400" dirty="0"/>
          </a:p>
        </p:txBody>
      </p:sp>
      <p:sp>
        <p:nvSpPr>
          <p:cNvPr id="5" name="Text 2"/>
          <p:cNvSpPr/>
          <p:nvPr/>
        </p:nvSpPr>
        <p:spPr>
          <a:xfrm>
            <a:off x="932688" y="859536"/>
            <a:ext cx="7863840" cy="237744"/>
          </a:xfrm>
          <a:prstGeom prst="rect">
            <a:avLst/>
          </a:prstGeom>
          <a:noFill/>
          <a:ln/>
        </p:spPr>
        <p:txBody>
          <a:bodyPr wrap="square" lIns="0" tIns="0" rIns="0" bIns="0" rtlCol="0" anchor="ctr"/>
          <a:lstStyle/>
          <a:p>
            <a:pPr marL="0" indent="0">
              <a:buNone/>
            </a:pPr>
            <a:r>
              <a:rPr lang="en-US" sz="1200" dirty="0">
                <a:solidFill>
                  <a:srgbClr val="00BFA5"/>
                </a:solidFill>
                <a:latin typeface="Calibri" pitchFamily="34" charset="0"/>
                <a:ea typeface="Calibri" pitchFamily="34" charset="-122"/>
                <a:cs typeface="Calibri" pitchFamily="34" charset="-120"/>
              </a:rPr>
              <a:t>Each bubble = one CCIF division. Position shows male vs female weight. Size = inflation rate of that division.</a:t>
            </a:r>
            <a:endParaRPr lang="en-US" sz="1200" dirty="0"/>
          </a:p>
        </p:txBody>
      </p:sp>
      <p:sp>
        <p:nvSpPr>
          <p:cNvPr id="6" name="Shape 3"/>
          <p:cNvSpPr/>
          <p:nvPr/>
        </p:nvSpPr>
        <p:spPr>
          <a:xfrm>
            <a:off x="804672" y="1115568"/>
            <a:ext cx="8229600" cy="22860"/>
          </a:xfrm>
          <a:prstGeom prst="rect">
            <a:avLst/>
          </a:prstGeom>
          <a:solidFill>
            <a:srgbClr val="DDE3EA"/>
          </a:solidFill>
          <a:ln w="12700">
            <a:solidFill>
              <a:srgbClr val="DDE3EA"/>
            </a:solidFill>
            <a:prstDash val="solid"/>
          </a:ln>
        </p:spPr>
        <p:txBody>
          <a:bodyPr/>
          <a:lstStyle/>
          <a:p>
            <a:endParaRPr lang="es-MX"/>
          </a:p>
        </p:txBody>
      </p:sp>
      <p:pic>
        <p:nvPicPr>
          <p:cNvPr id="7" name="Image 1" descr="preencoded.png"/>
          <p:cNvPicPr>
            <a:picLocks noChangeAspect="1"/>
          </p:cNvPicPr>
          <p:nvPr/>
        </p:nvPicPr>
        <p:blipFill>
          <a:blip r:embed="rId4"/>
          <a:srcRect/>
          <a:stretch/>
        </p:blipFill>
        <p:spPr>
          <a:xfrm>
            <a:off x="804672" y="1170432"/>
            <a:ext cx="8247888" cy="3493008"/>
          </a:xfrm>
          <a:prstGeom prst="rect">
            <a:avLst/>
          </a:prstGeom>
        </p:spPr>
      </p:pic>
      <p:sp>
        <p:nvSpPr>
          <p:cNvPr id="8" name="Text 4"/>
          <p:cNvSpPr/>
          <p:nvPr/>
        </p:nvSpPr>
        <p:spPr>
          <a:xfrm>
            <a:off x="804672" y="4626864"/>
            <a:ext cx="8229600" cy="201168"/>
          </a:xfrm>
          <a:prstGeom prst="rect">
            <a:avLst/>
          </a:prstGeom>
          <a:noFill/>
          <a:ln/>
        </p:spPr>
        <p:txBody>
          <a:bodyPr wrap="square" rtlCol="0" anchor="ctr"/>
          <a:lstStyle/>
          <a:p>
            <a:pPr marL="0" indent="0">
              <a:buNone/>
            </a:pPr>
            <a:r>
              <a:rPr lang="en-US" sz="950" i="1" dirty="0">
                <a:solidFill>
                  <a:srgbClr val="546E7A"/>
                </a:solidFill>
                <a:latin typeface="Calibri" pitchFamily="34" charset="0"/>
                <a:ea typeface="Calibri" pitchFamily="34" charset="-122"/>
                <a:cs typeface="Calibri" pitchFamily="34" charset="-120"/>
              </a:rPr>
              <a:t>Bubbles above the diagonal → female-headed households spend proportionally MORE on that division. Bubbles below → male-headed spend more. Larger bubbles = higher inflation → bigger weight on the G-CPI gap.</a:t>
            </a:r>
            <a:endParaRPr lang="en-US" sz="950" dirty="0"/>
          </a:p>
        </p:txBody>
      </p:sp>
      <p:pic>
        <p:nvPicPr>
          <p:cNvPr id="9" name="Image 2" descr="preencoded.png"/>
          <p:cNvPicPr>
            <a:picLocks noChangeAspect="1"/>
          </p:cNvPicPr>
          <p:nvPr/>
        </p:nvPicPr>
        <p:blipFill>
          <a:blip r:embed="rId5"/>
          <a:stretch>
            <a:fillRect/>
          </a:stretch>
        </p:blipFill>
        <p:spPr>
          <a:xfrm>
            <a:off x="0" y="4873752"/>
            <a:ext cx="9144000" cy="2697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FA5"/>
          </a:solidFill>
          <a:ln w="12700">
            <a:solidFill>
              <a:srgbClr val="00BFA5"/>
            </a:solidFill>
            <a:prstDash val="solid"/>
          </a:ln>
        </p:spPr>
        <p:txBody>
          <a:bodyPr/>
          <a:lstStyle/>
          <a:p>
            <a:endParaRPr lang="es-MX"/>
          </a:p>
        </p:txBody>
      </p:sp>
      <p:sp>
        <p:nvSpPr>
          <p:cNvPr id="3" name="Text 1"/>
          <p:cNvSpPr/>
          <p:nvPr/>
        </p:nvSpPr>
        <p:spPr>
          <a:xfrm>
            <a:off x="320040" y="164592"/>
            <a:ext cx="45720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EXPENDITURE WEIGHTS</a:t>
            </a:r>
            <a:endParaRPr lang="en-US" sz="1000" dirty="0"/>
          </a:p>
        </p:txBody>
      </p:sp>
      <p:sp>
        <p:nvSpPr>
          <p:cNvPr id="4" name="Text 2"/>
          <p:cNvSpPr/>
          <p:nvPr/>
        </p:nvSpPr>
        <p:spPr>
          <a:xfrm>
            <a:off x="320040" y="457200"/>
            <a:ext cx="8229600" cy="457200"/>
          </a:xfrm>
          <a:prstGeom prst="rect">
            <a:avLst/>
          </a:prstGeom>
          <a:noFill/>
          <a:ln/>
        </p:spPr>
        <p:txBody>
          <a:bodyPr wrap="square" lIns="0" tIns="0" rIns="0" bIns="0" rtlCol="0" anchor="ctr"/>
          <a:lstStyle/>
          <a:p>
            <a:pPr marL="0" indent="0">
              <a:buNone/>
            </a:pPr>
            <a:r>
              <a:rPr lang="en-US" sz="2400" b="1" dirty="0">
                <a:solidFill>
                  <a:srgbClr val="FFFFFF"/>
                </a:solidFill>
              </a:rPr>
              <a:t>Four very different baskets from the same survey</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56032" y="1005840"/>
          <a:ext cx="8686800" cy="3599688"/>
        </p:xfrm>
        <a:graphic>
          <a:graphicData uri="http://schemas.openxmlformats.org/drawingml/2006/table">
            <a:tbl>
              <a:tblPr/>
              <a:tblGrid>
                <a:gridCol w="2011680">
                  <a:extLst>
                    <a:ext uri="{9D8B030D-6E8A-4147-A177-3AD203B41FA5}">
                      <a16:colId xmlns:a16="http://schemas.microsoft.com/office/drawing/2014/main" val="20000"/>
                    </a:ext>
                  </a:extLst>
                </a:gridCol>
                <a:gridCol w="1335024">
                  <a:extLst>
                    <a:ext uri="{9D8B030D-6E8A-4147-A177-3AD203B41FA5}">
                      <a16:colId xmlns:a16="http://schemas.microsoft.com/office/drawing/2014/main" val="20001"/>
                    </a:ext>
                  </a:extLst>
                </a:gridCol>
                <a:gridCol w="1335024">
                  <a:extLst>
                    <a:ext uri="{9D8B030D-6E8A-4147-A177-3AD203B41FA5}">
                      <a16:colId xmlns:a16="http://schemas.microsoft.com/office/drawing/2014/main" val="20002"/>
                    </a:ext>
                  </a:extLst>
                </a:gridCol>
                <a:gridCol w="1335024">
                  <a:extLst>
                    <a:ext uri="{9D8B030D-6E8A-4147-A177-3AD203B41FA5}">
                      <a16:colId xmlns:a16="http://schemas.microsoft.com/office/drawing/2014/main" val="20003"/>
                    </a:ext>
                  </a:extLst>
                </a:gridCol>
                <a:gridCol w="1335024">
                  <a:extLst>
                    <a:ext uri="{9D8B030D-6E8A-4147-A177-3AD203B41FA5}">
                      <a16:colId xmlns:a16="http://schemas.microsoft.com/office/drawing/2014/main" val="20004"/>
                    </a:ext>
                  </a:extLst>
                </a:gridCol>
                <a:gridCol w="1335024">
                  <a:extLst>
                    <a:ext uri="{9D8B030D-6E8A-4147-A177-3AD203B41FA5}">
                      <a16:colId xmlns:a16="http://schemas.microsoft.com/office/drawing/2014/main" val="20005"/>
                    </a:ext>
                  </a:extLst>
                </a:gridCol>
              </a:tblGrid>
              <a:tr h="292608">
                <a:tc>
                  <a:txBody>
                    <a:bodyPr/>
                    <a:lstStyle/>
                    <a:p>
                      <a:pPr marL="0" indent="0" algn="ctr">
                        <a:buNone/>
                      </a:pPr>
                      <a:r>
                        <a:rPr lang="en-US" sz="950" b="1" dirty="0">
                          <a:solidFill>
                            <a:srgbClr val="FFFFFF"/>
                          </a:solidFill>
                        </a:rPr>
                        <a:t>Division</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71528"/>
                    </a:solidFill>
                  </a:tcPr>
                </a:tc>
                <a:tc>
                  <a:txBody>
                    <a:bodyPr/>
                    <a:lstStyle/>
                    <a:p>
                      <a:pPr marL="0" indent="0" algn="ctr">
                        <a:buNone/>
                      </a:pPr>
                      <a:r>
                        <a:rPr lang="en-US" sz="950" b="1" dirty="0">
                          <a:solidFill>
                            <a:srgbClr val="FFFFFF"/>
                          </a:solidFill>
                        </a:rPr>
                        <a:t>MWP</a:t>
                      </a:r>
                      <a:endParaRPr lang="en-US" sz="950" dirty="0"/>
                    </a:p>
                    <a:p>
                      <a:pPr marL="0" indent="0" algn="ctr">
                        <a:buNone/>
                      </a:pPr>
                      <a:r>
                        <a:rPr lang="en-US" sz="950" b="1" dirty="0">
                          <a:solidFill>
                            <a:srgbClr val="FFFFFF"/>
                          </a:solidFill>
                        </a:rPr>
                        <a:t>Male+partner</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1565C0"/>
                    </a:solidFill>
                  </a:tcPr>
                </a:tc>
                <a:tc>
                  <a:txBody>
                    <a:bodyPr/>
                    <a:lstStyle/>
                    <a:p>
                      <a:pPr marL="0" indent="0" algn="ctr">
                        <a:buNone/>
                      </a:pPr>
                      <a:r>
                        <a:rPr lang="en-US" sz="950" b="1" dirty="0">
                          <a:solidFill>
                            <a:srgbClr val="FFFFFF"/>
                          </a:solidFill>
                        </a:rPr>
                        <a:t>MWoP</a:t>
                      </a:r>
                      <a:endParaRPr lang="en-US" sz="950" dirty="0"/>
                    </a:p>
                    <a:p>
                      <a:pPr marL="0" indent="0" algn="ctr">
                        <a:buNone/>
                      </a:pPr>
                      <a:r>
                        <a:rPr lang="en-US" sz="950" b="1" dirty="0">
                          <a:solidFill>
                            <a:srgbClr val="FFFFFF"/>
                          </a:solidFill>
                        </a:rPr>
                        <a:t>Male alone</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3380"/>
                    </a:solidFill>
                  </a:tcPr>
                </a:tc>
                <a:tc>
                  <a:txBody>
                    <a:bodyPr/>
                    <a:lstStyle/>
                    <a:p>
                      <a:pPr marL="0" indent="0" algn="ctr">
                        <a:buNone/>
                      </a:pPr>
                      <a:r>
                        <a:rPr lang="en-US" sz="950" b="1" dirty="0">
                          <a:solidFill>
                            <a:srgbClr val="FFFFFF"/>
                          </a:solidFill>
                        </a:rPr>
                        <a:t>FWP</a:t>
                      </a:r>
                      <a:endParaRPr lang="en-US" sz="950" dirty="0"/>
                    </a:p>
                    <a:p>
                      <a:pPr marL="0" indent="0" algn="ctr">
                        <a:buNone/>
                      </a:pPr>
                      <a:r>
                        <a:rPr lang="en-US" sz="950" b="1" dirty="0">
                          <a:solidFill>
                            <a:srgbClr val="FFFFFF"/>
                          </a:solidFill>
                        </a:rPr>
                        <a:t>Female+partner</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880E4F"/>
                    </a:solidFill>
                  </a:tcPr>
                </a:tc>
                <a:tc>
                  <a:txBody>
                    <a:bodyPr/>
                    <a:lstStyle/>
                    <a:p>
                      <a:pPr marL="0" indent="0" algn="ctr">
                        <a:buNone/>
                      </a:pPr>
                      <a:r>
                        <a:rPr lang="en-US" sz="950" b="1" dirty="0">
                          <a:solidFill>
                            <a:srgbClr val="FFFFFF"/>
                          </a:solidFill>
                        </a:rPr>
                        <a:t>FWoP</a:t>
                      </a:r>
                      <a:endParaRPr lang="en-US" sz="950" dirty="0"/>
                    </a:p>
                    <a:p>
                      <a:pPr marL="0" indent="0" algn="ctr">
                        <a:buNone/>
                      </a:pPr>
                      <a:r>
                        <a:rPr lang="en-US" sz="950" b="1" dirty="0">
                          <a:solidFill>
                            <a:srgbClr val="FFFFFF"/>
                          </a:solidFill>
                        </a:rPr>
                        <a:t>Female alone</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06064"/>
                    </a:solidFill>
                  </a:tcPr>
                </a:tc>
                <a:tc>
                  <a:txBody>
                    <a:bodyPr/>
                    <a:lstStyle/>
                    <a:p>
                      <a:pPr marL="0" indent="0" algn="ctr">
                        <a:buNone/>
                      </a:pPr>
                      <a:r>
                        <a:rPr lang="en-US" sz="950" b="1" dirty="0">
                          <a:solidFill>
                            <a:srgbClr val="FFFFFF"/>
                          </a:solidFill>
                        </a:rPr>
                        <a:t>Official</a:t>
                      </a:r>
                      <a:endParaRPr lang="en-US" sz="950" dirty="0"/>
                    </a:p>
                    <a:p>
                      <a:pPr marL="0" indent="0" algn="ctr">
                        <a:buNone/>
                      </a:pPr>
                      <a:r>
                        <a:rPr lang="en-US" sz="950" b="1" dirty="0">
                          <a:solidFill>
                            <a:srgbClr val="FFFFFF"/>
                          </a:solidFill>
                        </a:rPr>
                        <a:t>CPI 2024</a:t>
                      </a:r>
                      <a:endParaRPr lang="en-US" sz="95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292608">
                <a:tc>
                  <a:txBody>
                    <a:bodyPr/>
                    <a:lstStyle/>
                    <a:p>
                      <a:pPr marL="0" indent="0" algn="l">
                        <a:buNone/>
                      </a:pPr>
                      <a:r>
                        <a:rPr lang="en-US" sz="900" dirty="0">
                          <a:solidFill>
                            <a:srgbClr val="B0BEC5"/>
                          </a:solidFill>
                        </a:rPr>
                        <a:t>01  Food &amp; beverages</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18.8%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13.7%</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18.4%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19.0%</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22.1%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1"/>
                  </a:ext>
                </a:extLst>
              </a:tr>
              <a:tr h="292608">
                <a:tc>
                  <a:txBody>
                    <a:bodyPr/>
                    <a:lstStyle/>
                    <a:p>
                      <a:pPr marL="0" indent="0" algn="l">
                        <a:buNone/>
                      </a:pPr>
                      <a:r>
                        <a:rPr lang="en-US" sz="900" dirty="0">
                          <a:solidFill>
                            <a:srgbClr val="B0BEC5"/>
                          </a:solidFill>
                        </a:rPr>
                        <a:t>03  Clothing &amp; footwear</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3.1%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3.7%</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3.1%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3.1%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4.3%</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2"/>
                  </a:ext>
                </a:extLst>
              </a:tr>
              <a:tr h="292608">
                <a:tc>
                  <a:txBody>
                    <a:bodyPr/>
                    <a:lstStyle/>
                    <a:p>
                      <a:pPr marL="0" indent="0" algn="l">
                        <a:buNone/>
                      </a:pPr>
                      <a:r>
                        <a:rPr lang="en-US" sz="900" dirty="0">
                          <a:solidFill>
                            <a:srgbClr val="B0BEC5"/>
                          </a:solidFill>
                        </a:rPr>
                        <a:t>04  Housing &amp; utilities ⚠</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4.9%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7.4%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6.5%</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6.4%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6F00"/>
                          </a:solidFill>
                        </a:rPr>
                        <a:t>20.9%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3"/>
                  </a:ext>
                </a:extLst>
              </a:tr>
              <a:tr h="292608">
                <a:tc>
                  <a:txBody>
                    <a:bodyPr/>
                    <a:lstStyle/>
                    <a:p>
                      <a:pPr marL="0" indent="0" algn="l">
                        <a:buNone/>
                      </a:pPr>
                      <a:r>
                        <a:rPr lang="en-US" sz="900" dirty="0">
                          <a:solidFill>
                            <a:srgbClr val="B0BEC5"/>
                          </a:solidFill>
                        </a:rPr>
                        <a:t>05  Furniture &amp; home</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6.0%</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4.9%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5.9%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6.3%</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5.3%</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4"/>
                  </a:ext>
                </a:extLst>
              </a:tr>
              <a:tr h="292608">
                <a:tc>
                  <a:txBody>
                    <a:bodyPr/>
                    <a:lstStyle/>
                    <a:p>
                      <a:pPr marL="0" indent="0" algn="l">
                        <a:buNone/>
                      </a:pPr>
                      <a:r>
                        <a:rPr lang="en-US" sz="900" dirty="0">
                          <a:solidFill>
                            <a:srgbClr val="B0BEC5"/>
                          </a:solidFill>
                        </a:rPr>
                        <a:t>06  Health</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0.8%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0.8%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0.8%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0.8%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4.1%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5"/>
                  </a:ext>
                </a:extLst>
              </a:tr>
              <a:tr h="292608">
                <a:tc>
                  <a:txBody>
                    <a:bodyPr/>
                    <a:lstStyle/>
                    <a:p>
                      <a:pPr marL="0" indent="0" algn="l">
                        <a:buNone/>
                      </a:pPr>
                      <a:r>
                        <a:rPr lang="en-US" sz="900" dirty="0">
                          <a:solidFill>
                            <a:srgbClr val="B0BEC5"/>
                          </a:solidFill>
                        </a:rPr>
                        <a:t>07  Transport</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20.9%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19.1%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18.4%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15.7%</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13.5%</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6"/>
                  </a:ext>
                </a:extLst>
              </a:tr>
              <a:tr h="292608">
                <a:tc>
                  <a:txBody>
                    <a:bodyPr/>
                    <a:lstStyle/>
                    <a:p>
                      <a:pPr marL="0" indent="0" algn="l">
                        <a:buNone/>
                      </a:pPr>
                      <a:r>
                        <a:rPr lang="en-US" sz="900" dirty="0">
                          <a:solidFill>
                            <a:srgbClr val="B0BEC5"/>
                          </a:solidFill>
                        </a:rPr>
                        <a:t>08  Communication</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12.6%</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11.5%</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13.6%</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13.9%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4.7%</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7"/>
                  </a:ext>
                </a:extLst>
              </a:tr>
              <a:tr h="292608">
                <a:tc>
                  <a:txBody>
                    <a:bodyPr/>
                    <a:lstStyle/>
                    <a:p>
                      <a:pPr marL="0" indent="0" algn="l">
                        <a:buNone/>
                      </a:pPr>
                      <a:r>
                        <a:rPr lang="en-US" sz="900" dirty="0">
                          <a:solidFill>
                            <a:srgbClr val="B0BEC5"/>
                          </a:solidFill>
                        </a:rPr>
                        <a:t>09  Recreation &amp; culture</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8.9%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7.2%</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8.1%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9.4%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2.5%</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8"/>
                  </a:ext>
                </a:extLst>
              </a:tr>
              <a:tr h="292608">
                <a:tc>
                  <a:txBody>
                    <a:bodyPr/>
                    <a:lstStyle/>
                    <a:p>
                      <a:pPr marL="0" indent="0" algn="l">
                        <a:buNone/>
                      </a:pPr>
                      <a:r>
                        <a:rPr lang="en-US" sz="900" dirty="0">
                          <a:solidFill>
                            <a:srgbClr val="B0BEC5"/>
                          </a:solidFill>
                        </a:rPr>
                        <a:t>10  Education</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8.9%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3.9%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8.8%</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8.0%</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2.5%</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9"/>
                  </a:ext>
                </a:extLst>
              </a:tr>
              <a:tr h="292608">
                <a:tc>
                  <a:txBody>
                    <a:bodyPr/>
                    <a:lstStyle/>
                    <a:p>
                      <a:pPr marL="0" indent="0" algn="l">
                        <a:buNone/>
                      </a:pPr>
                      <a:r>
                        <a:rPr lang="en-US" sz="900" dirty="0">
                          <a:solidFill>
                            <a:srgbClr val="B0BEC5"/>
                          </a:solidFill>
                        </a:rPr>
                        <a:t>11  Restaurants 🔴</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10.1%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6F00"/>
                          </a:solidFill>
                        </a:rPr>
                        <a:t>15.7%</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11.1%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10.3%</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FFFFF"/>
                          </a:solidFill>
                        </a:rPr>
                        <a:t>11.6%</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10"/>
                  </a:ext>
                </a:extLst>
              </a:tr>
              <a:tr h="292608">
                <a:tc>
                  <a:txBody>
                    <a:bodyPr/>
                    <a:lstStyle/>
                    <a:p>
                      <a:pPr marL="0" indent="0" algn="l">
                        <a:buNone/>
                      </a:pPr>
                      <a:r>
                        <a:rPr lang="en-US" sz="900" dirty="0">
                          <a:solidFill>
                            <a:srgbClr val="B0BEC5"/>
                          </a:solidFill>
                        </a:rPr>
                        <a:t>13  Personal care 🔴</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4.6%</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6F00"/>
                          </a:solidFill>
                        </a:rPr>
                        <a:t>11.1%</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4.9%</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6.4%</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FFFFF"/>
                          </a:solidFill>
                        </a:rPr>
                        <a:t>6.0%</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11"/>
                  </a:ext>
                </a:extLst>
              </a:tr>
            </a:tbl>
          </a:graphicData>
        </a:graphic>
      </p:graphicFrame>
      <p:sp>
        <p:nvSpPr>
          <p:cNvPr id="6" name="Text 3"/>
          <p:cNvSpPr/>
          <p:nvPr/>
        </p:nvSpPr>
        <p:spPr>
          <a:xfrm>
            <a:off x="274320" y="4828032"/>
            <a:ext cx="8595360" cy="256032"/>
          </a:xfrm>
          <a:prstGeom prst="rect">
            <a:avLst/>
          </a:prstGeom>
          <a:noFill/>
          <a:ln/>
        </p:spPr>
        <p:txBody>
          <a:bodyPr wrap="square" lIns="0" tIns="0" rIns="0" bIns="0" rtlCol="0" anchor="ctr"/>
          <a:lstStyle/>
          <a:p>
            <a:pPr marL="0" indent="0">
              <a:buNone/>
            </a:pPr>
            <a:r>
              <a:rPr lang="en-US" sz="850" i="1" dirty="0">
                <a:solidFill>
                  <a:srgbClr val="FF8F00"/>
                </a:solidFill>
              </a:rPr>
              <a:t>⚠ Housing: official CPI 20.9% vs G-CPI groups 4.9–7.4%  |  🔴 MWoP outlier: Restaurants 15.7% + Personal care 11.1% — both high-inflation categories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F3A"/>
          </a:solidFill>
          <a:ln w="12700">
            <a:solidFill>
              <a:srgbClr val="0B1F3A"/>
            </a:solidFill>
            <a:prstDash val="solid"/>
          </a:ln>
        </p:spPr>
        <p:txBody>
          <a:bodyPr/>
          <a:lstStyle/>
          <a:p>
            <a:endParaRPr lang="es-MX"/>
          </a:p>
        </p:txBody>
      </p:sp>
      <p:sp>
        <p:nvSpPr>
          <p:cNvPr id="3" name="Text 1"/>
          <p:cNvSpPr/>
          <p:nvPr/>
        </p:nvSpPr>
        <p:spPr>
          <a:xfrm>
            <a:off x="365760" y="91440"/>
            <a:ext cx="36576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KEY FINDING</a:t>
            </a:r>
            <a:endParaRPr lang="en-US" sz="1000" dirty="0"/>
          </a:p>
        </p:txBody>
      </p:sp>
      <p:sp>
        <p:nvSpPr>
          <p:cNvPr id="4" name="Text 2"/>
          <p:cNvSpPr/>
          <p:nvPr/>
        </p:nvSpPr>
        <p:spPr>
          <a:xfrm>
            <a:off x="365760" y="384048"/>
            <a:ext cx="8229600" cy="457200"/>
          </a:xfrm>
          <a:prstGeom prst="rect">
            <a:avLst/>
          </a:prstGeom>
          <a:noFill/>
          <a:ln/>
        </p:spPr>
        <p:txBody>
          <a:bodyPr wrap="square" lIns="0" tIns="0" rIns="0" bIns="0" rtlCol="0" anchor="ctr"/>
          <a:lstStyle/>
          <a:p>
            <a:pPr marL="0" indent="0">
              <a:buNone/>
            </a:pPr>
            <a:r>
              <a:rPr lang="en-US" sz="2200" b="1" dirty="0">
                <a:solidFill>
                  <a:srgbClr val="FFFFFF"/>
                </a:solidFill>
              </a:rPr>
              <a:t>Vulnerability Ranking: An Unexpected Result</a:t>
            </a:r>
            <a:endParaRPr lang="en-US" sz="2200" dirty="0"/>
          </a:p>
        </p:txBody>
      </p:sp>
      <p:sp>
        <p:nvSpPr>
          <p:cNvPr id="5" name="Shape 3"/>
          <p:cNvSpPr/>
          <p:nvPr/>
        </p:nvSpPr>
        <p:spPr>
          <a:xfrm>
            <a:off x="274320" y="1051560"/>
            <a:ext cx="8595360" cy="594360"/>
          </a:xfrm>
          <a:prstGeom prst="rect">
            <a:avLst/>
          </a:prstGeom>
          <a:solidFill>
            <a:srgbClr val="071528"/>
          </a:solidFill>
          <a:ln w="12700">
            <a:solidFill>
              <a:srgbClr val="00BFA5"/>
            </a:solidFill>
            <a:prstDash val="solid"/>
          </a:ln>
        </p:spPr>
        <p:txBody>
          <a:bodyPr/>
          <a:lstStyle/>
          <a:p>
            <a:endParaRPr lang="es-MX"/>
          </a:p>
        </p:txBody>
      </p:sp>
      <p:sp>
        <p:nvSpPr>
          <p:cNvPr id="6" name="Text 4"/>
          <p:cNvSpPr/>
          <p:nvPr/>
        </p:nvSpPr>
        <p:spPr>
          <a:xfrm>
            <a:off x="411480" y="1078992"/>
            <a:ext cx="8321040" cy="548640"/>
          </a:xfrm>
          <a:prstGeom prst="rect">
            <a:avLst/>
          </a:prstGeom>
          <a:noFill/>
          <a:ln/>
        </p:spPr>
        <p:txBody>
          <a:bodyPr wrap="square" lIns="0" tIns="0" rIns="0" bIns="0" rtlCol="0" anchor="ctr"/>
          <a:lstStyle/>
          <a:p>
            <a:pPr marL="0" indent="0" algn="ctr">
              <a:buNone/>
            </a:pPr>
            <a:r>
              <a:rPr lang="en-US" sz="1400" b="1" i="1" dirty="0">
                <a:solidFill>
                  <a:srgbClr val="00BFA5"/>
                </a:solidFill>
              </a:rPr>
              <a:t>"The inflation gap in Mexico is not a gender story — it is a household COMPOSITION story."</a:t>
            </a:r>
            <a:endParaRPr lang="en-US" sz="1400" dirty="0"/>
          </a:p>
        </p:txBody>
      </p:sp>
      <p:sp>
        <p:nvSpPr>
          <p:cNvPr id="7" name="Shape 5"/>
          <p:cNvSpPr/>
          <p:nvPr/>
        </p:nvSpPr>
        <p:spPr>
          <a:xfrm>
            <a:off x="274320" y="1664208"/>
            <a:ext cx="4114800" cy="804672"/>
          </a:xfrm>
          <a:prstGeom prst="rect">
            <a:avLst/>
          </a:prstGeom>
          <a:solidFill>
            <a:srgbClr val="FFFFFF"/>
          </a:solidFill>
          <a:ln w="12700">
            <a:solidFill>
              <a:srgbClr val="0D3380"/>
            </a:solidFill>
            <a:prstDash val="solid"/>
          </a:ln>
          <a:effectLst>
            <a:outerShdw blurRad="101600" dist="38100" dir="8100000" algn="bl" rotWithShape="0">
              <a:srgbClr val="000000">
                <a:alpha val="12000"/>
              </a:srgbClr>
            </a:outerShdw>
          </a:effectLst>
        </p:spPr>
        <p:txBody>
          <a:bodyPr/>
          <a:lstStyle/>
          <a:p>
            <a:endParaRPr lang="es-MX"/>
          </a:p>
        </p:txBody>
      </p:sp>
      <p:sp>
        <p:nvSpPr>
          <p:cNvPr id="8" name="Shape 6"/>
          <p:cNvSpPr/>
          <p:nvPr/>
        </p:nvSpPr>
        <p:spPr>
          <a:xfrm>
            <a:off x="274320" y="1664208"/>
            <a:ext cx="164592" cy="804672"/>
          </a:xfrm>
          <a:prstGeom prst="rect">
            <a:avLst/>
          </a:prstGeom>
          <a:solidFill>
            <a:srgbClr val="0D3380"/>
          </a:solidFill>
          <a:ln w="12700">
            <a:solidFill>
              <a:srgbClr val="0D3380"/>
            </a:solidFill>
            <a:prstDash val="solid"/>
          </a:ln>
        </p:spPr>
        <p:txBody>
          <a:bodyPr/>
          <a:lstStyle/>
          <a:p>
            <a:endParaRPr lang="es-MX"/>
          </a:p>
        </p:txBody>
      </p:sp>
      <p:sp>
        <p:nvSpPr>
          <p:cNvPr id="9" name="Text 7"/>
          <p:cNvSpPr/>
          <p:nvPr/>
        </p:nvSpPr>
        <p:spPr>
          <a:xfrm>
            <a:off x="512064" y="1719072"/>
            <a:ext cx="3749040" cy="256032"/>
          </a:xfrm>
          <a:prstGeom prst="rect">
            <a:avLst/>
          </a:prstGeom>
          <a:noFill/>
          <a:ln/>
        </p:spPr>
        <p:txBody>
          <a:bodyPr wrap="square" lIns="0" tIns="0" rIns="0" bIns="0" rtlCol="0" anchor="ctr"/>
          <a:lstStyle/>
          <a:p>
            <a:pPr marL="0" indent="0">
              <a:buNone/>
            </a:pPr>
            <a:r>
              <a:rPr lang="en-US" sz="1050" b="1" dirty="0">
                <a:solidFill>
                  <a:srgbClr val="0D3380"/>
                </a:solidFill>
              </a:rPr>
              <a:t>MWoP ranks #1 — HIGHEST</a:t>
            </a:r>
            <a:endParaRPr lang="en-US" sz="1050" dirty="0"/>
          </a:p>
        </p:txBody>
      </p:sp>
      <p:sp>
        <p:nvSpPr>
          <p:cNvPr id="10" name="Text 8"/>
          <p:cNvSpPr/>
          <p:nvPr/>
        </p:nvSpPr>
        <p:spPr>
          <a:xfrm>
            <a:off x="512064" y="1993392"/>
            <a:ext cx="3749040" cy="438912"/>
          </a:xfrm>
          <a:prstGeom prst="rect">
            <a:avLst/>
          </a:prstGeom>
          <a:noFill/>
          <a:ln/>
        </p:spPr>
        <p:txBody>
          <a:bodyPr wrap="square" lIns="0" tIns="0" rIns="0" bIns="0" rtlCol="0" anchor="ctr"/>
          <a:lstStyle/>
          <a:p>
            <a:pPr marL="0" indent="0">
              <a:buNone/>
            </a:pPr>
            <a:r>
              <a:rPr lang="en-US" sz="950" dirty="0">
                <a:solidFill>
                  <a:srgbClr val="37474F"/>
                </a:solidFill>
              </a:rPr>
              <a:t>Male-alone households face the highest inflation. Restaurants (15.7%) + Personal care (11.1%) — both high-inflation categories — produce a higher G-CPI.</a:t>
            </a:r>
            <a:endParaRPr lang="en-US" sz="950" dirty="0"/>
          </a:p>
        </p:txBody>
      </p:sp>
      <p:sp>
        <p:nvSpPr>
          <p:cNvPr id="11" name="Shape 9"/>
          <p:cNvSpPr/>
          <p:nvPr/>
        </p:nvSpPr>
        <p:spPr>
          <a:xfrm>
            <a:off x="274320" y="2578608"/>
            <a:ext cx="4114800" cy="804672"/>
          </a:xfrm>
          <a:prstGeom prst="rect">
            <a:avLst/>
          </a:prstGeom>
          <a:solidFill>
            <a:srgbClr val="FFFFFF"/>
          </a:solidFill>
          <a:ln w="12700">
            <a:solidFill>
              <a:srgbClr val="880E4F"/>
            </a:solidFill>
            <a:prstDash val="solid"/>
          </a:ln>
          <a:effectLst>
            <a:outerShdw blurRad="101600" dist="38100" dir="8100000" algn="bl" rotWithShape="0">
              <a:srgbClr val="000000">
                <a:alpha val="12000"/>
              </a:srgbClr>
            </a:outerShdw>
          </a:effectLst>
        </p:spPr>
        <p:txBody>
          <a:bodyPr/>
          <a:lstStyle/>
          <a:p>
            <a:endParaRPr lang="es-MX"/>
          </a:p>
        </p:txBody>
      </p:sp>
      <p:sp>
        <p:nvSpPr>
          <p:cNvPr id="12" name="Shape 10"/>
          <p:cNvSpPr/>
          <p:nvPr/>
        </p:nvSpPr>
        <p:spPr>
          <a:xfrm>
            <a:off x="274320" y="2578608"/>
            <a:ext cx="164592" cy="804672"/>
          </a:xfrm>
          <a:prstGeom prst="rect">
            <a:avLst/>
          </a:prstGeom>
          <a:solidFill>
            <a:srgbClr val="880E4F"/>
          </a:solidFill>
          <a:ln w="12700">
            <a:solidFill>
              <a:srgbClr val="880E4F"/>
            </a:solidFill>
            <a:prstDash val="solid"/>
          </a:ln>
        </p:spPr>
        <p:txBody>
          <a:bodyPr/>
          <a:lstStyle/>
          <a:p>
            <a:endParaRPr lang="es-MX"/>
          </a:p>
        </p:txBody>
      </p:sp>
      <p:sp>
        <p:nvSpPr>
          <p:cNvPr id="13" name="Text 11"/>
          <p:cNvSpPr/>
          <p:nvPr/>
        </p:nvSpPr>
        <p:spPr>
          <a:xfrm>
            <a:off x="512064" y="2633472"/>
            <a:ext cx="3749040" cy="256032"/>
          </a:xfrm>
          <a:prstGeom prst="rect">
            <a:avLst/>
          </a:prstGeom>
          <a:noFill/>
          <a:ln/>
        </p:spPr>
        <p:txBody>
          <a:bodyPr wrap="square" lIns="0" tIns="0" rIns="0" bIns="0" rtlCol="0" anchor="ctr"/>
          <a:lstStyle/>
          <a:p>
            <a:pPr marL="0" indent="0">
              <a:buNone/>
            </a:pPr>
            <a:r>
              <a:rPr lang="en-US" sz="1050" b="1" dirty="0">
                <a:solidFill>
                  <a:srgbClr val="880E4F"/>
                </a:solidFill>
              </a:rPr>
              <a:t>FWoP ranks #3 — hypothesis REJECTED</a:t>
            </a:r>
            <a:endParaRPr lang="en-US" sz="1050" dirty="0"/>
          </a:p>
        </p:txBody>
      </p:sp>
      <p:sp>
        <p:nvSpPr>
          <p:cNvPr id="14" name="Text 12"/>
          <p:cNvSpPr/>
          <p:nvPr/>
        </p:nvSpPr>
        <p:spPr>
          <a:xfrm>
            <a:off x="512064" y="2907792"/>
            <a:ext cx="3749040" cy="438912"/>
          </a:xfrm>
          <a:prstGeom prst="rect">
            <a:avLst/>
          </a:prstGeom>
          <a:noFill/>
          <a:ln/>
        </p:spPr>
        <p:txBody>
          <a:bodyPr wrap="square" lIns="0" tIns="0" rIns="0" bIns="0" rtlCol="0" anchor="ctr"/>
          <a:lstStyle/>
          <a:p>
            <a:pPr marL="0" indent="0">
              <a:buNone/>
            </a:pPr>
            <a:r>
              <a:rPr lang="en-US" sz="950" dirty="0">
                <a:solidFill>
                  <a:srgbClr val="37474F"/>
                </a:solidFill>
              </a:rPr>
              <a:t>Female-alone households pay LESS than both male groups. Higher food spending (mid-inflation, 5.8%) provides relative protection.</a:t>
            </a:r>
            <a:endParaRPr lang="en-US" sz="950" dirty="0"/>
          </a:p>
        </p:txBody>
      </p:sp>
      <p:sp>
        <p:nvSpPr>
          <p:cNvPr id="15" name="Shape 13"/>
          <p:cNvSpPr/>
          <p:nvPr/>
        </p:nvSpPr>
        <p:spPr>
          <a:xfrm>
            <a:off x="274320" y="3493008"/>
            <a:ext cx="4114800" cy="804672"/>
          </a:xfrm>
          <a:prstGeom prst="rect">
            <a:avLst/>
          </a:prstGeom>
          <a:solidFill>
            <a:srgbClr val="FFFFFF"/>
          </a:solidFill>
          <a:ln w="12700">
            <a:solidFill>
              <a:srgbClr val="4527A0"/>
            </a:solidFill>
            <a:prstDash val="solid"/>
          </a:ln>
          <a:effectLst>
            <a:outerShdw blurRad="101600" dist="38100" dir="8100000" algn="bl" rotWithShape="0">
              <a:srgbClr val="000000">
                <a:alpha val="12000"/>
              </a:srgbClr>
            </a:outerShdw>
          </a:effectLst>
        </p:spPr>
        <p:txBody>
          <a:bodyPr/>
          <a:lstStyle/>
          <a:p>
            <a:endParaRPr lang="es-MX"/>
          </a:p>
        </p:txBody>
      </p:sp>
      <p:sp>
        <p:nvSpPr>
          <p:cNvPr id="16" name="Shape 14"/>
          <p:cNvSpPr/>
          <p:nvPr/>
        </p:nvSpPr>
        <p:spPr>
          <a:xfrm>
            <a:off x="274320" y="3493008"/>
            <a:ext cx="164592" cy="804672"/>
          </a:xfrm>
          <a:prstGeom prst="rect">
            <a:avLst/>
          </a:prstGeom>
          <a:solidFill>
            <a:srgbClr val="4527A0"/>
          </a:solidFill>
          <a:ln w="12700">
            <a:solidFill>
              <a:srgbClr val="4527A0"/>
            </a:solidFill>
            <a:prstDash val="solid"/>
          </a:ln>
        </p:spPr>
        <p:txBody>
          <a:bodyPr/>
          <a:lstStyle/>
          <a:p>
            <a:endParaRPr lang="es-MX"/>
          </a:p>
        </p:txBody>
      </p:sp>
      <p:sp>
        <p:nvSpPr>
          <p:cNvPr id="17" name="Text 15"/>
          <p:cNvSpPr/>
          <p:nvPr/>
        </p:nvSpPr>
        <p:spPr>
          <a:xfrm>
            <a:off x="512064" y="3547872"/>
            <a:ext cx="3749040" cy="256032"/>
          </a:xfrm>
          <a:prstGeom prst="rect">
            <a:avLst/>
          </a:prstGeom>
          <a:noFill/>
          <a:ln/>
        </p:spPr>
        <p:txBody>
          <a:bodyPr wrap="square" lIns="0" tIns="0" rIns="0" bIns="0" rtlCol="0" anchor="ctr"/>
          <a:lstStyle/>
          <a:p>
            <a:pPr marL="0" indent="0">
              <a:buNone/>
            </a:pPr>
            <a:r>
              <a:rPr lang="en-US" sz="1050" b="1" dirty="0">
                <a:solidFill>
                  <a:srgbClr val="4527A0"/>
                </a:solidFill>
              </a:rPr>
              <a:t>Composition, not sex, drives the gap</a:t>
            </a:r>
            <a:endParaRPr lang="en-US" sz="1050" dirty="0"/>
          </a:p>
        </p:txBody>
      </p:sp>
      <p:sp>
        <p:nvSpPr>
          <p:cNvPr id="18" name="Text 16"/>
          <p:cNvSpPr/>
          <p:nvPr/>
        </p:nvSpPr>
        <p:spPr>
          <a:xfrm>
            <a:off x="512064" y="3822192"/>
            <a:ext cx="3749040" cy="438912"/>
          </a:xfrm>
          <a:prstGeom prst="rect">
            <a:avLst/>
          </a:prstGeom>
          <a:noFill/>
          <a:ln/>
        </p:spPr>
        <p:txBody>
          <a:bodyPr wrap="square" lIns="0" tIns="0" rIns="0" bIns="0" rtlCol="0" anchor="ctr"/>
          <a:lstStyle/>
          <a:p>
            <a:pPr marL="0" indent="0">
              <a:buNone/>
            </a:pPr>
            <a:r>
              <a:rPr lang="en-US" sz="950" dirty="0">
                <a:solidFill>
                  <a:srgbClr val="37474F"/>
                </a:solidFill>
              </a:rPr>
              <a:t>Household structure — alone vs. with partner — is the stronger predictor of inflation exposure. Gender framing alone is insufficient.</a:t>
            </a:r>
            <a:endParaRPr lang="en-US" sz="950" dirty="0"/>
          </a:p>
        </p:txBody>
      </p:sp>
      <p:sp>
        <p:nvSpPr>
          <p:cNvPr id="19" name="Shape 17"/>
          <p:cNvSpPr/>
          <p:nvPr/>
        </p:nvSpPr>
        <p:spPr>
          <a:xfrm>
            <a:off x="4663440" y="2888488"/>
            <a:ext cx="914400" cy="1729232"/>
          </a:xfrm>
          <a:prstGeom prst="rect">
            <a:avLst/>
          </a:prstGeom>
          <a:solidFill>
            <a:srgbClr val="0D3380"/>
          </a:solidFill>
          <a:ln w="12700">
            <a:solidFill>
              <a:srgbClr val="0D3380"/>
            </a:solidFill>
            <a:prstDash val="solid"/>
          </a:ln>
          <a:effectLst>
            <a:outerShdw blurRad="101600" dist="38100" dir="8100000" algn="bl" rotWithShape="0">
              <a:srgbClr val="000000">
                <a:alpha val="12000"/>
              </a:srgbClr>
            </a:outerShdw>
          </a:effectLst>
        </p:spPr>
        <p:txBody>
          <a:bodyPr/>
          <a:lstStyle/>
          <a:p>
            <a:endParaRPr lang="es-MX"/>
          </a:p>
        </p:txBody>
      </p:sp>
      <p:sp>
        <p:nvSpPr>
          <p:cNvPr id="20" name="Text 18"/>
          <p:cNvSpPr/>
          <p:nvPr/>
        </p:nvSpPr>
        <p:spPr>
          <a:xfrm>
            <a:off x="4663440" y="2614168"/>
            <a:ext cx="914400" cy="246888"/>
          </a:xfrm>
          <a:prstGeom prst="rect">
            <a:avLst/>
          </a:prstGeom>
          <a:noFill/>
          <a:ln/>
        </p:spPr>
        <p:txBody>
          <a:bodyPr wrap="square" lIns="0" tIns="0" rIns="0" bIns="0" rtlCol="0" anchor="ctr"/>
          <a:lstStyle/>
          <a:p>
            <a:pPr marL="0" indent="0" algn="ctr">
              <a:buNone/>
            </a:pPr>
            <a:r>
              <a:rPr lang="en-US" sz="1200" b="1" dirty="0">
                <a:solidFill>
                  <a:srgbClr val="0D3380"/>
                </a:solidFill>
              </a:rPr>
              <a:t>4.67%</a:t>
            </a:r>
            <a:endParaRPr lang="en-US" sz="1200" dirty="0"/>
          </a:p>
        </p:txBody>
      </p:sp>
      <p:sp>
        <p:nvSpPr>
          <p:cNvPr id="21" name="Shape 19"/>
          <p:cNvSpPr/>
          <p:nvPr/>
        </p:nvSpPr>
        <p:spPr>
          <a:xfrm>
            <a:off x="4709160" y="2385568"/>
            <a:ext cx="822960" cy="201168"/>
          </a:xfrm>
          <a:prstGeom prst="rect">
            <a:avLst/>
          </a:prstGeom>
          <a:solidFill>
            <a:srgbClr val="0D3380"/>
          </a:solidFill>
          <a:ln w="12700">
            <a:solidFill>
              <a:srgbClr val="0D3380"/>
            </a:solidFill>
            <a:prstDash val="solid"/>
          </a:ln>
        </p:spPr>
        <p:txBody>
          <a:bodyPr/>
          <a:lstStyle/>
          <a:p>
            <a:endParaRPr lang="es-MX"/>
          </a:p>
        </p:txBody>
      </p:sp>
      <p:sp>
        <p:nvSpPr>
          <p:cNvPr id="22" name="Text 20"/>
          <p:cNvSpPr/>
          <p:nvPr/>
        </p:nvSpPr>
        <p:spPr>
          <a:xfrm>
            <a:off x="4709160" y="2385568"/>
            <a:ext cx="822960" cy="201168"/>
          </a:xfrm>
          <a:prstGeom prst="rect">
            <a:avLst/>
          </a:prstGeom>
          <a:noFill/>
          <a:ln/>
        </p:spPr>
        <p:txBody>
          <a:bodyPr wrap="square" lIns="0" tIns="0" rIns="0" bIns="0" rtlCol="0" anchor="ctr"/>
          <a:lstStyle/>
          <a:p>
            <a:pPr marL="0" indent="0" algn="ctr">
              <a:buNone/>
            </a:pPr>
            <a:r>
              <a:rPr lang="en-US" sz="800" b="1" dirty="0">
                <a:solidFill>
                  <a:srgbClr val="FFFFFF"/>
                </a:solidFill>
              </a:rPr>
              <a:t>HIGHEST</a:t>
            </a:r>
            <a:endParaRPr lang="en-US" sz="800" dirty="0"/>
          </a:p>
        </p:txBody>
      </p:sp>
      <p:sp>
        <p:nvSpPr>
          <p:cNvPr id="23" name="Shape 21"/>
          <p:cNvSpPr/>
          <p:nvPr/>
        </p:nvSpPr>
        <p:spPr>
          <a:xfrm>
            <a:off x="5742432" y="4010152"/>
            <a:ext cx="914400" cy="607568"/>
          </a:xfrm>
          <a:prstGeom prst="rect">
            <a:avLst/>
          </a:prstGeom>
          <a:solidFill>
            <a:srgbClr val="1565C0"/>
          </a:solidFill>
          <a:ln w="12700">
            <a:solidFill>
              <a:srgbClr val="1565C0"/>
            </a:solidFill>
            <a:prstDash val="solid"/>
          </a:ln>
          <a:effectLst>
            <a:outerShdw blurRad="101600" dist="38100" dir="8100000" algn="bl" rotWithShape="0">
              <a:srgbClr val="000000">
                <a:alpha val="12000"/>
              </a:srgbClr>
            </a:outerShdw>
          </a:effectLst>
        </p:spPr>
        <p:txBody>
          <a:bodyPr/>
          <a:lstStyle/>
          <a:p>
            <a:endParaRPr lang="es-MX"/>
          </a:p>
        </p:txBody>
      </p:sp>
      <p:sp>
        <p:nvSpPr>
          <p:cNvPr id="24" name="Text 22"/>
          <p:cNvSpPr/>
          <p:nvPr/>
        </p:nvSpPr>
        <p:spPr>
          <a:xfrm>
            <a:off x="5742432" y="3735832"/>
            <a:ext cx="914400" cy="246888"/>
          </a:xfrm>
          <a:prstGeom prst="rect">
            <a:avLst/>
          </a:prstGeom>
          <a:noFill/>
          <a:ln/>
        </p:spPr>
        <p:txBody>
          <a:bodyPr wrap="square" lIns="0" tIns="0" rIns="0" bIns="0" rtlCol="0" anchor="ctr"/>
          <a:lstStyle/>
          <a:p>
            <a:pPr marL="0" indent="0" algn="ctr">
              <a:buNone/>
            </a:pPr>
            <a:r>
              <a:rPr lang="en-US" sz="1200" b="1" dirty="0">
                <a:solidFill>
                  <a:srgbClr val="1565C0"/>
                </a:solidFill>
              </a:rPr>
              <a:t>4.43%</a:t>
            </a:r>
            <a:endParaRPr lang="en-US" sz="1200" dirty="0"/>
          </a:p>
        </p:txBody>
      </p:sp>
      <p:sp>
        <p:nvSpPr>
          <p:cNvPr id="25" name="Shape 23"/>
          <p:cNvSpPr/>
          <p:nvPr/>
        </p:nvSpPr>
        <p:spPr>
          <a:xfrm>
            <a:off x="6821424" y="4103624"/>
            <a:ext cx="914400" cy="514096"/>
          </a:xfrm>
          <a:prstGeom prst="rect">
            <a:avLst/>
          </a:prstGeom>
          <a:solidFill>
            <a:srgbClr val="880E4F"/>
          </a:solidFill>
          <a:ln w="12700">
            <a:solidFill>
              <a:srgbClr val="880E4F"/>
            </a:solidFill>
            <a:prstDash val="solid"/>
          </a:ln>
          <a:effectLst>
            <a:outerShdw blurRad="101600" dist="38100" dir="8100000" algn="bl" rotWithShape="0">
              <a:srgbClr val="000000">
                <a:alpha val="12000"/>
              </a:srgbClr>
            </a:outerShdw>
          </a:effectLst>
        </p:spPr>
        <p:txBody>
          <a:bodyPr/>
          <a:lstStyle/>
          <a:p>
            <a:endParaRPr lang="es-MX"/>
          </a:p>
        </p:txBody>
      </p:sp>
      <p:sp>
        <p:nvSpPr>
          <p:cNvPr id="26" name="Text 24"/>
          <p:cNvSpPr/>
          <p:nvPr/>
        </p:nvSpPr>
        <p:spPr>
          <a:xfrm>
            <a:off x="6821424" y="3829304"/>
            <a:ext cx="914400" cy="246888"/>
          </a:xfrm>
          <a:prstGeom prst="rect">
            <a:avLst/>
          </a:prstGeom>
          <a:noFill/>
          <a:ln/>
        </p:spPr>
        <p:txBody>
          <a:bodyPr wrap="square" lIns="0" tIns="0" rIns="0" bIns="0" rtlCol="0" anchor="ctr"/>
          <a:lstStyle/>
          <a:p>
            <a:pPr marL="0" indent="0" algn="ctr">
              <a:buNone/>
            </a:pPr>
            <a:r>
              <a:rPr lang="en-US" sz="1200" b="1" dirty="0">
                <a:solidFill>
                  <a:srgbClr val="880E4F"/>
                </a:solidFill>
              </a:rPr>
              <a:t>4.41%</a:t>
            </a:r>
            <a:endParaRPr lang="en-US" sz="1200" dirty="0"/>
          </a:p>
        </p:txBody>
      </p:sp>
      <p:sp>
        <p:nvSpPr>
          <p:cNvPr id="27" name="Shape 25"/>
          <p:cNvSpPr/>
          <p:nvPr/>
        </p:nvSpPr>
        <p:spPr>
          <a:xfrm>
            <a:off x="7900416" y="4197096"/>
            <a:ext cx="914400" cy="420624"/>
          </a:xfrm>
          <a:prstGeom prst="rect">
            <a:avLst/>
          </a:prstGeom>
          <a:solidFill>
            <a:srgbClr val="006064"/>
          </a:solidFill>
          <a:ln w="12700">
            <a:solidFill>
              <a:srgbClr val="006064"/>
            </a:solidFill>
            <a:prstDash val="solid"/>
          </a:ln>
          <a:effectLst>
            <a:outerShdw blurRad="101600" dist="38100" dir="8100000" algn="bl" rotWithShape="0">
              <a:srgbClr val="000000">
                <a:alpha val="12000"/>
              </a:srgbClr>
            </a:outerShdw>
          </a:effectLst>
        </p:spPr>
        <p:txBody>
          <a:bodyPr/>
          <a:lstStyle/>
          <a:p>
            <a:endParaRPr lang="es-MX"/>
          </a:p>
        </p:txBody>
      </p:sp>
      <p:sp>
        <p:nvSpPr>
          <p:cNvPr id="28" name="Text 26"/>
          <p:cNvSpPr/>
          <p:nvPr/>
        </p:nvSpPr>
        <p:spPr>
          <a:xfrm>
            <a:off x="7900416" y="3922776"/>
            <a:ext cx="914400" cy="246888"/>
          </a:xfrm>
          <a:prstGeom prst="rect">
            <a:avLst/>
          </a:prstGeom>
          <a:noFill/>
          <a:ln/>
        </p:spPr>
        <p:txBody>
          <a:bodyPr wrap="square" lIns="0" tIns="0" rIns="0" bIns="0" rtlCol="0" anchor="ctr"/>
          <a:lstStyle/>
          <a:p>
            <a:pPr marL="0" indent="0" algn="ctr">
              <a:buNone/>
            </a:pPr>
            <a:r>
              <a:rPr lang="en-US" sz="1200" b="1" dirty="0">
                <a:solidFill>
                  <a:srgbClr val="006064"/>
                </a:solidFill>
              </a:rPr>
              <a:t>4.39%</a:t>
            </a:r>
            <a:endParaRPr lang="en-US" sz="1200" dirty="0"/>
          </a:p>
        </p:txBody>
      </p:sp>
      <p:sp>
        <p:nvSpPr>
          <p:cNvPr id="29" name="Shape 27"/>
          <p:cNvSpPr/>
          <p:nvPr/>
        </p:nvSpPr>
        <p:spPr>
          <a:xfrm>
            <a:off x="7946136" y="3694176"/>
            <a:ext cx="822960" cy="201168"/>
          </a:xfrm>
          <a:prstGeom prst="rect">
            <a:avLst/>
          </a:prstGeom>
          <a:solidFill>
            <a:srgbClr val="006064"/>
          </a:solidFill>
          <a:ln w="12700">
            <a:solidFill>
              <a:srgbClr val="006064"/>
            </a:solidFill>
            <a:prstDash val="solid"/>
          </a:ln>
        </p:spPr>
        <p:txBody>
          <a:bodyPr/>
          <a:lstStyle/>
          <a:p>
            <a:endParaRPr lang="es-MX"/>
          </a:p>
        </p:txBody>
      </p:sp>
      <p:sp>
        <p:nvSpPr>
          <p:cNvPr id="30" name="Text 28"/>
          <p:cNvSpPr/>
          <p:nvPr/>
        </p:nvSpPr>
        <p:spPr>
          <a:xfrm>
            <a:off x="7946136" y="3694176"/>
            <a:ext cx="822960" cy="201168"/>
          </a:xfrm>
          <a:prstGeom prst="rect">
            <a:avLst/>
          </a:prstGeom>
          <a:noFill/>
          <a:ln/>
        </p:spPr>
        <p:txBody>
          <a:bodyPr wrap="square" lIns="0" tIns="0" rIns="0" bIns="0" rtlCol="0" anchor="ctr"/>
          <a:lstStyle/>
          <a:p>
            <a:pPr marL="0" indent="0" algn="ctr">
              <a:buNone/>
            </a:pPr>
            <a:r>
              <a:rPr lang="en-US" sz="800" b="1" dirty="0">
                <a:solidFill>
                  <a:srgbClr val="FFFFFF"/>
                </a:solidFill>
              </a:rPr>
              <a:t>LOWEST</a:t>
            </a:r>
            <a:endParaRPr lang="en-US" sz="800" dirty="0"/>
          </a:p>
        </p:txBody>
      </p:sp>
      <p:sp>
        <p:nvSpPr>
          <p:cNvPr id="31" name="Shape 29"/>
          <p:cNvSpPr/>
          <p:nvPr/>
        </p:nvSpPr>
        <p:spPr>
          <a:xfrm>
            <a:off x="4480560" y="4617720"/>
            <a:ext cx="4480560" cy="0"/>
          </a:xfrm>
          <a:prstGeom prst="line">
            <a:avLst/>
          </a:prstGeom>
          <a:noFill/>
          <a:ln w="12700">
            <a:solidFill>
              <a:srgbClr val="90A4AE"/>
            </a:solidFill>
            <a:prstDash val="solid"/>
          </a:ln>
        </p:spPr>
        <p:txBody>
          <a:bodyPr/>
          <a:lstStyle/>
          <a:p>
            <a:endParaRPr lang="es-MX"/>
          </a:p>
        </p:txBody>
      </p:sp>
      <p:sp>
        <p:nvSpPr>
          <p:cNvPr id="32" name="Text 30"/>
          <p:cNvSpPr/>
          <p:nvPr/>
        </p:nvSpPr>
        <p:spPr>
          <a:xfrm>
            <a:off x="4572000" y="4663440"/>
            <a:ext cx="1097280" cy="365760"/>
          </a:xfrm>
          <a:prstGeom prst="rect">
            <a:avLst/>
          </a:prstGeom>
          <a:noFill/>
          <a:ln/>
        </p:spPr>
        <p:txBody>
          <a:bodyPr wrap="square" lIns="0" tIns="0" rIns="0" bIns="0" rtlCol="0" anchor="ctr"/>
          <a:lstStyle/>
          <a:p>
            <a:pPr marL="0" indent="0" algn="ctr">
              <a:buNone/>
            </a:pPr>
            <a:r>
              <a:rPr lang="en-US" sz="850" dirty="0">
                <a:solidFill>
                  <a:srgbClr val="263238"/>
                </a:solidFill>
              </a:rPr>
              <a:t>MWoP</a:t>
            </a:r>
            <a:endParaRPr lang="en-US" sz="850" dirty="0"/>
          </a:p>
          <a:p>
            <a:pPr marL="0" indent="0" algn="ctr">
              <a:buNone/>
            </a:pPr>
            <a:r>
              <a:rPr lang="en-US" sz="850" dirty="0">
                <a:solidFill>
                  <a:srgbClr val="263238"/>
                </a:solidFill>
              </a:rPr>
              <a:t>Male alone</a:t>
            </a:r>
            <a:endParaRPr lang="en-US" sz="850" dirty="0"/>
          </a:p>
        </p:txBody>
      </p:sp>
      <p:sp>
        <p:nvSpPr>
          <p:cNvPr id="33" name="Text 31"/>
          <p:cNvSpPr/>
          <p:nvPr/>
        </p:nvSpPr>
        <p:spPr>
          <a:xfrm>
            <a:off x="5650992" y="4663440"/>
            <a:ext cx="1097280" cy="365760"/>
          </a:xfrm>
          <a:prstGeom prst="rect">
            <a:avLst/>
          </a:prstGeom>
          <a:noFill/>
          <a:ln/>
        </p:spPr>
        <p:txBody>
          <a:bodyPr wrap="square" lIns="0" tIns="0" rIns="0" bIns="0" rtlCol="0" anchor="ctr"/>
          <a:lstStyle/>
          <a:p>
            <a:pPr marL="0" indent="0" algn="ctr">
              <a:buNone/>
            </a:pPr>
            <a:r>
              <a:rPr lang="en-US" sz="850" dirty="0">
                <a:solidFill>
                  <a:srgbClr val="263238"/>
                </a:solidFill>
              </a:rPr>
              <a:t>MWP</a:t>
            </a:r>
            <a:endParaRPr lang="en-US" sz="850" dirty="0"/>
          </a:p>
          <a:p>
            <a:pPr marL="0" indent="0" algn="ctr">
              <a:buNone/>
            </a:pPr>
            <a:r>
              <a:rPr lang="en-US" sz="850" dirty="0">
                <a:solidFill>
                  <a:srgbClr val="263238"/>
                </a:solidFill>
              </a:rPr>
              <a:t>Male+partner</a:t>
            </a:r>
            <a:endParaRPr lang="en-US" sz="850" dirty="0"/>
          </a:p>
        </p:txBody>
      </p:sp>
      <p:sp>
        <p:nvSpPr>
          <p:cNvPr id="34" name="Text 32"/>
          <p:cNvSpPr/>
          <p:nvPr/>
        </p:nvSpPr>
        <p:spPr>
          <a:xfrm>
            <a:off x="6729984" y="4663440"/>
            <a:ext cx="1097280" cy="365760"/>
          </a:xfrm>
          <a:prstGeom prst="rect">
            <a:avLst/>
          </a:prstGeom>
          <a:noFill/>
          <a:ln/>
        </p:spPr>
        <p:txBody>
          <a:bodyPr wrap="square" lIns="0" tIns="0" rIns="0" bIns="0" rtlCol="0" anchor="ctr"/>
          <a:lstStyle/>
          <a:p>
            <a:pPr marL="0" indent="0" algn="ctr">
              <a:buNone/>
            </a:pPr>
            <a:r>
              <a:rPr lang="en-US" sz="850" dirty="0">
                <a:solidFill>
                  <a:srgbClr val="263238"/>
                </a:solidFill>
              </a:rPr>
              <a:t>FWoP</a:t>
            </a:r>
            <a:endParaRPr lang="en-US" sz="850" dirty="0"/>
          </a:p>
          <a:p>
            <a:pPr marL="0" indent="0" algn="ctr">
              <a:buNone/>
            </a:pPr>
            <a:r>
              <a:rPr lang="en-US" sz="850" dirty="0">
                <a:solidFill>
                  <a:srgbClr val="263238"/>
                </a:solidFill>
              </a:rPr>
              <a:t>Female alone</a:t>
            </a:r>
            <a:endParaRPr lang="en-US" sz="850" dirty="0"/>
          </a:p>
        </p:txBody>
      </p:sp>
      <p:sp>
        <p:nvSpPr>
          <p:cNvPr id="35" name="Text 33"/>
          <p:cNvSpPr/>
          <p:nvPr/>
        </p:nvSpPr>
        <p:spPr>
          <a:xfrm>
            <a:off x="7808976" y="4663440"/>
            <a:ext cx="1097280" cy="365760"/>
          </a:xfrm>
          <a:prstGeom prst="rect">
            <a:avLst/>
          </a:prstGeom>
          <a:noFill/>
          <a:ln/>
        </p:spPr>
        <p:txBody>
          <a:bodyPr wrap="square" lIns="0" tIns="0" rIns="0" bIns="0" rtlCol="0" anchor="ctr"/>
          <a:lstStyle/>
          <a:p>
            <a:pPr marL="0" indent="0" algn="ctr">
              <a:buNone/>
            </a:pPr>
            <a:r>
              <a:rPr lang="en-US" sz="850" dirty="0">
                <a:solidFill>
                  <a:srgbClr val="263238"/>
                </a:solidFill>
              </a:rPr>
              <a:t>FWP</a:t>
            </a:r>
            <a:endParaRPr lang="en-US" sz="850" dirty="0"/>
          </a:p>
          <a:p>
            <a:pPr marL="0" indent="0" algn="ctr">
              <a:buNone/>
            </a:pPr>
            <a:r>
              <a:rPr lang="en-US" sz="850" dirty="0">
                <a:solidFill>
                  <a:srgbClr val="263238"/>
                </a:solidFill>
              </a:rPr>
              <a:t>Female+partner</a:t>
            </a:r>
            <a:endParaRPr lang="en-US" sz="850" dirty="0"/>
          </a:p>
        </p:txBody>
      </p:sp>
      <p:sp>
        <p:nvSpPr>
          <p:cNvPr id="36" name="Text 34"/>
          <p:cNvSpPr/>
          <p:nvPr/>
        </p:nvSpPr>
        <p:spPr>
          <a:xfrm>
            <a:off x="274320" y="4892040"/>
            <a:ext cx="8595360" cy="219456"/>
          </a:xfrm>
          <a:prstGeom prst="rect">
            <a:avLst/>
          </a:prstGeom>
          <a:noFill/>
          <a:ln/>
        </p:spPr>
        <p:txBody>
          <a:bodyPr wrap="square" lIns="0" tIns="0" rIns="0" bIns="0" rtlCol="0" anchor="ctr"/>
          <a:lstStyle/>
          <a:p>
            <a:pPr marL="0" indent="0">
              <a:buNone/>
            </a:pPr>
            <a:r>
              <a:rPr lang="en-US" sz="850" i="1" dirty="0">
                <a:solidFill>
                  <a:srgbClr val="90A4AE"/>
                </a:solidFill>
              </a:rPr>
              <a:t>Mean annual inflation rate — Jan 2023 to Dec 2025 (36 months)  |  MWoP−FWP gap: +0.27 pp — positive in 100% of 36 months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F3A"/>
          </a:solidFill>
          <a:ln w="12700">
            <a:solidFill>
              <a:srgbClr val="0B1F3A"/>
            </a:solidFill>
            <a:prstDash val="solid"/>
          </a:ln>
        </p:spPr>
        <p:txBody>
          <a:bodyPr/>
          <a:lstStyle/>
          <a:p>
            <a:endParaRPr lang="es-MX"/>
          </a:p>
        </p:txBody>
      </p:sp>
      <p:sp>
        <p:nvSpPr>
          <p:cNvPr id="3" name="Text 1"/>
          <p:cNvSpPr/>
          <p:nvPr/>
        </p:nvSpPr>
        <p:spPr>
          <a:xfrm>
            <a:off x="365760" y="91440"/>
            <a:ext cx="27432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CPI BIAS</a:t>
            </a:r>
            <a:endParaRPr lang="en-US" sz="1000" dirty="0"/>
          </a:p>
        </p:txBody>
      </p:sp>
      <p:sp>
        <p:nvSpPr>
          <p:cNvPr id="4" name="Text 2"/>
          <p:cNvSpPr/>
          <p:nvPr/>
        </p:nvSpPr>
        <p:spPr>
          <a:xfrm>
            <a:off x="365760" y="384048"/>
            <a:ext cx="8412480" cy="457200"/>
          </a:xfrm>
          <a:prstGeom prst="rect">
            <a:avLst/>
          </a:prstGeom>
          <a:noFill/>
          <a:ln/>
        </p:spPr>
        <p:txBody>
          <a:bodyPr wrap="square" lIns="0" tIns="0" rIns="0" bIns="0" rtlCol="0" anchor="ctr"/>
          <a:lstStyle/>
          <a:p>
            <a:pPr marL="0" indent="0">
              <a:buNone/>
            </a:pPr>
            <a:r>
              <a:rPr lang="en-US" sz="2000" b="1" dirty="0">
                <a:solidFill>
                  <a:srgbClr val="FFFFFF"/>
                </a:solidFill>
              </a:rPr>
              <a:t>G-CPI vs. Official CPI — Quantifying the Measurement Bias</a:t>
            </a:r>
            <a:endParaRPr lang="en-US" sz="2000" dirty="0"/>
          </a:p>
        </p:txBody>
      </p:sp>
      <p:sp>
        <p:nvSpPr>
          <p:cNvPr id="5" name="Text 3"/>
          <p:cNvSpPr/>
          <p:nvPr/>
        </p:nvSpPr>
        <p:spPr>
          <a:xfrm>
            <a:off x="320040" y="1042416"/>
            <a:ext cx="8229600" cy="274320"/>
          </a:xfrm>
          <a:prstGeom prst="rect">
            <a:avLst/>
          </a:prstGeom>
          <a:noFill/>
          <a:ln/>
        </p:spPr>
        <p:txBody>
          <a:bodyPr wrap="square" lIns="0" tIns="0" rIns="0" bIns="0" rtlCol="0" anchor="ctr"/>
          <a:lstStyle/>
          <a:p>
            <a:pPr marL="0" indent="0">
              <a:buNone/>
            </a:pPr>
            <a:r>
              <a:rPr lang="en-US" sz="1200" i="1" dirty="0">
                <a:solidFill>
                  <a:srgbClr val="546E7A"/>
                </a:solidFill>
              </a:rPr>
              <a:t>What if we applied the national CPI weights to each group instead of their own basket?</a:t>
            </a:r>
            <a:endParaRPr lang="en-US" sz="1200" dirty="0"/>
          </a:p>
        </p:txBody>
      </p:sp>
      <p:sp>
        <p:nvSpPr>
          <p:cNvPr id="6" name="Shape 4"/>
          <p:cNvSpPr/>
          <p:nvPr/>
        </p:nvSpPr>
        <p:spPr>
          <a:xfrm>
            <a:off x="594360" y="2157984"/>
            <a:ext cx="594360" cy="2048256"/>
          </a:xfrm>
          <a:prstGeom prst="rect">
            <a:avLst/>
          </a:prstGeom>
          <a:solidFill>
            <a:srgbClr val="90A4AE"/>
          </a:solidFill>
          <a:ln w="12700">
            <a:solidFill>
              <a:srgbClr val="90A4AE"/>
            </a:solidFill>
            <a:prstDash val="solid"/>
          </a:ln>
        </p:spPr>
        <p:txBody>
          <a:bodyPr/>
          <a:lstStyle/>
          <a:p>
            <a:endParaRPr lang="es-MX"/>
          </a:p>
        </p:txBody>
      </p:sp>
      <p:sp>
        <p:nvSpPr>
          <p:cNvPr id="7" name="Shape 5"/>
          <p:cNvSpPr/>
          <p:nvPr/>
        </p:nvSpPr>
        <p:spPr>
          <a:xfrm>
            <a:off x="1234440" y="2390740"/>
            <a:ext cx="594360" cy="1815500"/>
          </a:xfrm>
          <a:prstGeom prst="rect">
            <a:avLst/>
          </a:prstGeom>
          <a:solidFill>
            <a:srgbClr val="0D3380"/>
          </a:solidFill>
          <a:ln w="12700">
            <a:solidFill>
              <a:srgbClr val="0D3380"/>
            </a:solidFill>
            <a:prstDash val="solid"/>
          </a:ln>
          <a:effectLst>
            <a:outerShdw blurRad="101600" dist="38100" dir="8100000" algn="bl" rotWithShape="0">
              <a:srgbClr val="000000">
                <a:alpha val="12000"/>
              </a:srgbClr>
            </a:outerShdw>
          </a:effectLst>
        </p:spPr>
        <p:txBody>
          <a:bodyPr/>
          <a:lstStyle/>
          <a:p>
            <a:endParaRPr lang="es-MX"/>
          </a:p>
        </p:txBody>
      </p:sp>
      <p:sp>
        <p:nvSpPr>
          <p:cNvPr id="8" name="Text 6"/>
          <p:cNvSpPr/>
          <p:nvPr/>
        </p:nvSpPr>
        <p:spPr>
          <a:xfrm>
            <a:off x="548640" y="1901952"/>
            <a:ext cx="685800" cy="228600"/>
          </a:xfrm>
          <a:prstGeom prst="rect">
            <a:avLst/>
          </a:prstGeom>
          <a:noFill/>
          <a:ln/>
        </p:spPr>
        <p:txBody>
          <a:bodyPr wrap="square" lIns="0" tIns="0" rIns="0" bIns="0" rtlCol="0" anchor="ctr"/>
          <a:lstStyle/>
          <a:p>
            <a:pPr marL="0" indent="0" algn="ctr">
              <a:buNone/>
            </a:pPr>
            <a:r>
              <a:rPr lang="en-US" sz="900" dirty="0">
                <a:solidFill>
                  <a:srgbClr val="546E7A"/>
                </a:solidFill>
              </a:rPr>
              <a:t>4.44%</a:t>
            </a:r>
            <a:endParaRPr lang="en-US" sz="900" dirty="0"/>
          </a:p>
        </p:txBody>
      </p:sp>
      <p:sp>
        <p:nvSpPr>
          <p:cNvPr id="9" name="Text 7"/>
          <p:cNvSpPr/>
          <p:nvPr/>
        </p:nvSpPr>
        <p:spPr>
          <a:xfrm>
            <a:off x="1188720" y="2134708"/>
            <a:ext cx="685800" cy="228600"/>
          </a:xfrm>
          <a:prstGeom prst="rect">
            <a:avLst/>
          </a:prstGeom>
          <a:noFill/>
          <a:ln/>
        </p:spPr>
        <p:txBody>
          <a:bodyPr wrap="square" lIns="0" tIns="0" rIns="0" bIns="0" rtlCol="0" anchor="ctr"/>
          <a:lstStyle/>
          <a:p>
            <a:pPr marL="0" indent="0" algn="ctr">
              <a:buNone/>
            </a:pPr>
            <a:r>
              <a:rPr lang="en-US" sz="900" b="1" dirty="0">
                <a:solidFill>
                  <a:srgbClr val="0D3380"/>
                </a:solidFill>
              </a:rPr>
              <a:t>4.39%</a:t>
            </a:r>
            <a:endParaRPr lang="en-US" sz="900" dirty="0"/>
          </a:p>
        </p:txBody>
      </p:sp>
      <p:sp>
        <p:nvSpPr>
          <p:cNvPr id="10" name="Shape 8"/>
          <p:cNvSpPr/>
          <p:nvPr/>
        </p:nvSpPr>
        <p:spPr>
          <a:xfrm>
            <a:off x="822960" y="1842100"/>
            <a:ext cx="822960" cy="256032"/>
          </a:xfrm>
          <a:prstGeom prst="rect">
            <a:avLst/>
          </a:prstGeom>
          <a:solidFill>
            <a:srgbClr val="FFF3E0"/>
          </a:solidFill>
          <a:ln w="12700">
            <a:solidFill>
              <a:srgbClr val="FF8F00"/>
            </a:solidFill>
            <a:prstDash val="solid"/>
          </a:ln>
        </p:spPr>
        <p:txBody>
          <a:bodyPr/>
          <a:lstStyle/>
          <a:p>
            <a:endParaRPr lang="es-MX"/>
          </a:p>
        </p:txBody>
      </p:sp>
      <p:sp>
        <p:nvSpPr>
          <p:cNvPr id="11" name="Text 9"/>
          <p:cNvSpPr/>
          <p:nvPr/>
        </p:nvSpPr>
        <p:spPr>
          <a:xfrm>
            <a:off x="822960" y="1842100"/>
            <a:ext cx="822960" cy="256032"/>
          </a:xfrm>
          <a:prstGeom prst="rect">
            <a:avLst/>
          </a:prstGeom>
          <a:noFill/>
          <a:ln/>
        </p:spPr>
        <p:txBody>
          <a:bodyPr wrap="square" lIns="0" tIns="0" rIns="0" bIns="0" rtlCol="0" anchor="ctr"/>
          <a:lstStyle/>
          <a:p>
            <a:pPr marL="0" indent="0" algn="ctr">
              <a:buNone/>
            </a:pPr>
            <a:r>
              <a:rPr lang="en-US" sz="900" b="1" dirty="0">
                <a:solidFill>
                  <a:srgbClr val="E65100"/>
                </a:solidFill>
              </a:rPr>
              <a:t>−0.05 pp</a:t>
            </a:r>
            <a:endParaRPr lang="en-US" sz="900" dirty="0"/>
          </a:p>
        </p:txBody>
      </p:sp>
      <p:sp>
        <p:nvSpPr>
          <p:cNvPr id="12" name="Text 10"/>
          <p:cNvSpPr/>
          <p:nvPr/>
        </p:nvSpPr>
        <p:spPr>
          <a:xfrm>
            <a:off x="502920" y="4279392"/>
            <a:ext cx="1508760" cy="365760"/>
          </a:xfrm>
          <a:prstGeom prst="rect">
            <a:avLst/>
          </a:prstGeom>
          <a:noFill/>
          <a:ln/>
        </p:spPr>
        <p:txBody>
          <a:bodyPr wrap="square" lIns="0" tIns="0" rIns="0" bIns="0" rtlCol="0" anchor="ctr"/>
          <a:lstStyle/>
          <a:p>
            <a:pPr marL="0" indent="0" algn="ctr">
              <a:buNone/>
            </a:pPr>
            <a:r>
              <a:rPr lang="en-US" sz="950" dirty="0">
                <a:solidFill>
                  <a:srgbClr val="263238"/>
                </a:solidFill>
              </a:rPr>
              <a:t>MWoP</a:t>
            </a:r>
            <a:endParaRPr lang="en-US" sz="950" dirty="0"/>
          </a:p>
          <a:p>
            <a:pPr marL="0" indent="0" algn="ctr">
              <a:buNone/>
            </a:pPr>
            <a:r>
              <a:rPr lang="en-US" sz="950" dirty="0">
                <a:solidFill>
                  <a:srgbClr val="263238"/>
                </a:solidFill>
              </a:rPr>
              <a:t>Male alone</a:t>
            </a:r>
            <a:endParaRPr lang="en-US" sz="950" dirty="0"/>
          </a:p>
        </p:txBody>
      </p:sp>
      <p:sp>
        <p:nvSpPr>
          <p:cNvPr id="13" name="Shape 11"/>
          <p:cNvSpPr/>
          <p:nvPr/>
        </p:nvSpPr>
        <p:spPr>
          <a:xfrm>
            <a:off x="2606040" y="2157984"/>
            <a:ext cx="594360" cy="2048256"/>
          </a:xfrm>
          <a:prstGeom prst="rect">
            <a:avLst/>
          </a:prstGeom>
          <a:solidFill>
            <a:srgbClr val="90A4AE"/>
          </a:solidFill>
          <a:ln w="12700">
            <a:solidFill>
              <a:srgbClr val="90A4AE"/>
            </a:solidFill>
            <a:prstDash val="solid"/>
          </a:ln>
        </p:spPr>
        <p:txBody>
          <a:bodyPr/>
          <a:lstStyle/>
          <a:p>
            <a:endParaRPr lang="es-MX"/>
          </a:p>
        </p:txBody>
      </p:sp>
      <p:sp>
        <p:nvSpPr>
          <p:cNvPr id="14" name="Shape 12"/>
          <p:cNvSpPr/>
          <p:nvPr/>
        </p:nvSpPr>
        <p:spPr>
          <a:xfrm>
            <a:off x="3246120" y="3507971"/>
            <a:ext cx="594360" cy="698269"/>
          </a:xfrm>
          <a:prstGeom prst="rect">
            <a:avLst/>
          </a:prstGeom>
          <a:solidFill>
            <a:srgbClr val="1565C0"/>
          </a:solidFill>
          <a:ln w="12700">
            <a:solidFill>
              <a:srgbClr val="1565C0"/>
            </a:solidFill>
            <a:prstDash val="solid"/>
          </a:ln>
          <a:effectLst>
            <a:outerShdw blurRad="101600" dist="38100" dir="8100000" algn="bl" rotWithShape="0">
              <a:srgbClr val="000000">
                <a:alpha val="12000"/>
              </a:srgbClr>
            </a:outerShdw>
          </a:effectLst>
        </p:spPr>
        <p:txBody>
          <a:bodyPr/>
          <a:lstStyle/>
          <a:p>
            <a:endParaRPr lang="es-MX"/>
          </a:p>
        </p:txBody>
      </p:sp>
      <p:sp>
        <p:nvSpPr>
          <p:cNvPr id="15" name="Text 13"/>
          <p:cNvSpPr/>
          <p:nvPr/>
        </p:nvSpPr>
        <p:spPr>
          <a:xfrm>
            <a:off x="2560320" y="1901952"/>
            <a:ext cx="685800" cy="228600"/>
          </a:xfrm>
          <a:prstGeom prst="rect">
            <a:avLst/>
          </a:prstGeom>
          <a:noFill/>
          <a:ln/>
        </p:spPr>
        <p:txBody>
          <a:bodyPr wrap="square" lIns="0" tIns="0" rIns="0" bIns="0" rtlCol="0" anchor="ctr"/>
          <a:lstStyle/>
          <a:p>
            <a:pPr marL="0" indent="0" algn="ctr">
              <a:buNone/>
            </a:pPr>
            <a:r>
              <a:rPr lang="en-US" sz="900" dirty="0">
                <a:solidFill>
                  <a:srgbClr val="546E7A"/>
                </a:solidFill>
              </a:rPr>
              <a:t>4.44%</a:t>
            </a:r>
            <a:endParaRPr lang="en-US" sz="900" dirty="0"/>
          </a:p>
        </p:txBody>
      </p:sp>
      <p:sp>
        <p:nvSpPr>
          <p:cNvPr id="16" name="Text 14"/>
          <p:cNvSpPr/>
          <p:nvPr/>
        </p:nvSpPr>
        <p:spPr>
          <a:xfrm>
            <a:off x="3200400" y="3251939"/>
            <a:ext cx="685800" cy="228600"/>
          </a:xfrm>
          <a:prstGeom prst="rect">
            <a:avLst/>
          </a:prstGeom>
          <a:noFill/>
          <a:ln/>
        </p:spPr>
        <p:txBody>
          <a:bodyPr wrap="square" lIns="0" tIns="0" rIns="0" bIns="0" rtlCol="0" anchor="ctr"/>
          <a:lstStyle/>
          <a:p>
            <a:pPr marL="0" indent="0" algn="ctr">
              <a:buNone/>
            </a:pPr>
            <a:r>
              <a:rPr lang="en-US" sz="900" b="1" dirty="0">
                <a:solidFill>
                  <a:srgbClr val="1565C0"/>
                </a:solidFill>
              </a:rPr>
              <a:t>4.15%</a:t>
            </a:r>
            <a:endParaRPr lang="en-US" sz="900" dirty="0"/>
          </a:p>
        </p:txBody>
      </p:sp>
      <p:sp>
        <p:nvSpPr>
          <p:cNvPr id="17" name="Shape 15"/>
          <p:cNvSpPr/>
          <p:nvPr/>
        </p:nvSpPr>
        <p:spPr>
          <a:xfrm>
            <a:off x="2834640" y="2959331"/>
            <a:ext cx="822960" cy="256032"/>
          </a:xfrm>
          <a:prstGeom prst="rect">
            <a:avLst/>
          </a:prstGeom>
          <a:solidFill>
            <a:srgbClr val="FFF3E0"/>
          </a:solidFill>
          <a:ln w="12700">
            <a:solidFill>
              <a:srgbClr val="FF8F00"/>
            </a:solidFill>
            <a:prstDash val="solid"/>
          </a:ln>
        </p:spPr>
        <p:txBody>
          <a:bodyPr/>
          <a:lstStyle/>
          <a:p>
            <a:endParaRPr lang="es-MX"/>
          </a:p>
        </p:txBody>
      </p:sp>
      <p:sp>
        <p:nvSpPr>
          <p:cNvPr id="18" name="Text 16"/>
          <p:cNvSpPr/>
          <p:nvPr/>
        </p:nvSpPr>
        <p:spPr>
          <a:xfrm>
            <a:off x="2834640" y="2959331"/>
            <a:ext cx="822960" cy="256032"/>
          </a:xfrm>
          <a:prstGeom prst="rect">
            <a:avLst/>
          </a:prstGeom>
          <a:noFill/>
          <a:ln/>
        </p:spPr>
        <p:txBody>
          <a:bodyPr wrap="square" lIns="0" tIns="0" rIns="0" bIns="0" rtlCol="0" anchor="ctr"/>
          <a:lstStyle/>
          <a:p>
            <a:pPr marL="0" indent="0" algn="ctr">
              <a:buNone/>
            </a:pPr>
            <a:r>
              <a:rPr lang="en-US" sz="900" b="1" dirty="0">
                <a:solidFill>
                  <a:srgbClr val="E65100"/>
                </a:solidFill>
              </a:rPr>
              <a:t>−0.29 pp</a:t>
            </a:r>
            <a:endParaRPr lang="en-US" sz="900" dirty="0"/>
          </a:p>
        </p:txBody>
      </p:sp>
      <p:sp>
        <p:nvSpPr>
          <p:cNvPr id="19" name="Text 17"/>
          <p:cNvSpPr/>
          <p:nvPr/>
        </p:nvSpPr>
        <p:spPr>
          <a:xfrm>
            <a:off x="2514600" y="4279392"/>
            <a:ext cx="1508760" cy="365760"/>
          </a:xfrm>
          <a:prstGeom prst="rect">
            <a:avLst/>
          </a:prstGeom>
          <a:noFill/>
          <a:ln/>
        </p:spPr>
        <p:txBody>
          <a:bodyPr wrap="square" lIns="0" tIns="0" rIns="0" bIns="0" rtlCol="0" anchor="ctr"/>
          <a:lstStyle/>
          <a:p>
            <a:pPr marL="0" indent="0" algn="ctr">
              <a:buNone/>
            </a:pPr>
            <a:r>
              <a:rPr lang="en-US" sz="950" dirty="0">
                <a:solidFill>
                  <a:srgbClr val="263238"/>
                </a:solidFill>
              </a:rPr>
              <a:t>MWP</a:t>
            </a:r>
            <a:endParaRPr lang="en-US" sz="950" dirty="0"/>
          </a:p>
          <a:p>
            <a:pPr marL="0" indent="0" algn="ctr">
              <a:buNone/>
            </a:pPr>
            <a:r>
              <a:rPr lang="en-US" sz="950" dirty="0">
                <a:solidFill>
                  <a:srgbClr val="263238"/>
                </a:solidFill>
              </a:rPr>
              <a:t>Male+partner</a:t>
            </a:r>
            <a:endParaRPr lang="en-US" sz="950" dirty="0"/>
          </a:p>
        </p:txBody>
      </p:sp>
      <p:sp>
        <p:nvSpPr>
          <p:cNvPr id="20" name="Shape 18"/>
          <p:cNvSpPr/>
          <p:nvPr/>
        </p:nvSpPr>
        <p:spPr>
          <a:xfrm>
            <a:off x="4617720" y="2157984"/>
            <a:ext cx="594360" cy="2048256"/>
          </a:xfrm>
          <a:prstGeom prst="rect">
            <a:avLst/>
          </a:prstGeom>
          <a:solidFill>
            <a:srgbClr val="90A4AE"/>
          </a:solidFill>
          <a:ln w="12700">
            <a:solidFill>
              <a:srgbClr val="90A4AE"/>
            </a:solidFill>
            <a:prstDash val="solid"/>
          </a:ln>
        </p:spPr>
        <p:txBody>
          <a:bodyPr/>
          <a:lstStyle/>
          <a:p>
            <a:endParaRPr lang="es-MX"/>
          </a:p>
        </p:txBody>
      </p:sp>
      <p:sp>
        <p:nvSpPr>
          <p:cNvPr id="21" name="Shape 19"/>
          <p:cNvSpPr/>
          <p:nvPr/>
        </p:nvSpPr>
        <p:spPr>
          <a:xfrm>
            <a:off x="5257800" y="3647625"/>
            <a:ext cx="594360" cy="558615"/>
          </a:xfrm>
          <a:prstGeom prst="rect">
            <a:avLst/>
          </a:prstGeom>
          <a:solidFill>
            <a:srgbClr val="880E4F"/>
          </a:solidFill>
          <a:ln w="12700">
            <a:solidFill>
              <a:srgbClr val="880E4F"/>
            </a:solidFill>
            <a:prstDash val="solid"/>
          </a:ln>
          <a:effectLst>
            <a:outerShdw blurRad="101600" dist="38100" dir="8100000" algn="bl" rotWithShape="0">
              <a:srgbClr val="000000">
                <a:alpha val="12000"/>
              </a:srgbClr>
            </a:outerShdw>
          </a:effectLst>
        </p:spPr>
        <p:txBody>
          <a:bodyPr/>
          <a:lstStyle/>
          <a:p>
            <a:endParaRPr lang="es-MX"/>
          </a:p>
        </p:txBody>
      </p:sp>
      <p:sp>
        <p:nvSpPr>
          <p:cNvPr id="22" name="Text 20"/>
          <p:cNvSpPr/>
          <p:nvPr/>
        </p:nvSpPr>
        <p:spPr>
          <a:xfrm>
            <a:off x="4572000" y="1901952"/>
            <a:ext cx="685800" cy="228600"/>
          </a:xfrm>
          <a:prstGeom prst="rect">
            <a:avLst/>
          </a:prstGeom>
          <a:noFill/>
          <a:ln/>
        </p:spPr>
        <p:txBody>
          <a:bodyPr wrap="square" lIns="0" tIns="0" rIns="0" bIns="0" rtlCol="0" anchor="ctr"/>
          <a:lstStyle/>
          <a:p>
            <a:pPr marL="0" indent="0" algn="ctr">
              <a:buNone/>
            </a:pPr>
            <a:r>
              <a:rPr lang="en-US" sz="900" dirty="0">
                <a:solidFill>
                  <a:srgbClr val="546E7A"/>
                </a:solidFill>
              </a:rPr>
              <a:t>4.44%</a:t>
            </a:r>
            <a:endParaRPr lang="en-US" sz="900" dirty="0"/>
          </a:p>
        </p:txBody>
      </p:sp>
      <p:sp>
        <p:nvSpPr>
          <p:cNvPr id="23" name="Text 21"/>
          <p:cNvSpPr/>
          <p:nvPr/>
        </p:nvSpPr>
        <p:spPr>
          <a:xfrm>
            <a:off x="5212080" y="3391593"/>
            <a:ext cx="685800" cy="228600"/>
          </a:xfrm>
          <a:prstGeom prst="rect">
            <a:avLst/>
          </a:prstGeom>
          <a:noFill/>
          <a:ln/>
        </p:spPr>
        <p:txBody>
          <a:bodyPr wrap="square" lIns="0" tIns="0" rIns="0" bIns="0" rtlCol="0" anchor="ctr"/>
          <a:lstStyle/>
          <a:p>
            <a:pPr marL="0" indent="0" algn="ctr">
              <a:buNone/>
            </a:pPr>
            <a:r>
              <a:rPr lang="en-US" sz="900" b="1" dirty="0">
                <a:solidFill>
                  <a:srgbClr val="880E4F"/>
                </a:solidFill>
              </a:rPr>
              <a:t>4.12%</a:t>
            </a:r>
            <a:endParaRPr lang="en-US" sz="900" dirty="0"/>
          </a:p>
        </p:txBody>
      </p:sp>
      <p:sp>
        <p:nvSpPr>
          <p:cNvPr id="24" name="Shape 22"/>
          <p:cNvSpPr/>
          <p:nvPr/>
        </p:nvSpPr>
        <p:spPr>
          <a:xfrm>
            <a:off x="4846320" y="3098985"/>
            <a:ext cx="822960" cy="256032"/>
          </a:xfrm>
          <a:prstGeom prst="rect">
            <a:avLst/>
          </a:prstGeom>
          <a:solidFill>
            <a:srgbClr val="FFF3E0"/>
          </a:solidFill>
          <a:ln w="12700">
            <a:solidFill>
              <a:srgbClr val="FF8F00"/>
            </a:solidFill>
            <a:prstDash val="solid"/>
          </a:ln>
        </p:spPr>
        <p:txBody>
          <a:bodyPr/>
          <a:lstStyle/>
          <a:p>
            <a:endParaRPr lang="es-MX"/>
          </a:p>
        </p:txBody>
      </p:sp>
      <p:sp>
        <p:nvSpPr>
          <p:cNvPr id="25" name="Text 23"/>
          <p:cNvSpPr/>
          <p:nvPr/>
        </p:nvSpPr>
        <p:spPr>
          <a:xfrm>
            <a:off x="4846320" y="3098985"/>
            <a:ext cx="822960" cy="256032"/>
          </a:xfrm>
          <a:prstGeom prst="rect">
            <a:avLst/>
          </a:prstGeom>
          <a:noFill/>
          <a:ln/>
        </p:spPr>
        <p:txBody>
          <a:bodyPr wrap="square" lIns="0" tIns="0" rIns="0" bIns="0" rtlCol="0" anchor="ctr"/>
          <a:lstStyle/>
          <a:p>
            <a:pPr marL="0" indent="0" algn="ctr">
              <a:buNone/>
            </a:pPr>
            <a:r>
              <a:rPr lang="en-US" sz="900" b="1" dirty="0">
                <a:solidFill>
                  <a:srgbClr val="E65100"/>
                </a:solidFill>
              </a:rPr>
              <a:t>−0.32 pp</a:t>
            </a:r>
            <a:endParaRPr lang="en-US" sz="900" dirty="0"/>
          </a:p>
        </p:txBody>
      </p:sp>
      <p:sp>
        <p:nvSpPr>
          <p:cNvPr id="26" name="Text 24"/>
          <p:cNvSpPr/>
          <p:nvPr/>
        </p:nvSpPr>
        <p:spPr>
          <a:xfrm>
            <a:off x="4526280" y="4279392"/>
            <a:ext cx="1508760" cy="365760"/>
          </a:xfrm>
          <a:prstGeom prst="rect">
            <a:avLst/>
          </a:prstGeom>
          <a:noFill/>
          <a:ln/>
        </p:spPr>
        <p:txBody>
          <a:bodyPr wrap="square" lIns="0" tIns="0" rIns="0" bIns="0" rtlCol="0" anchor="ctr"/>
          <a:lstStyle/>
          <a:p>
            <a:pPr marL="0" indent="0" algn="ctr">
              <a:buNone/>
            </a:pPr>
            <a:r>
              <a:rPr lang="en-US" sz="950" dirty="0">
                <a:solidFill>
                  <a:srgbClr val="263238"/>
                </a:solidFill>
              </a:rPr>
              <a:t>FWoP</a:t>
            </a:r>
            <a:endParaRPr lang="en-US" sz="950" dirty="0"/>
          </a:p>
          <a:p>
            <a:pPr marL="0" indent="0" algn="ctr">
              <a:buNone/>
            </a:pPr>
            <a:r>
              <a:rPr lang="en-US" sz="950" dirty="0">
                <a:solidFill>
                  <a:srgbClr val="263238"/>
                </a:solidFill>
              </a:rPr>
              <a:t>Female alone</a:t>
            </a:r>
            <a:endParaRPr lang="en-US" sz="950" dirty="0"/>
          </a:p>
        </p:txBody>
      </p:sp>
      <p:sp>
        <p:nvSpPr>
          <p:cNvPr id="27" name="Shape 25"/>
          <p:cNvSpPr/>
          <p:nvPr/>
        </p:nvSpPr>
        <p:spPr>
          <a:xfrm>
            <a:off x="6629400" y="2157984"/>
            <a:ext cx="594360" cy="2048256"/>
          </a:xfrm>
          <a:prstGeom prst="rect">
            <a:avLst/>
          </a:prstGeom>
          <a:solidFill>
            <a:srgbClr val="90A4AE"/>
          </a:solidFill>
          <a:ln w="12700">
            <a:solidFill>
              <a:srgbClr val="90A4AE"/>
            </a:solidFill>
            <a:prstDash val="solid"/>
          </a:ln>
        </p:spPr>
        <p:txBody>
          <a:bodyPr/>
          <a:lstStyle/>
          <a:p>
            <a:endParaRPr lang="es-MX"/>
          </a:p>
        </p:txBody>
      </p:sp>
      <p:sp>
        <p:nvSpPr>
          <p:cNvPr id="28" name="Shape 26"/>
          <p:cNvSpPr/>
          <p:nvPr/>
        </p:nvSpPr>
        <p:spPr>
          <a:xfrm>
            <a:off x="7269480" y="3740727"/>
            <a:ext cx="594360" cy="465513"/>
          </a:xfrm>
          <a:prstGeom prst="rect">
            <a:avLst/>
          </a:prstGeom>
          <a:solidFill>
            <a:srgbClr val="006064"/>
          </a:solidFill>
          <a:ln w="12700">
            <a:solidFill>
              <a:srgbClr val="006064"/>
            </a:solidFill>
            <a:prstDash val="solid"/>
          </a:ln>
          <a:effectLst>
            <a:outerShdw blurRad="101600" dist="38100" dir="8100000" algn="bl" rotWithShape="0">
              <a:srgbClr val="000000">
                <a:alpha val="12000"/>
              </a:srgbClr>
            </a:outerShdw>
          </a:effectLst>
        </p:spPr>
        <p:txBody>
          <a:bodyPr/>
          <a:lstStyle/>
          <a:p>
            <a:endParaRPr lang="es-MX"/>
          </a:p>
        </p:txBody>
      </p:sp>
      <p:sp>
        <p:nvSpPr>
          <p:cNvPr id="29" name="Text 27"/>
          <p:cNvSpPr/>
          <p:nvPr/>
        </p:nvSpPr>
        <p:spPr>
          <a:xfrm>
            <a:off x="6583680" y="1901952"/>
            <a:ext cx="685800" cy="228600"/>
          </a:xfrm>
          <a:prstGeom prst="rect">
            <a:avLst/>
          </a:prstGeom>
          <a:noFill/>
          <a:ln/>
        </p:spPr>
        <p:txBody>
          <a:bodyPr wrap="square" lIns="0" tIns="0" rIns="0" bIns="0" rtlCol="0" anchor="ctr"/>
          <a:lstStyle/>
          <a:p>
            <a:pPr marL="0" indent="0" algn="ctr">
              <a:buNone/>
            </a:pPr>
            <a:r>
              <a:rPr lang="en-US" sz="900" dirty="0">
                <a:solidFill>
                  <a:srgbClr val="546E7A"/>
                </a:solidFill>
              </a:rPr>
              <a:t>4.44%</a:t>
            </a:r>
            <a:endParaRPr lang="en-US" sz="900" dirty="0"/>
          </a:p>
        </p:txBody>
      </p:sp>
      <p:sp>
        <p:nvSpPr>
          <p:cNvPr id="30" name="Text 28"/>
          <p:cNvSpPr/>
          <p:nvPr/>
        </p:nvSpPr>
        <p:spPr>
          <a:xfrm>
            <a:off x="7223760" y="3484695"/>
            <a:ext cx="685800" cy="228600"/>
          </a:xfrm>
          <a:prstGeom prst="rect">
            <a:avLst/>
          </a:prstGeom>
          <a:noFill/>
          <a:ln/>
        </p:spPr>
        <p:txBody>
          <a:bodyPr wrap="square" lIns="0" tIns="0" rIns="0" bIns="0" rtlCol="0" anchor="ctr"/>
          <a:lstStyle/>
          <a:p>
            <a:pPr marL="0" indent="0" algn="ctr">
              <a:buNone/>
            </a:pPr>
            <a:r>
              <a:rPr lang="en-US" sz="900" b="1" dirty="0">
                <a:solidFill>
                  <a:srgbClr val="006064"/>
                </a:solidFill>
              </a:rPr>
              <a:t>4.10%</a:t>
            </a:r>
            <a:endParaRPr lang="en-US" sz="900" dirty="0"/>
          </a:p>
        </p:txBody>
      </p:sp>
      <p:sp>
        <p:nvSpPr>
          <p:cNvPr id="31" name="Shape 29"/>
          <p:cNvSpPr/>
          <p:nvPr/>
        </p:nvSpPr>
        <p:spPr>
          <a:xfrm>
            <a:off x="6858000" y="3192087"/>
            <a:ext cx="822960" cy="256032"/>
          </a:xfrm>
          <a:prstGeom prst="rect">
            <a:avLst/>
          </a:prstGeom>
          <a:solidFill>
            <a:srgbClr val="FFF3E0"/>
          </a:solidFill>
          <a:ln w="12700">
            <a:solidFill>
              <a:srgbClr val="FF8F00"/>
            </a:solidFill>
            <a:prstDash val="solid"/>
          </a:ln>
        </p:spPr>
        <p:txBody>
          <a:bodyPr/>
          <a:lstStyle/>
          <a:p>
            <a:endParaRPr lang="es-MX"/>
          </a:p>
        </p:txBody>
      </p:sp>
      <p:sp>
        <p:nvSpPr>
          <p:cNvPr id="32" name="Text 30"/>
          <p:cNvSpPr/>
          <p:nvPr/>
        </p:nvSpPr>
        <p:spPr>
          <a:xfrm>
            <a:off x="6858000" y="3192087"/>
            <a:ext cx="822960" cy="256032"/>
          </a:xfrm>
          <a:prstGeom prst="rect">
            <a:avLst/>
          </a:prstGeom>
          <a:noFill/>
          <a:ln/>
        </p:spPr>
        <p:txBody>
          <a:bodyPr wrap="square" lIns="0" tIns="0" rIns="0" bIns="0" rtlCol="0" anchor="ctr"/>
          <a:lstStyle/>
          <a:p>
            <a:pPr marL="0" indent="0" algn="ctr">
              <a:buNone/>
            </a:pPr>
            <a:r>
              <a:rPr lang="en-US" sz="900" b="1" dirty="0">
                <a:solidFill>
                  <a:srgbClr val="E65100"/>
                </a:solidFill>
              </a:rPr>
              <a:t>−0.34 pp</a:t>
            </a:r>
            <a:endParaRPr lang="en-US" sz="900" dirty="0"/>
          </a:p>
        </p:txBody>
      </p:sp>
      <p:sp>
        <p:nvSpPr>
          <p:cNvPr id="33" name="Text 31"/>
          <p:cNvSpPr/>
          <p:nvPr/>
        </p:nvSpPr>
        <p:spPr>
          <a:xfrm>
            <a:off x="6537960" y="4279392"/>
            <a:ext cx="1508760" cy="365760"/>
          </a:xfrm>
          <a:prstGeom prst="rect">
            <a:avLst/>
          </a:prstGeom>
          <a:noFill/>
          <a:ln/>
        </p:spPr>
        <p:txBody>
          <a:bodyPr wrap="square" lIns="0" tIns="0" rIns="0" bIns="0" rtlCol="0" anchor="ctr"/>
          <a:lstStyle/>
          <a:p>
            <a:pPr marL="0" indent="0" algn="ctr">
              <a:buNone/>
            </a:pPr>
            <a:r>
              <a:rPr lang="en-US" sz="950" dirty="0">
                <a:solidFill>
                  <a:srgbClr val="263238"/>
                </a:solidFill>
              </a:rPr>
              <a:t>FWP</a:t>
            </a:r>
            <a:endParaRPr lang="en-US" sz="950" dirty="0"/>
          </a:p>
          <a:p>
            <a:pPr marL="0" indent="0" algn="ctr">
              <a:buNone/>
            </a:pPr>
            <a:r>
              <a:rPr lang="en-US" sz="950" dirty="0">
                <a:solidFill>
                  <a:srgbClr val="263238"/>
                </a:solidFill>
              </a:rPr>
              <a:t>Female+partner</a:t>
            </a:r>
            <a:endParaRPr lang="en-US" sz="950" dirty="0"/>
          </a:p>
        </p:txBody>
      </p:sp>
      <p:sp>
        <p:nvSpPr>
          <p:cNvPr id="34" name="Shape 32"/>
          <p:cNvSpPr/>
          <p:nvPr/>
        </p:nvSpPr>
        <p:spPr>
          <a:xfrm>
            <a:off x="365760" y="4206240"/>
            <a:ext cx="8412480" cy="0"/>
          </a:xfrm>
          <a:prstGeom prst="line">
            <a:avLst/>
          </a:prstGeom>
          <a:noFill/>
          <a:ln w="12700">
            <a:solidFill>
              <a:srgbClr val="90A4AE"/>
            </a:solidFill>
            <a:prstDash val="solid"/>
          </a:ln>
        </p:spPr>
        <p:txBody>
          <a:bodyPr/>
          <a:lstStyle/>
          <a:p>
            <a:endParaRPr lang="es-MX"/>
          </a:p>
        </p:txBody>
      </p:sp>
      <p:sp>
        <p:nvSpPr>
          <p:cNvPr id="35" name="Shape 33"/>
          <p:cNvSpPr/>
          <p:nvPr/>
        </p:nvSpPr>
        <p:spPr>
          <a:xfrm>
            <a:off x="365760" y="1389888"/>
            <a:ext cx="320040" cy="201168"/>
          </a:xfrm>
          <a:prstGeom prst="rect">
            <a:avLst/>
          </a:prstGeom>
          <a:solidFill>
            <a:srgbClr val="90A4AE"/>
          </a:solidFill>
          <a:ln w="12700">
            <a:solidFill>
              <a:srgbClr val="90A4AE"/>
            </a:solidFill>
            <a:prstDash val="solid"/>
          </a:ln>
        </p:spPr>
        <p:txBody>
          <a:bodyPr/>
          <a:lstStyle/>
          <a:p>
            <a:endParaRPr lang="es-MX"/>
          </a:p>
        </p:txBody>
      </p:sp>
      <p:sp>
        <p:nvSpPr>
          <p:cNvPr id="36" name="Text 34"/>
          <p:cNvSpPr/>
          <p:nvPr/>
        </p:nvSpPr>
        <p:spPr>
          <a:xfrm>
            <a:off x="731520" y="1389888"/>
            <a:ext cx="4572000" cy="201168"/>
          </a:xfrm>
          <a:prstGeom prst="rect">
            <a:avLst/>
          </a:prstGeom>
          <a:noFill/>
          <a:ln/>
        </p:spPr>
        <p:txBody>
          <a:bodyPr wrap="square" lIns="0" tIns="0" rIns="0" bIns="0" rtlCol="0" anchor="ctr"/>
          <a:lstStyle/>
          <a:p>
            <a:pPr marL="0" indent="0">
              <a:buNone/>
            </a:pPr>
            <a:r>
              <a:rPr lang="en-US" sz="1000" dirty="0">
                <a:solidFill>
                  <a:srgbClr val="546E7A"/>
                </a:solidFill>
              </a:rPr>
              <a:t>Counterfactual (official CPI 2024 weights applied to G-CPI groups)</a:t>
            </a:r>
            <a:endParaRPr lang="en-US" sz="1000" dirty="0"/>
          </a:p>
        </p:txBody>
      </p:sp>
      <p:sp>
        <p:nvSpPr>
          <p:cNvPr id="37" name="Shape 35"/>
          <p:cNvSpPr/>
          <p:nvPr/>
        </p:nvSpPr>
        <p:spPr>
          <a:xfrm>
            <a:off x="365760" y="1627632"/>
            <a:ext cx="320040" cy="201168"/>
          </a:xfrm>
          <a:prstGeom prst="rect">
            <a:avLst/>
          </a:prstGeom>
          <a:solidFill>
            <a:srgbClr val="1565C0"/>
          </a:solidFill>
          <a:ln w="12700">
            <a:solidFill>
              <a:srgbClr val="1565C0"/>
            </a:solidFill>
            <a:prstDash val="solid"/>
          </a:ln>
        </p:spPr>
        <p:txBody>
          <a:bodyPr/>
          <a:lstStyle/>
          <a:p>
            <a:endParaRPr lang="es-MX"/>
          </a:p>
        </p:txBody>
      </p:sp>
      <p:sp>
        <p:nvSpPr>
          <p:cNvPr id="38" name="Text 36"/>
          <p:cNvSpPr/>
          <p:nvPr/>
        </p:nvSpPr>
        <p:spPr>
          <a:xfrm>
            <a:off x="731520" y="1627632"/>
            <a:ext cx="4572000" cy="201168"/>
          </a:xfrm>
          <a:prstGeom prst="rect">
            <a:avLst/>
          </a:prstGeom>
          <a:noFill/>
          <a:ln/>
        </p:spPr>
        <p:txBody>
          <a:bodyPr wrap="square" lIns="0" tIns="0" rIns="0" bIns="0" rtlCol="0" anchor="ctr"/>
          <a:lstStyle/>
          <a:p>
            <a:pPr marL="0" indent="0">
              <a:buNone/>
            </a:pPr>
            <a:r>
              <a:rPr lang="en-US" sz="1000" dirty="0">
                <a:solidFill>
                  <a:srgbClr val="546E7A"/>
                </a:solidFill>
              </a:rPr>
              <a:t>G-CPI (group-specific expenditure weights)</a:t>
            </a:r>
            <a:endParaRPr lang="en-US" sz="1000" dirty="0"/>
          </a:p>
        </p:txBody>
      </p:sp>
      <p:sp>
        <p:nvSpPr>
          <p:cNvPr id="39" name="Shape 37"/>
          <p:cNvSpPr/>
          <p:nvPr/>
        </p:nvSpPr>
        <p:spPr>
          <a:xfrm>
            <a:off x="5029200" y="1325880"/>
            <a:ext cx="3749040" cy="1554480"/>
          </a:xfrm>
          <a:prstGeom prst="rect">
            <a:avLst/>
          </a:prstGeom>
          <a:solidFill>
            <a:srgbClr val="FFF8E1"/>
          </a:solidFill>
          <a:ln w="12700">
            <a:solidFill>
              <a:srgbClr val="FF8F00"/>
            </a:solidFill>
            <a:prstDash val="solid"/>
          </a:ln>
          <a:effectLst>
            <a:outerShdw blurRad="101600" dist="38100" dir="8100000" algn="bl" rotWithShape="0">
              <a:srgbClr val="000000">
                <a:alpha val="12000"/>
              </a:srgbClr>
            </a:outerShdw>
          </a:effectLst>
        </p:spPr>
        <p:txBody>
          <a:bodyPr/>
          <a:lstStyle/>
          <a:p>
            <a:endParaRPr lang="es-MX"/>
          </a:p>
        </p:txBody>
      </p:sp>
      <p:sp>
        <p:nvSpPr>
          <p:cNvPr id="40" name="Text 38"/>
          <p:cNvSpPr/>
          <p:nvPr/>
        </p:nvSpPr>
        <p:spPr>
          <a:xfrm>
            <a:off x="5166360" y="1371600"/>
            <a:ext cx="3474720" cy="274320"/>
          </a:xfrm>
          <a:prstGeom prst="rect">
            <a:avLst/>
          </a:prstGeom>
          <a:noFill/>
          <a:ln/>
        </p:spPr>
        <p:txBody>
          <a:bodyPr wrap="square" lIns="0" tIns="0" rIns="0" bIns="0" rtlCol="0" anchor="ctr"/>
          <a:lstStyle/>
          <a:p>
            <a:pPr marL="0" indent="0">
              <a:buNone/>
            </a:pPr>
            <a:r>
              <a:rPr lang="en-US" sz="1200" b="1" dirty="0">
                <a:solidFill>
                  <a:srgbClr val="E65100"/>
                </a:solidFill>
              </a:rPr>
              <a:t>Root Cause</a:t>
            </a:r>
            <a:endParaRPr lang="en-US" sz="1200" dirty="0"/>
          </a:p>
        </p:txBody>
      </p:sp>
      <p:sp>
        <p:nvSpPr>
          <p:cNvPr id="41" name="Text 39"/>
          <p:cNvSpPr/>
          <p:nvPr/>
        </p:nvSpPr>
        <p:spPr>
          <a:xfrm>
            <a:off x="5166360" y="1664208"/>
            <a:ext cx="3474720" cy="1143000"/>
          </a:xfrm>
          <a:prstGeom prst="rect">
            <a:avLst/>
          </a:prstGeom>
          <a:noFill/>
          <a:ln/>
        </p:spPr>
        <p:txBody>
          <a:bodyPr wrap="square" lIns="0" tIns="0" rIns="0" bIns="0" rtlCol="0" anchor="ctr"/>
          <a:lstStyle/>
          <a:p>
            <a:pPr marL="0" indent="0">
              <a:buNone/>
            </a:pPr>
            <a:r>
              <a:rPr lang="en-US" sz="1000" dirty="0">
                <a:solidFill>
                  <a:srgbClr val="5D4037"/>
                </a:solidFill>
              </a:rPr>
              <a:t>The official CPI assigns 20.9% weight to Housing — its lowest-inflation division (2.6% avg). G-CPI groups only spend 5–7% on Housing.</a:t>
            </a:r>
            <a:endParaRPr lang="en-US" sz="1000" dirty="0"/>
          </a:p>
          <a:p>
            <a:pPr marL="0" indent="0">
              <a:buNone/>
            </a:pPr>
            <a:endParaRPr lang="en-US" sz="1000" dirty="0"/>
          </a:p>
          <a:p>
            <a:pPr marL="0" indent="0">
              <a:buNone/>
            </a:pPr>
            <a:r>
              <a:rPr lang="en-US" sz="1000" dirty="0">
                <a:solidFill>
                  <a:srgbClr val="5D4037"/>
                </a:solidFill>
              </a:rPr>
              <a:t>This single divergence explains why the official CPI overestimates inflation for all household groups by 0.05–0.34 pp.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FA5"/>
          </a:solidFill>
          <a:ln w="12700">
            <a:solidFill>
              <a:srgbClr val="00BFA5"/>
            </a:solidFill>
            <a:prstDash val="solid"/>
          </a:ln>
        </p:spPr>
        <p:txBody>
          <a:bodyPr/>
          <a:lstStyle/>
          <a:p>
            <a:endParaRPr lang="es-MX"/>
          </a:p>
        </p:txBody>
      </p:sp>
      <p:sp>
        <p:nvSpPr>
          <p:cNvPr id="3" name="Text 1"/>
          <p:cNvSpPr/>
          <p:nvPr/>
        </p:nvSpPr>
        <p:spPr>
          <a:xfrm>
            <a:off x="320040" y="182880"/>
            <a:ext cx="36576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FORECAST 2026</a:t>
            </a:r>
            <a:endParaRPr lang="en-US" sz="1000" dirty="0"/>
          </a:p>
        </p:txBody>
      </p:sp>
      <p:sp>
        <p:nvSpPr>
          <p:cNvPr id="4" name="Text 2"/>
          <p:cNvSpPr/>
          <p:nvPr/>
        </p:nvSpPr>
        <p:spPr>
          <a:xfrm>
            <a:off x="320040" y="475488"/>
            <a:ext cx="8229600" cy="502920"/>
          </a:xfrm>
          <a:prstGeom prst="rect">
            <a:avLst/>
          </a:prstGeom>
          <a:noFill/>
          <a:ln/>
        </p:spPr>
        <p:txBody>
          <a:bodyPr wrap="square" lIns="0" tIns="0" rIns="0" bIns="0" rtlCol="0" anchor="ctr"/>
          <a:lstStyle/>
          <a:p>
            <a:pPr marL="0" indent="0">
              <a:buNone/>
            </a:pPr>
            <a:r>
              <a:rPr lang="en-US" sz="2200" b="1" dirty="0">
                <a:solidFill>
                  <a:srgbClr val="FFFFFF"/>
                </a:solidFill>
              </a:rPr>
              <a:t>G-CPI Inflation Forecast — January to December 2026</a:t>
            </a:r>
            <a:endParaRPr lang="en-US" sz="2200" dirty="0"/>
          </a:p>
        </p:txBody>
      </p:sp>
      <p:sp>
        <p:nvSpPr>
          <p:cNvPr id="5" name="Text 3"/>
          <p:cNvSpPr/>
          <p:nvPr/>
        </p:nvSpPr>
        <p:spPr>
          <a:xfrm>
            <a:off x="320040" y="1024128"/>
            <a:ext cx="8229600" cy="256032"/>
          </a:xfrm>
          <a:prstGeom prst="rect">
            <a:avLst/>
          </a:prstGeom>
          <a:noFill/>
          <a:ln/>
        </p:spPr>
        <p:txBody>
          <a:bodyPr wrap="square" lIns="0" tIns="0" rIns="0" bIns="0" rtlCol="0" anchor="ctr"/>
          <a:lstStyle/>
          <a:p>
            <a:pPr marL="0" indent="0">
              <a:buNone/>
            </a:pPr>
            <a:r>
              <a:rPr lang="en-US" sz="1000" i="1" dirty="0">
                <a:solidFill>
                  <a:srgbClr val="78909C"/>
                </a:solidFill>
              </a:rPr>
              <a:t>SARIMA(1,0,1)(1,0,1,12) — ADF stationarity confirmed · Ljung-Box p=1.0 (white noise residuals)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56032" y="1353312"/>
          <a:ext cx="5486400" cy="3328416"/>
        </p:xfrm>
        <a:graphic>
          <a:graphicData uri="http://schemas.openxmlformats.org/drawingml/2006/table">
            <a:tbl>
              <a:tblPr/>
              <a:tblGrid>
                <a:gridCol w="82296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gridCol w="1042416">
                  <a:extLst>
                    <a:ext uri="{9D8B030D-6E8A-4147-A177-3AD203B41FA5}">
                      <a16:colId xmlns:a16="http://schemas.microsoft.com/office/drawing/2014/main" val="20003"/>
                    </a:ext>
                  </a:extLst>
                </a:gridCol>
                <a:gridCol w="1042416">
                  <a:extLst>
                    <a:ext uri="{9D8B030D-6E8A-4147-A177-3AD203B41FA5}">
                      <a16:colId xmlns:a16="http://schemas.microsoft.com/office/drawing/2014/main" val="20004"/>
                    </a:ext>
                  </a:extLst>
                </a:gridCol>
              </a:tblGrid>
              <a:tr h="246888">
                <a:tc>
                  <a:txBody>
                    <a:bodyPr/>
                    <a:lstStyle/>
                    <a:p>
                      <a:pPr marL="0" indent="0" algn="ctr">
                        <a:buNone/>
                      </a:pPr>
                      <a:r>
                        <a:rPr lang="en-US" sz="900" b="1" dirty="0">
                          <a:solidFill>
                            <a:srgbClr val="FFFFFF"/>
                          </a:solidFill>
                        </a:rPr>
                        <a:t>Month</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71528"/>
                    </a:solidFill>
                  </a:tcPr>
                </a:tc>
                <a:tc>
                  <a:txBody>
                    <a:bodyPr/>
                    <a:lstStyle/>
                    <a:p>
                      <a:pPr marL="0" indent="0" algn="ctr">
                        <a:buNone/>
                      </a:pPr>
                      <a:r>
                        <a:rPr lang="en-US" sz="900" b="1" dirty="0">
                          <a:solidFill>
                            <a:srgbClr val="FFFFFF"/>
                          </a:solidFill>
                        </a:rPr>
                        <a:t>MWP</a:t>
                      </a:r>
                      <a:endParaRPr lang="en-US" sz="900" dirty="0"/>
                    </a:p>
                    <a:p>
                      <a:pPr marL="0" indent="0" algn="ctr">
                        <a:buNone/>
                      </a:pPr>
                      <a:r>
                        <a:rPr lang="en-US" sz="900" b="1" dirty="0">
                          <a:solidFill>
                            <a:srgbClr val="FFFFFF"/>
                          </a:solidFill>
                        </a:rPr>
                        <a:t>Male+partner</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1565C0"/>
                    </a:solidFill>
                  </a:tcPr>
                </a:tc>
                <a:tc>
                  <a:txBody>
                    <a:bodyPr/>
                    <a:lstStyle/>
                    <a:p>
                      <a:pPr marL="0" indent="0" algn="ctr">
                        <a:buNone/>
                      </a:pPr>
                      <a:r>
                        <a:rPr lang="en-US" sz="900" b="1" dirty="0">
                          <a:solidFill>
                            <a:srgbClr val="FFFFFF"/>
                          </a:solidFill>
                        </a:rPr>
                        <a:t>MWoP</a:t>
                      </a:r>
                      <a:endParaRPr lang="en-US" sz="900" dirty="0"/>
                    </a:p>
                    <a:p>
                      <a:pPr marL="0" indent="0" algn="ctr">
                        <a:buNone/>
                      </a:pPr>
                      <a:r>
                        <a:rPr lang="en-US" sz="900" b="1" dirty="0">
                          <a:solidFill>
                            <a:srgbClr val="FFFFFF"/>
                          </a:solidFill>
                        </a:rPr>
                        <a:t>Male alone ↑ HIGHEST</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3380"/>
                    </a:solidFill>
                  </a:tcPr>
                </a:tc>
                <a:tc>
                  <a:txBody>
                    <a:bodyPr/>
                    <a:lstStyle/>
                    <a:p>
                      <a:pPr marL="0" indent="0" algn="ctr">
                        <a:buNone/>
                      </a:pPr>
                      <a:r>
                        <a:rPr lang="en-US" sz="900" b="1" dirty="0">
                          <a:solidFill>
                            <a:srgbClr val="FFFFFF"/>
                          </a:solidFill>
                        </a:rPr>
                        <a:t>FWP</a:t>
                      </a:r>
                      <a:endParaRPr lang="en-US" sz="900" dirty="0"/>
                    </a:p>
                    <a:p>
                      <a:pPr marL="0" indent="0" algn="ctr">
                        <a:buNone/>
                      </a:pPr>
                      <a:r>
                        <a:rPr lang="en-US" sz="900" b="1" dirty="0">
                          <a:solidFill>
                            <a:srgbClr val="FFFFFF"/>
                          </a:solidFill>
                        </a:rPr>
                        <a:t>Female+partner</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880E4F"/>
                    </a:solidFill>
                  </a:tcPr>
                </a:tc>
                <a:tc>
                  <a:txBody>
                    <a:bodyPr/>
                    <a:lstStyle/>
                    <a:p>
                      <a:pPr marL="0" indent="0" algn="ctr">
                        <a:buNone/>
                      </a:pPr>
                      <a:r>
                        <a:rPr lang="en-US" sz="900" b="1" dirty="0">
                          <a:solidFill>
                            <a:srgbClr val="FFFFFF"/>
                          </a:solidFill>
                        </a:rPr>
                        <a:t>FWoP</a:t>
                      </a:r>
                      <a:endParaRPr lang="en-US" sz="900" dirty="0"/>
                    </a:p>
                    <a:p>
                      <a:pPr marL="0" indent="0" algn="ctr">
                        <a:buNone/>
                      </a:pPr>
                      <a:r>
                        <a:rPr lang="en-US" sz="900" b="1" dirty="0">
                          <a:solidFill>
                            <a:srgbClr val="FFFFFF"/>
                          </a:solidFill>
                        </a:rPr>
                        <a:t>Female alone</a:t>
                      </a:r>
                      <a:endParaRPr lang="en-US" sz="900" dirty="0"/>
                    </a:p>
                  </a:txBody>
                  <a:tcPr anchor="ct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06064"/>
                    </a:solidFill>
                  </a:tcPr>
                </a:tc>
                <a:extLst>
                  <a:ext uri="{0D108BD9-81ED-4DB2-BD59-A6C34878D82A}">
                    <a16:rowId xmlns:a16="http://schemas.microsoft.com/office/drawing/2014/main" val="10000"/>
                  </a:ext>
                </a:extLst>
              </a:tr>
              <a:tr h="246888">
                <a:tc>
                  <a:txBody>
                    <a:bodyPr/>
                    <a:lstStyle/>
                    <a:p>
                      <a:pPr marL="0" indent="0" algn="l">
                        <a:buNone/>
                      </a:pPr>
                      <a:r>
                        <a:rPr lang="en-US" sz="900" dirty="0">
                          <a:solidFill>
                            <a:srgbClr val="B0BEC5"/>
                          </a:solidFill>
                        </a:rPr>
                        <a:t>2026 Jan</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90CAF9"/>
                          </a:solidFill>
                        </a:rPr>
                        <a:t>3.73%</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00BFA5"/>
                          </a:solidFill>
                        </a:rPr>
                        <a:t>3.96%</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48FB1"/>
                          </a:solidFill>
                        </a:rPr>
                        <a:t>3.79%</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EF9A9A"/>
                          </a:solidFill>
                        </a:rPr>
                        <a:t>3.81%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1"/>
                  </a:ext>
                </a:extLst>
              </a:tr>
              <a:tr h="246888">
                <a:tc>
                  <a:txBody>
                    <a:bodyPr/>
                    <a:lstStyle/>
                    <a:p>
                      <a:pPr marL="0" indent="0" algn="l">
                        <a:buNone/>
                      </a:pPr>
                      <a:r>
                        <a:rPr lang="en-US" sz="900" dirty="0">
                          <a:solidFill>
                            <a:srgbClr val="B0BEC5"/>
                          </a:solidFill>
                        </a:rPr>
                        <a:t>2026 Feb</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90CAF9"/>
                          </a:solidFill>
                        </a:rPr>
                        <a:t>3.84%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00BFA5"/>
                          </a:solidFill>
                        </a:rPr>
                        <a:t>4.06%</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48FB1"/>
                          </a:solidFill>
                        </a:rPr>
                        <a:t>3.91%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EF9A9A"/>
                          </a:solidFill>
                        </a:rPr>
                        <a:t>3.92%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2"/>
                  </a:ext>
                </a:extLst>
              </a:tr>
              <a:tr h="246888">
                <a:tc>
                  <a:txBody>
                    <a:bodyPr/>
                    <a:lstStyle/>
                    <a:p>
                      <a:pPr marL="0" indent="0" algn="l">
                        <a:buNone/>
                      </a:pPr>
                      <a:r>
                        <a:rPr lang="en-US" sz="900" dirty="0">
                          <a:solidFill>
                            <a:srgbClr val="B0BEC5"/>
                          </a:solidFill>
                        </a:rPr>
                        <a:t>2026 Mar</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90CAF9"/>
                          </a:solidFill>
                        </a:rPr>
                        <a:t>3.97%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00BFA5"/>
                          </a:solidFill>
                        </a:rPr>
                        <a:t>4.17%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48FB1"/>
                          </a:solidFill>
                        </a:rPr>
                        <a:t>4.02%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EF9A9A"/>
                          </a:solidFill>
                        </a:rPr>
                        <a:t>4.02%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3"/>
                  </a:ext>
                </a:extLst>
              </a:tr>
              <a:tr h="246888">
                <a:tc>
                  <a:txBody>
                    <a:bodyPr/>
                    <a:lstStyle/>
                    <a:p>
                      <a:pPr marL="0" indent="0" algn="l">
                        <a:buNone/>
                      </a:pPr>
                      <a:r>
                        <a:rPr lang="en-US" sz="900" dirty="0">
                          <a:solidFill>
                            <a:srgbClr val="B0BEC5"/>
                          </a:solidFill>
                        </a:rPr>
                        <a:t>2026 Apr</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90CAF9"/>
                          </a:solidFill>
                        </a:rPr>
                        <a:t>3.98%</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00BFA5"/>
                          </a:solidFill>
                        </a:rPr>
                        <a:t>4.18%</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48FB1"/>
                          </a:solidFill>
                        </a:rPr>
                        <a:t>4.01%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EF9A9A"/>
                          </a:solidFill>
                        </a:rPr>
                        <a:t>4.01%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4"/>
                  </a:ext>
                </a:extLst>
              </a:tr>
              <a:tr h="246888">
                <a:tc>
                  <a:txBody>
                    <a:bodyPr/>
                    <a:lstStyle/>
                    <a:p>
                      <a:pPr marL="0" indent="0" algn="l">
                        <a:buNone/>
                      </a:pPr>
                      <a:r>
                        <a:rPr lang="en-US" sz="900" dirty="0">
                          <a:solidFill>
                            <a:srgbClr val="B0BEC5"/>
                          </a:solidFill>
                        </a:rPr>
                        <a:t>2026 May</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90CAF9"/>
                          </a:solidFill>
                        </a:rPr>
                        <a:t>3.82%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00BFA5"/>
                          </a:solidFill>
                        </a:rPr>
                        <a:t>4.08%</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48FB1"/>
                          </a:solidFill>
                        </a:rPr>
                        <a:t>3.83%</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EF9A9A"/>
                          </a:solidFill>
                        </a:rPr>
                        <a:t>3.82%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5"/>
                  </a:ext>
                </a:extLst>
              </a:tr>
              <a:tr h="246888">
                <a:tc>
                  <a:txBody>
                    <a:bodyPr/>
                    <a:lstStyle/>
                    <a:p>
                      <a:pPr marL="0" indent="0" algn="l">
                        <a:buNone/>
                      </a:pPr>
                      <a:r>
                        <a:rPr lang="en-US" sz="900" dirty="0">
                          <a:solidFill>
                            <a:srgbClr val="B0BEC5"/>
                          </a:solidFill>
                        </a:rPr>
                        <a:t>2026 Jun</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90CAF9"/>
                          </a:solidFill>
                        </a:rPr>
                        <a:t>3.91%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00BFA5"/>
                          </a:solidFill>
                        </a:rPr>
                        <a:t>4.14%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48FB1"/>
                          </a:solidFill>
                        </a:rPr>
                        <a:t>3.92%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EF9A9A"/>
                          </a:solidFill>
                        </a:rPr>
                        <a:t>3.90%</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6"/>
                  </a:ext>
                </a:extLst>
              </a:tr>
              <a:tr h="246888">
                <a:tc>
                  <a:txBody>
                    <a:bodyPr/>
                    <a:lstStyle/>
                    <a:p>
                      <a:pPr marL="0" indent="0" algn="l">
                        <a:buNone/>
                      </a:pPr>
                      <a:r>
                        <a:rPr lang="en-US" sz="900" b="1" dirty="0">
                          <a:solidFill>
                            <a:srgbClr val="FF8F00"/>
                          </a:solidFill>
                        </a:rPr>
                        <a:t>2026 Jul</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4.14%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4.30%</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4.15%</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4.14%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7"/>
                  </a:ext>
                </a:extLst>
              </a:tr>
              <a:tr h="246888">
                <a:tc>
                  <a:txBody>
                    <a:bodyPr/>
                    <a:lstStyle/>
                    <a:p>
                      <a:pPr marL="0" indent="0" algn="l">
                        <a:buNone/>
                      </a:pPr>
                      <a:r>
                        <a:rPr lang="en-US" sz="900" b="1" dirty="0">
                          <a:solidFill>
                            <a:srgbClr val="FF8F00"/>
                          </a:solidFill>
                        </a:rPr>
                        <a:t>2026 Aug</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4.34%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4.46%</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4.35%</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4.35%</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08"/>
                  </a:ext>
                </a:extLst>
              </a:tr>
              <a:tr h="246888">
                <a:tc>
                  <a:txBody>
                    <a:bodyPr/>
                    <a:lstStyle/>
                    <a:p>
                      <a:pPr marL="0" indent="0" algn="l">
                        <a:buNone/>
                      </a:pPr>
                      <a:r>
                        <a:rPr lang="en-US" sz="900" b="1" dirty="0">
                          <a:solidFill>
                            <a:srgbClr val="FF8F00"/>
                          </a:solidFill>
                        </a:rPr>
                        <a:t>2026 Sep</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4.33%</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4.47%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4.34%</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FF8F00"/>
                          </a:solidFill>
                        </a:rPr>
                        <a:t>4.33%</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09"/>
                  </a:ext>
                </a:extLst>
              </a:tr>
              <a:tr h="246888">
                <a:tc>
                  <a:txBody>
                    <a:bodyPr/>
                    <a:lstStyle/>
                    <a:p>
                      <a:pPr marL="0" indent="0" algn="l">
                        <a:buNone/>
                      </a:pPr>
                      <a:r>
                        <a:rPr lang="en-US" sz="900" b="1" dirty="0">
                          <a:solidFill>
                            <a:srgbClr val="FF8F00"/>
                          </a:solidFill>
                        </a:rPr>
                        <a:t>2026 Oct</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4.40%</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4.55%</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4.41%</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FF8F00"/>
                          </a:solidFill>
                        </a:rPr>
                        <a:t>4.42%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10"/>
                  </a:ext>
                </a:extLst>
              </a:tr>
              <a:tr h="246888">
                <a:tc>
                  <a:txBody>
                    <a:bodyPr/>
                    <a:lstStyle/>
                    <a:p>
                      <a:pPr marL="0" indent="0" algn="l">
                        <a:buNone/>
                      </a:pPr>
                      <a:r>
                        <a:rPr lang="en-US" sz="900" dirty="0">
                          <a:solidFill>
                            <a:srgbClr val="B0BEC5"/>
                          </a:solidFill>
                        </a:rPr>
                        <a:t>2026 Nov</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90CAF9"/>
                          </a:solidFill>
                        </a:rPr>
                        <a:t>4.27%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b="1" dirty="0">
                          <a:solidFill>
                            <a:srgbClr val="00BFA5"/>
                          </a:solidFill>
                        </a:rPr>
                        <a:t>4.47%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F48FB1"/>
                          </a:solidFill>
                        </a:rPr>
                        <a:t>4.29%</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tc>
                  <a:txBody>
                    <a:bodyPr/>
                    <a:lstStyle/>
                    <a:p>
                      <a:pPr marL="0" indent="0" algn="ctr">
                        <a:buNone/>
                      </a:pPr>
                      <a:r>
                        <a:rPr lang="en-US" sz="900" dirty="0">
                          <a:solidFill>
                            <a:srgbClr val="EF9A9A"/>
                          </a:solidFill>
                        </a:rPr>
                        <a:t>4.30%</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91628"/>
                    </a:solidFill>
                  </a:tcPr>
                </a:tc>
                <a:extLst>
                  <a:ext uri="{0D108BD9-81ED-4DB2-BD59-A6C34878D82A}">
                    <a16:rowId xmlns:a16="http://schemas.microsoft.com/office/drawing/2014/main" val="10011"/>
                  </a:ext>
                </a:extLst>
              </a:tr>
              <a:tr h="246888">
                <a:tc>
                  <a:txBody>
                    <a:bodyPr/>
                    <a:lstStyle/>
                    <a:p>
                      <a:pPr marL="0" indent="0" algn="l">
                        <a:buNone/>
                      </a:pPr>
                      <a:r>
                        <a:rPr lang="en-US" sz="900" dirty="0">
                          <a:solidFill>
                            <a:srgbClr val="B0BEC5"/>
                          </a:solidFill>
                        </a:rPr>
                        <a:t>2026 Dec</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90CAF9"/>
                          </a:solidFill>
                        </a:rPr>
                        <a:t>4.37%</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b="1" dirty="0">
                          <a:solidFill>
                            <a:srgbClr val="00BFA5"/>
                          </a:solidFill>
                        </a:rPr>
                        <a:t>4.55%</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F48FB1"/>
                          </a:solidFill>
                        </a:rPr>
                        <a:t>4.39%</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tc>
                  <a:txBody>
                    <a:bodyPr/>
                    <a:lstStyle/>
                    <a:p>
                      <a:pPr marL="0" indent="0" algn="ctr">
                        <a:buNone/>
                      </a:pPr>
                      <a:r>
                        <a:rPr lang="en-US" sz="900" dirty="0">
                          <a:solidFill>
                            <a:srgbClr val="EF9A9A"/>
                          </a:solidFill>
                        </a:rPr>
                        <a:t>4.42%</a:t>
                      </a:r>
                      <a:endParaRPr lang="en-US" sz="900" dirty="0"/>
                    </a:p>
                  </a:txBody>
                  <a:tcPr>
                    <a:lnL w="6350" cap="flat" cmpd="sng" algn="ctr">
                      <a:solidFill>
                        <a:srgbClr val="1A3355"/>
                      </a:solidFill>
                      <a:prstDash val="solid"/>
                      <a:round/>
                      <a:headEnd type="none" w="med" len="med"/>
                      <a:tailEnd type="none" w="med" len="med"/>
                    </a:lnL>
                    <a:lnR w="6350" cap="flat" cmpd="sng" algn="ctr">
                      <a:solidFill>
                        <a:srgbClr val="1A3355"/>
                      </a:solidFill>
                      <a:prstDash val="solid"/>
                      <a:round/>
                      <a:headEnd type="none" w="med" len="med"/>
                      <a:tailEnd type="none" w="med" len="med"/>
                    </a:lnR>
                    <a:lnT w="6350" cap="flat" cmpd="sng" algn="ctr">
                      <a:solidFill>
                        <a:srgbClr val="1A3355"/>
                      </a:solidFill>
                      <a:prstDash val="solid"/>
                      <a:round/>
                      <a:headEnd type="none" w="med" len="med"/>
                      <a:tailEnd type="none" w="med" len="med"/>
                    </a:lnT>
                    <a:lnB w="6350" cap="flat" cmpd="sng" algn="ctr">
                      <a:solidFill>
                        <a:srgbClr val="1A3355"/>
                      </a:solidFill>
                      <a:prstDash val="solid"/>
                      <a:round/>
                      <a:headEnd type="none" w="med" len="med"/>
                      <a:tailEnd type="none" w="med" len="med"/>
                    </a:lnB>
                    <a:solidFill>
                      <a:srgbClr val="0D1E33"/>
                    </a:solidFill>
                  </a:tcPr>
                </a:tc>
                <a:extLst>
                  <a:ext uri="{0D108BD9-81ED-4DB2-BD59-A6C34878D82A}">
                    <a16:rowId xmlns:a16="http://schemas.microsoft.com/office/drawing/2014/main" val="10012"/>
                  </a:ext>
                </a:extLst>
              </a:tr>
            </a:tbl>
          </a:graphicData>
        </a:graphic>
      </p:graphicFrame>
      <p:sp>
        <p:nvSpPr>
          <p:cNvPr id="7" name="Shape 4"/>
          <p:cNvSpPr/>
          <p:nvPr/>
        </p:nvSpPr>
        <p:spPr>
          <a:xfrm>
            <a:off x="5943600" y="1417320"/>
            <a:ext cx="457200" cy="457200"/>
          </a:xfrm>
          <a:prstGeom prst="rect">
            <a:avLst/>
          </a:prstGeom>
          <a:solidFill>
            <a:srgbClr val="112244"/>
          </a:solidFill>
          <a:ln w="12700">
            <a:solidFill>
              <a:srgbClr val="1E3A5F"/>
            </a:solidFill>
            <a:prstDash val="solid"/>
          </a:ln>
        </p:spPr>
        <p:txBody>
          <a:bodyPr/>
          <a:lstStyle/>
          <a:p>
            <a:endParaRPr lang="es-MX"/>
          </a:p>
        </p:txBody>
      </p:sp>
      <p:sp>
        <p:nvSpPr>
          <p:cNvPr id="8" name="Text 5"/>
          <p:cNvSpPr/>
          <p:nvPr/>
        </p:nvSpPr>
        <p:spPr>
          <a:xfrm>
            <a:off x="5943600" y="1417320"/>
            <a:ext cx="457200" cy="457200"/>
          </a:xfrm>
          <a:prstGeom prst="rect">
            <a:avLst/>
          </a:prstGeom>
          <a:noFill/>
          <a:ln/>
        </p:spPr>
        <p:txBody>
          <a:bodyPr wrap="square" lIns="0" tIns="0" rIns="0" bIns="0" rtlCol="0" anchor="ctr"/>
          <a:lstStyle/>
          <a:p>
            <a:pPr marL="0" indent="0" algn="ctr">
              <a:buNone/>
            </a:pPr>
            <a:r>
              <a:rPr lang="en-US" sz="1800" dirty="0">
                <a:solidFill>
                  <a:srgbClr val="00BFA5"/>
                </a:solidFill>
              </a:rPr>
              <a:t>↑</a:t>
            </a:r>
            <a:endParaRPr lang="en-US" sz="1800" dirty="0"/>
          </a:p>
        </p:txBody>
      </p:sp>
      <p:sp>
        <p:nvSpPr>
          <p:cNvPr id="9" name="Text 6"/>
          <p:cNvSpPr/>
          <p:nvPr/>
        </p:nvSpPr>
        <p:spPr>
          <a:xfrm>
            <a:off x="6473952" y="1435608"/>
            <a:ext cx="2377440" cy="219456"/>
          </a:xfrm>
          <a:prstGeom prst="rect">
            <a:avLst/>
          </a:prstGeom>
          <a:noFill/>
          <a:ln/>
        </p:spPr>
        <p:txBody>
          <a:bodyPr wrap="square" lIns="0" tIns="0" rIns="0" bIns="0" rtlCol="0" anchor="ctr"/>
          <a:lstStyle/>
          <a:p>
            <a:pPr marL="0" indent="0">
              <a:buNone/>
            </a:pPr>
            <a:r>
              <a:rPr lang="en-US" sz="1000" b="1" dirty="0">
                <a:solidFill>
                  <a:srgbClr val="FFFFFF"/>
                </a:solidFill>
              </a:rPr>
              <a:t>MWoP highest every month</a:t>
            </a:r>
            <a:endParaRPr lang="en-US" sz="1000" dirty="0"/>
          </a:p>
        </p:txBody>
      </p:sp>
      <p:sp>
        <p:nvSpPr>
          <p:cNvPr id="10" name="Text 7"/>
          <p:cNvSpPr/>
          <p:nvPr/>
        </p:nvSpPr>
        <p:spPr>
          <a:xfrm>
            <a:off x="6473952" y="1655064"/>
            <a:ext cx="2377440" cy="320040"/>
          </a:xfrm>
          <a:prstGeom prst="rect">
            <a:avLst/>
          </a:prstGeom>
          <a:noFill/>
          <a:ln/>
        </p:spPr>
        <p:txBody>
          <a:bodyPr wrap="square" lIns="0" tIns="0" rIns="0" bIns="0" rtlCol="0" anchor="ctr"/>
          <a:lstStyle/>
          <a:p>
            <a:pPr marL="0" indent="0">
              <a:buNone/>
            </a:pPr>
            <a:r>
              <a:rPr lang="en-US" sz="900" dirty="0">
                <a:solidFill>
                  <a:srgbClr val="90A4AE"/>
                </a:solidFill>
              </a:rPr>
              <a:t>Vulnerability ranking preserved throughout all of 2026 — structural, not seasonal.</a:t>
            </a:r>
            <a:endParaRPr lang="en-US" sz="900" dirty="0"/>
          </a:p>
        </p:txBody>
      </p:sp>
      <p:sp>
        <p:nvSpPr>
          <p:cNvPr id="6" name="Shape 8"/>
          <p:cNvSpPr/>
          <p:nvPr/>
        </p:nvSpPr>
        <p:spPr>
          <a:xfrm>
            <a:off x="5943600" y="2221992"/>
            <a:ext cx="457200" cy="457200"/>
          </a:xfrm>
          <a:prstGeom prst="rect">
            <a:avLst/>
          </a:prstGeom>
          <a:solidFill>
            <a:srgbClr val="112244"/>
          </a:solidFill>
          <a:ln w="12700">
            <a:solidFill>
              <a:srgbClr val="1E3A5F"/>
            </a:solidFill>
            <a:prstDash val="solid"/>
          </a:ln>
        </p:spPr>
        <p:txBody>
          <a:bodyPr/>
          <a:lstStyle/>
          <a:p>
            <a:endParaRPr lang="es-MX"/>
          </a:p>
        </p:txBody>
      </p:sp>
      <p:sp>
        <p:nvSpPr>
          <p:cNvPr id="12" name="Text 9"/>
          <p:cNvSpPr/>
          <p:nvPr/>
        </p:nvSpPr>
        <p:spPr>
          <a:xfrm>
            <a:off x="5943600" y="2221992"/>
            <a:ext cx="457200" cy="457200"/>
          </a:xfrm>
          <a:prstGeom prst="rect">
            <a:avLst/>
          </a:prstGeom>
          <a:noFill/>
          <a:ln/>
        </p:spPr>
        <p:txBody>
          <a:bodyPr wrap="square" lIns="0" tIns="0" rIns="0" bIns="0" rtlCol="0" anchor="ctr"/>
          <a:lstStyle/>
          <a:p>
            <a:pPr marL="0" indent="0" algn="ctr">
              <a:buNone/>
            </a:pPr>
            <a:r>
              <a:rPr lang="en-US" sz="1800" dirty="0">
                <a:solidFill>
                  <a:srgbClr val="00BFA5"/>
                </a:solidFill>
              </a:rPr>
              <a:t>〜</a:t>
            </a:r>
            <a:endParaRPr lang="en-US" sz="1800" dirty="0"/>
          </a:p>
        </p:txBody>
      </p:sp>
      <p:sp>
        <p:nvSpPr>
          <p:cNvPr id="13" name="Text 10"/>
          <p:cNvSpPr/>
          <p:nvPr/>
        </p:nvSpPr>
        <p:spPr>
          <a:xfrm>
            <a:off x="6473952" y="2240280"/>
            <a:ext cx="2377440" cy="219456"/>
          </a:xfrm>
          <a:prstGeom prst="rect">
            <a:avLst/>
          </a:prstGeom>
          <a:noFill/>
          <a:ln/>
        </p:spPr>
        <p:txBody>
          <a:bodyPr wrap="square" lIns="0" tIns="0" rIns="0" bIns="0" rtlCol="0" anchor="ctr"/>
          <a:lstStyle/>
          <a:p>
            <a:pPr marL="0" indent="0">
              <a:buNone/>
            </a:pPr>
            <a:r>
              <a:rPr lang="en-US" sz="1000" b="1" dirty="0">
                <a:solidFill>
                  <a:srgbClr val="FFFFFF"/>
                </a:solidFill>
              </a:rPr>
              <a:t>Seasonal V-shape</a:t>
            </a:r>
            <a:endParaRPr lang="en-US" sz="1000" dirty="0"/>
          </a:p>
        </p:txBody>
      </p:sp>
      <p:sp>
        <p:nvSpPr>
          <p:cNvPr id="14" name="Text 11"/>
          <p:cNvSpPr/>
          <p:nvPr/>
        </p:nvSpPr>
        <p:spPr>
          <a:xfrm>
            <a:off x="6473952" y="2459736"/>
            <a:ext cx="2377440" cy="320040"/>
          </a:xfrm>
          <a:prstGeom prst="rect">
            <a:avLst/>
          </a:prstGeom>
          <a:noFill/>
          <a:ln/>
        </p:spPr>
        <p:txBody>
          <a:bodyPr wrap="square" lIns="0" tIns="0" rIns="0" bIns="0" rtlCol="0" anchor="ctr"/>
          <a:lstStyle/>
          <a:p>
            <a:pPr marL="0" indent="0">
              <a:buNone/>
            </a:pPr>
            <a:r>
              <a:rPr lang="en-US" sz="900" dirty="0">
                <a:solidFill>
                  <a:srgbClr val="90A4AE"/>
                </a:solidFill>
              </a:rPr>
              <a:t>All groups dip in Q1 then rebound in Q3. Peak period: July–October (highlighted).</a:t>
            </a:r>
            <a:endParaRPr lang="en-US" sz="900" dirty="0"/>
          </a:p>
        </p:txBody>
      </p:sp>
      <p:sp>
        <p:nvSpPr>
          <p:cNvPr id="15" name="Shape 12"/>
          <p:cNvSpPr/>
          <p:nvPr/>
        </p:nvSpPr>
        <p:spPr>
          <a:xfrm>
            <a:off x="5943600" y="3026664"/>
            <a:ext cx="457200" cy="457200"/>
          </a:xfrm>
          <a:prstGeom prst="rect">
            <a:avLst/>
          </a:prstGeom>
          <a:solidFill>
            <a:srgbClr val="112244"/>
          </a:solidFill>
          <a:ln w="12700">
            <a:solidFill>
              <a:srgbClr val="1E3A5F"/>
            </a:solidFill>
            <a:prstDash val="solid"/>
          </a:ln>
        </p:spPr>
        <p:txBody>
          <a:bodyPr/>
          <a:lstStyle/>
          <a:p>
            <a:endParaRPr lang="es-MX"/>
          </a:p>
        </p:txBody>
      </p:sp>
      <p:sp>
        <p:nvSpPr>
          <p:cNvPr id="16" name="Text 13"/>
          <p:cNvSpPr/>
          <p:nvPr/>
        </p:nvSpPr>
        <p:spPr>
          <a:xfrm>
            <a:off x="5943600" y="3026664"/>
            <a:ext cx="457200" cy="457200"/>
          </a:xfrm>
          <a:prstGeom prst="rect">
            <a:avLst/>
          </a:prstGeom>
          <a:noFill/>
          <a:ln/>
        </p:spPr>
        <p:txBody>
          <a:bodyPr wrap="square" lIns="0" tIns="0" rIns="0" bIns="0" rtlCol="0" anchor="ctr"/>
          <a:lstStyle/>
          <a:p>
            <a:pPr marL="0" indent="0" algn="ctr">
              <a:buNone/>
            </a:pPr>
            <a:r>
              <a:rPr lang="en-US" sz="1800" dirty="0">
                <a:solidFill>
                  <a:srgbClr val="00BFA5"/>
                </a:solidFill>
              </a:rPr>
              <a:t>↘</a:t>
            </a:r>
            <a:endParaRPr lang="en-US" sz="1800" dirty="0"/>
          </a:p>
        </p:txBody>
      </p:sp>
      <p:sp>
        <p:nvSpPr>
          <p:cNvPr id="17" name="Text 14"/>
          <p:cNvSpPr/>
          <p:nvPr/>
        </p:nvSpPr>
        <p:spPr>
          <a:xfrm>
            <a:off x="6473952" y="3044952"/>
            <a:ext cx="2377440" cy="219456"/>
          </a:xfrm>
          <a:prstGeom prst="rect">
            <a:avLst/>
          </a:prstGeom>
          <a:noFill/>
          <a:ln/>
        </p:spPr>
        <p:txBody>
          <a:bodyPr wrap="square" lIns="0" tIns="0" rIns="0" bIns="0" rtlCol="0" anchor="ctr"/>
          <a:lstStyle/>
          <a:p>
            <a:pPr marL="0" indent="0">
              <a:buNone/>
            </a:pPr>
            <a:r>
              <a:rPr lang="en-US" sz="1000" b="1" dirty="0">
                <a:solidFill>
                  <a:srgbClr val="FFFFFF"/>
                </a:solidFill>
              </a:rPr>
              <a:t>Gradual moderation</a:t>
            </a:r>
            <a:endParaRPr lang="en-US" sz="1000" dirty="0"/>
          </a:p>
        </p:txBody>
      </p:sp>
      <p:sp>
        <p:nvSpPr>
          <p:cNvPr id="18" name="Text 15"/>
          <p:cNvSpPr/>
          <p:nvPr/>
        </p:nvSpPr>
        <p:spPr>
          <a:xfrm>
            <a:off x="6473952" y="3264408"/>
            <a:ext cx="2377440" cy="320040"/>
          </a:xfrm>
          <a:prstGeom prst="rect">
            <a:avLst/>
          </a:prstGeom>
          <a:noFill/>
          <a:ln/>
        </p:spPr>
        <p:txBody>
          <a:bodyPr wrap="square" lIns="0" tIns="0" rIns="0" bIns="0" rtlCol="0" anchor="ctr"/>
          <a:lstStyle/>
          <a:p>
            <a:pPr marL="0" indent="0">
              <a:buNone/>
            </a:pPr>
            <a:r>
              <a:rPr lang="en-US" sz="900" dirty="0">
                <a:solidFill>
                  <a:srgbClr val="90A4AE"/>
                </a:solidFill>
              </a:rPr>
              <a:t>Peak forecast ~4.6% vs 2022 peak ~8%. Consistent with Banco de México convergence path.</a:t>
            </a:r>
            <a:endParaRPr lang="en-US" sz="900" dirty="0"/>
          </a:p>
        </p:txBody>
      </p:sp>
      <p:sp>
        <p:nvSpPr>
          <p:cNvPr id="19" name="Shape 16"/>
          <p:cNvSpPr/>
          <p:nvPr/>
        </p:nvSpPr>
        <p:spPr>
          <a:xfrm>
            <a:off x="5943600" y="3831336"/>
            <a:ext cx="457200" cy="457200"/>
          </a:xfrm>
          <a:prstGeom prst="rect">
            <a:avLst/>
          </a:prstGeom>
          <a:solidFill>
            <a:srgbClr val="112244"/>
          </a:solidFill>
          <a:ln w="12700">
            <a:solidFill>
              <a:srgbClr val="1E3A5F"/>
            </a:solidFill>
            <a:prstDash val="solid"/>
          </a:ln>
        </p:spPr>
        <p:txBody>
          <a:bodyPr/>
          <a:lstStyle/>
          <a:p>
            <a:endParaRPr lang="es-MX"/>
          </a:p>
        </p:txBody>
      </p:sp>
      <p:sp>
        <p:nvSpPr>
          <p:cNvPr id="20" name="Text 17"/>
          <p:cNvSpPr/>
          <p:nvPr/>
        </p:nvSpPr>
        <p:spPr>
          <a:xfrm>
            <a:off x="5943600" y="3831336"/>
            <a:ext cx="457200" cy="457200"/>
          </a:xfrm>
          <a:prstGeom prst="rect">
            <a:avLst/>
          </a:prstGeom>
          <a:noFill/>
          <a:ln/>
        </p:spPr>
        <p:txBody>
          <a:bodyPr wrap="square" lIns="0" tIns="0" rIns="0" bIns="0" rtlCol="0" anchor="ctr"/>
          <a:lstStyle/>
          <a:p>
            <a:pPr marL="0" indent="0" algn="ctr">
              <a:buNone/>
            </a:pPr>
            <a:r>
              <a:rPr lang="en-US" sz="1800" dirty="0">
                <a:solidFill>
                  <a:srgbClr val="00BFA5"/>
                </a:solidFill>
              </a:rPr>
              <a:t>≈</a:t>
            </a:r>
            <a:endParaRPr lang="en-US" sz="1800" dirty="0"/>
          </a:p>
        </p:txBody>
      </p:sp>
      <p:sp>
        <p:nvSpPr>
          <p:cNvPr id="21" name="Text 18"/>
          <p:cNvSpPr/>
          <p:nvPr/>
        </p:nvSpPr>
        <p:spPr>
          <a:xfrm>
            <a:off x="6473952" y="3849624"/>
            <a:ext cx="2377440" cy="219456"/>
          </a:xfrm>
          <a:prstGeom prst="rect">
            <a:avLst/>
          </a:prstGeom>
          <a:noFill/>
          <a:ln/>
        </p:spPr>
        <p:txBody>
          <a:bodyPr wrap="square" lIns="0" tIns="0" rIns="0" bIns="0" rtlCol="0" anchor="ctr"/>
          <a:lstStyle/>
          <a:p>
            <a:pPr marL="0" indent="0">
              <a:buNone/>
            </a:pPr>
            <a:r>
              <a:rPr lang="en-US" sz="1000" b="1" dirty="0">
                <a:solidFill>
                  <a:srgbClr val="FFFFFF"/>
                </a:solidFill>
              </a:rPr>
              <a:t>MWoP−FWP gap: +0.27 pp</a:t>
            </a:r>
            <a:endParaRPr lang="en-US" sz="1000" dirty="0"/>
          </a:p>
        </p:txBody>
      </p:sp>
      <p:sp>
        <p:nvSpPr>
          <p:cNvPr id="22" name="Text 19"/>
          <p:cNvSpPr/>
          <p:nvPr/>
        </p:nvSpPr>
        <p:spPr>
          <a:xfrm>
            <a:off x="6473952" y="4069080"/>
            <a:ext cx="2377440" cy="320040"/>
          </a:xfrm>
          <a:prstGeom prst="rect">
            <a:avLst/>
          </a:prstGeom>
          <a:noFill/>
          <a:ln/>
        </p:spPr>
        <p:txBody>
          <a:bodyPr wrap="square" lIns="0" tIns="0" rIns="0" bIns="0" rtlCol="0" anchor="ctr"/>
          <a:lstStyle/>
          <a:p>
            <a:pPr marL="0" indent="0">
              <a:buNone/>
            </a:pPr>
            <a:r>
              <a:rPr lang="en-US" sz="900" dirty="0">
                <a:solidFill>
                  <a:srgbClr val="90A4AE"/>
                </a:solidFill>
              </a:rPr>
              <a:t>The structural gap is persistent and forecastable — not a coincidence.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F3A"/>
          </a:solidFill>
          <a:ln w="12700">
            <a:solidFill>
              <a:srgbClr val="0B1F3A"/>
            </a:solidFill>
            <a:prstDash val="solid"/>
          </a:ln>
        </p:spPr>
        <p:txBody>
          <a:bodyPr/>
          <a:lstStyle/>
          <a:p>
            <a:endParaRPr lang="es-MX"/>
          </a:p>
        </p:txBody>
      </p:sp>
      <p:sp>
        <p:nvSpPr>
          <p:cNvPr id="3" name="Text 1"/>
          <p:cNvSpPr/>
          <p:nvPr/>
        </p:nvSpPr>
        <p:spPr>
          <a:xfrm>
            <a:off x="365760" y="91440"/>
            <a:ext cx="36576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CONCLUSIONS</a:t>
            </a:r>
            <a:endParaRPr lang="en-US" sz="1000" dirty="0"/>
          </a:p>
        </p:txBody>
      </p:sp>
      <p:sp>
        <p:nvSpPr>
          <p:cNvPr id="4" name="Text 2"/>
          <p:cNvSpPr/>
          <p:nvPr/>
        </p:nvSpPr>
        <p:spPr>
          <a:xfrm>
            <a:off x="365760" y="384048"/>
            <a:ext cx="8229600" cy="457200"/>
          </a:xfrm>
          <a:prstGeom prst="rect">
            <a:avLst/>
          </a:prstGeom>
          <a:noFill/>
          <a:ln/>
        </p:spPr>
        <p:txBody>
          <a:bodyPr wrap="square" lIns="0" tIns="0" rIns="0" bIns="0" rtlCol="0" anchor="ctr"/>
          <a:lstStyle/>
          <a:p>
            <a:pPr marL="0" indent="0">
              <a:buNone/>
            </a:pPr>
            <a:r>
              <a:rPr lang="en-US" sz="2000" b="1" dirty="0">
                <a:solidFill>
                  <a:srgbClr val="FFFFFF"/>
                </a:solidFill>
              </a:rPr>
              <a:t>Revisiting the hypothesis — what the data actually shows</a:t>
            </a:r>
            <a:endParaRPr lang="en-US" sz="2000" dirty="0"/>
          </a:p>
        </p:txBody>
      </p:sp>
      <p:sp>
        <p:nvSpPr>
          <p:cNvPr id="5" name="Shape 3"/>
          <p:cNvSpPr/>
          <p:nvPr/>
        </p:nvSpPr>
        <p:spPr>
          <a:xfrm>
            <a:off x="274320" y="1024128"/>
            <a:ext cx="8595360" cy="530352"/>
          </a:xfrm>
          <a:prstGeom prst="rect">
            <a:avLst/>
          </a:prstGeom>
          <a:solidFill>
            <a:srgbClr val="071528"/>
          </a:solidFill>
          <a:ln w="12700">
            <a:solidFill>
              <a:srgbClr val="00BFA5"/>
            </a:solidFill>
            <a:prstDash val="solid"/>
          </a:ln>
        </p:spPr>
        <p:txBody>
          <a:bodyPr/>
          <a:lstStyle/>
          <a:p>
            <a:endParaRPr lang="es-MX"/>
          </a:p>
        </p:txBody>
      </p:sp>
      <p:sp>
        <p:nvSpPr>
          <p:cNvPr id="6" name="Text 4"/>
          <p:cNvSpPr/>
          <p:nvPr/>
        </p:nvSpPr>
        <p:spPr>
          <a:xfrm>
            <a:off x="411480" y="1042416"/>
            <a:ext cx="8321040" cy="493776"/>
          </a:xfrm>
          <a:prstGeom prst="rect">
            <a:avLst/>
          </a:prstGeom>
          <a:noFill/>
          <a:ln/>
        </p:spPr>
        <p:txBody>
          <a:bodyPr wrap="square" lIns="0" tIns="0" rIns="0" bIns="0" rtlCol="0" anchor="ctr"/>
          <a:lstStyle/>
          <a:p>
            <a:pPr marL="0" indent="0" algn="ctr">
              <a:buNone/>
            </a:pPr>
            <a:r>
              <a:rPr lang="en-US" sz="1400" b="1" i="1" dirty="0">
                <a:solidFill>
                  <a:srgbClr val="00BFA5"/>
                </a:solidFill>
              </a:rPr>
              <a:t>"The inflation gap in Mexico is not a gender story — it is a household COMPOSITION story."</a:t>
            </a:r>
            <a:endParaRPr lang="en-US" sz="1400" dirty="0"/>
          </a:p>
        </p:txBody>
      </p:sp>
      <p:sp>
        <p:nvSpPr>
          <p:cNvPr id="7" name="Shape 5"/>
          <p:cNvSpPr/>
          <p:nvPr/>
        </p:nvSpPr>
        <p:spPr>
          <a:xfrm>
            <a:off x="274320" y="1664208"/>
            <a:ext cx="4251960" cy="1280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8" name="Shape 6"/>
          <p:cNvSpPr/>
          <p:nvPr/>
        </p:nvSpPr>
        <p:spPr>
          <a:xfrm>
            <a:off x="274320" y="1664208"/>
            <a:ext cx="502920" cy="1280160"/>
          </a:xfrm>
          <a:prstGeom prst="rect">
            <a:avLst/>
          </a:prstGeom>
          <a:solidFill>
            <a:srgbClr val="1565C0"/>
          </a:solidFill>
          <a:ln w="12700">
            <a:solidFill>
              <a:srgbClr val="1565C0"/>
            </a:solidFill>
            <a:prstDash val="solid"/>
          </a:ln>
        </p:spPr>
        <p:txBody>
          <a:bodyPr/>
          <a:lstStyle/>
          <a:p>
            <a:endParaRPr lang="es-MX"/>
          </a:p>
        </p:txBody>
      </p:sp>
      <p:sp>
        <p:nvSpPr>
          <p:cNvPr id="9" name="Text 7"/>
          <p:cNvSpPr/>
          <p:nvPr/>
        </p:nvSpPr>
        <p:spPr>
          <a:xfrm>
            <a:off x="274320" y="1664208"/>
            <a:ext cx="502920" cy="12801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10" name="Text 8"/>
          <p:cNvSpPr/>
          <p:nvPr/>
        </p:nvSpPr>
        <p:spPr>
          <a:xfrm>
            <a:off x="868680" y="1773936"/>
            <a:ext cx="3566160" cy="320040"/>
          </a:xfrm>
          <a:prstGeom prst="rect">
            <a:avLst/>
          </a:prstGeom>
          <a:noFill/>
          <a:ln/>
        </p:spPr>
        <p:txBody>
          <a:bodyPr wrap="square" lIns="0" tIns="0" rIns="0" bIns="0" rtlCol="0" anchor="ctr"/>
          <a:lstStyle/>
          <a:p>
            <a:pPr marL="0" indent="0">
              <a:buNone/>
            </a:pPr>
            <a:r>
              <a:rPr lang="en-US" sz="1200" b="1" dirty="0">
                <a:solidFill>
                  <a:srgbClr val="1565C0"/>
                </a:solidFill>
              </a:rPr>
              <a:t>Hypothesis reversed</a:t>
            </a:r>
            <a:endParaRPr lang="en-US" sz="1200" dirty="0"/>
          </a:p>
        </p:txBody>
      </p:sp>
      <p:sp>
        <p:nvSpPr>
          <p:cNvPr id="11" name="Text 9"/>
          <p:cNvSpPr/>
          <p:nvPr/>
        </p:nvSpPr>
        <p:spPr>
          <a:xfrm>
            <a:off x="868680" y="2121408"/>
            <a:ext cx="3566160" cy="713232"/>
          </a:xfrm>
          <a:prstGeom prst="rect">
            <a:avLst/>
          </a:prstGeom>
          <a:noFill/>
          <a:ln/>
        </p:spPr>
        <p:txBody>
          <a:bodyPr wrap="square" lIns="0" tIns="0" rIns="0" bIns="0" rtlCol="0" anchor="ctr"/>
          <a:lstStyle/>
          <a:p>
            <a:pPr marL="0" indent="0">
              <a:buNone/>
            </a:pPr>
            <a:r>
              <a:rPr lang="en-US" sz="1050" dirty="0">
                <a:solidFill>
                  <a:srgbClr val="37474F"/>
                </a:solidFill>
              </a:rPr>
              <a:t>Female-alone households (FWoP) do NOT pay the most inflation. Male-alone (MWoP) does. Household structure matters more than the sex of the head.</a:t>
            </a:r>
            <a:endParaRPr lang="en-US" sz="1050" dirty="0"/>
          </a:p>
        </p:txBody>
      </p:sp>
      <p:sp>
        <p:nvSpPr>
          <p:cNvPr id="12" name="Shape 10"/>
          <p:cNvSpPr/>
          <p:nvPr/>
        </p:nvSpPr>
        <p:spPr>
          <a:xfrm>
            <a:off x="4709160" y="1664208"/>
            <a:ext cx="4251960" cy="1280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13" name="Shape 11"/>
          <p:cNvSpPr/>
          <p:nvPr/>
        </p:nvSpPr>
        <p:spPr>
          <a:xfrm>
            <a:off x="4709160" y="1664208"/>
            <a:ext cx="502920" cy="1280160"/>
          </a:xfrm>
          <a:prstGeom prst="rect">
            <a:avLst/>
          </a:prstGeom>
          <a:solidFill>
            <a:srgbClr val="880E4F"/>
          </a:solidFill>
          <a:ln w="12700">
            <a:solidFill>
              <a:srgbClr val="880E4F"/>
            </a:solidFill>
            <a:prstDash val="solid"/>
          </a:ln>
        </p:spPr>
        <p:txBody>
          <a:bodyPr/>
          <a:lstStyle/>
          <a:p>
            <a:endParaRPr lang="es-MX"/>
          </a:p>
        </p:txBody>
      </p:sp>
      <p:sp>
        <p:nvSpPr>
          <p:cNvPr id="14" name="Text 12"/>
          <p:cNvSpPr/>
          <p:nvPr/>
        </p:nvSpPr>
        <p:spPr>
          <a:xfrm>
            <a:off x="4709160" y="1664208"/>
            <a:ext cx="502920" cy="12801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15" name="Text 13"/>
          <p:cNvSpPr/>
          <p:nvPr/>
        </p:nvSpPr>
        <p:spPr>
          <a:xfrm>
            <a:off x="5303520" y="1773936"/>
            <a:ext cx="3566160" cy="320040"/>
          </a:xfrm>
          <a:prstGeom prst="rect">
            <a:avLst/>
          </a:prstGeom>
          <a:noFill/>
          <a:ln/>
        </p:spPr>
        <p:txBody>
          <a:bodyPr wrap="square" lIns="0" tIns="0" rIns="0" bIns="0" rtlCol="0" anchor="ctr"/>
          <a:lstStyle/>
          <a:p>
            <a:pPr marL="0" indent="0">
              <a:buNone/>
            </a:pPr>
            <a:r>
              <a:rPr lang="en-US" sz="1200" b="1" dirty="0">
                <a:solidFill>
                  <a:srgbClr val="880E4F"/>
                </a:solidFill>
              </a:rPr>
              <a:t>Official CPI overestimates for all groups</a:t>
            </a:r>
            <a:endParaRPr lang="en-US" sz="1200" dirty="0"/>
          </a:p>
        </p:txBody>
      </p:sp>
      <p:sp>
        <p:nvSpPr>
          <p:cNvPr id="16" name="Text 14"/>
          <p:cNvSpPr/>
          <p:nvPr/>
        </p:nvSpPr>
        <p:spPr>
          <a:xfrm>
            <a:off x="5303520" y="2121408"/>
            <a:ext cx="3566160" cy="713232"/>
          </a:xfrm>
          <a:prstGeom prst="rect">
            <a:avLst/>
          </a:prstGeom>
          <a:noFill/>
          <a:ln/>
        </p:spPr>
        <p:txBody>
          <a:bodyPr wrap="square" lIns="0" tIns="0" rIns="0" bIns="0" rtlCol="0" anchor="ctr"/>
          <a:lstStyle/>
          <a:p>
            <a:pPr marL="0" indent="0">
              <a:buNone/>
            </a:pPr>
            <a:r>
              <a:rPr lang="en-US" sz="1050" dirty="0">
                <a:solidFill>
                  <a:srgbClr val="37474F"/>
                </a:solidFill>
              </a:rPr>
              <a:t>By 0.05–0.34 pp. Root cause: 20.9% national weight on Housing (2.6% inflation) vs 5–7% in G-CPI groups. The basket misrepresents real spending.</a:t>
            </a:r>
            <a:endParaRPr lang="en-US" sz="1050" dirty="0"/>
          </a:p>
        </p:txBody>
      </p:sp>
      <p:sp>
        <p:nvSpPr>
          <p:cNvPr id="17" name="Shape 15"/>
          <p:cNvSpPr/>
          <p:nvPr/>
        </p:nvSpPr>
        <p:spPr>
          <a:xfrm>
            <a:off x="274320" y="3081528"/>
            <a:ext cx="4251960" cy="1280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18" name="Shape 16"/>
          <p:cNvSpPr/>
          <p:nvPr/>
        </p:nvSpPr>
        <p:spPr>
          <a:xfrm>
            <a:off x="274320" y="3081528"/>
            <a:ext cx="502920" cy="1280160"/>
          </a:xfrm>
          <a:prstGeom prst="rect">
            <a:avLst/>
          </a:prstGeom>
          <a:solidFill>
            <a:srgbClr val="006064"/>
          </a:solidFill>
          <a:ln w="12700">
            <a:solidFill>
              <a:srgbClr val="006064"/>
            </a:solidFill>
            <a:prstDash val="solid"/>
          </a:ln>
        </p:spPr>
        <p:txBody>
          <a:bodyPr/>
          <a:lstStyle/>
          <a:p>
            <a:endParaRPr lang="es-MX"/>
          </a:p>
        </p:txBody>
      </p:sp>
      <p:sp>
        <p:nvSpPr>
          <p:cNvPr id="19" name="Text 17"/>
          <p:cNvSpPr/>
          <p:nvPr/>
        </p:nvSpPr>
        <p:spPr>
          <a:xfrm>
            <a:off x="274320" y="3081528"/>
            <a:ext cx="502920" cy="12801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20" name="Text 18"/>
          <p:cNvSpPr/>
          <p:nvPr/>
        </p:nvSpPr>
        <p:spPr>
          <a:xfrm>
            <a:off x="868680" y="3191256"/>
            <a:ext cx="3566160" cy="320040"/>
          </a:xfrm>
          <a:prstGeom prst="rect">
            <a:avLst/>
          </a:prstGeom>
          <a:noFill/>
          <a:ln/>
        </p:spPr>
        <p:txBody>
          <a:bodyPr wrap="square" lIns="0" tIns="0" rIns="0" bIns="0" rtlCol="0" anchor="ctr"/>
          <a:lstStyle/>
          <a:p>
            <a:pPr marL="0" indent="0">
              <a:buNone/>
            </a:pPr>
            <a:r>
              <a:rPr lang="en-US" sz="1200" b="1" dirty="0">
                <a:solidFill>
                  <a:srgbClr val="006064"/>
                </a:solidFill>
              </a:rPr>
              <a:t>Vulnerability gap is persistent</a:t>
            </a:r>
            <a:endParaRPr lang="en-US" sz="1200" dirty="0"/>
          </a:p>
        </p:txBody>
      </p:sp>
      <p:sp>
        <p:nvSpPr>
          <p:cNvPr id="21" name="Text 19"/>
          <p:cNvSpPr/>
          <p:nvPr/>
        </p:nvSpPr>
        <p:spPr>
          <a:xfrm>
            <a:off x="868680" y="3538728"/>
            <a:ext cx="3566160" cy="713232"/>
          </a:xfrm>
          <a:prstGeom prst="rect">
            <a:avLst/>
          </a:prstGeom>
          <a:noFill/>
          <a:ln/>
        </p:spPr>
        <p:txBody>
          <a:bodyPr wrap="square" lIns="0" tIns="0" rIns="0" bIns="0" rtlCol="0" anchor="ctr"/>
          <a:lstStyle/>
          <a:p>
            <a:pPr marL="0" indent="0">
              <a:buNone/>
            </a:pPr>
            <a:r>
              <a:rPr lang="en-US" sz="1050" dirty="0">
                <a:solidFill>
                  <a:srgbClr val="37474F"/>
                </a:solidFill>
              </a:rPr>
              <a:t>MWoP leads every month in 2022–2025 and in the 2026 forecast. The +0.27 pp gap is structural — driven by stable consumption patterns, not temporary shocks.</a:t>
            </a:r>
            <a:endParaRPr lang="en-US" sz="1050" dirty="0"/>
          </a:p>
        </p:txBody>
      </p:sp>
      <p:sp>
        <p:nvSpPr>
          <p:cNvPr id="22" name="Shape 20"/>
          <p:cNvSpPr/>
          <p:nvPr/>
        </p:nvSpPr>
        <p:spPr>
          <a:xfrm>
            <a:off x="4709160" y="3081528"/>
            <a:ext cx="4251960" cy="1280160"/>
          </a:xfrm>
          <a:prstGeom prst="rect">
            <a:avLst/>
          </a:prstGeom>
          <a:solidFill>
            <a:srgbClr val="FFFFFF"/>
          </a:solidFill>
          <a:ln w="12700">
            <a:solidFill>
              <a:srgbClr val="D0D8E8"/>
            </a:solidFill>
            <a:prstDash val="solid"/>
          </a:ln>
          <a:effectLst>
            <a:outerShdw blurRad="101600" dist="38100" dir="8100000" algn="bl" rotWithShape="0">
              <a:srgbClr val="000000">
                <a:alpha val="12000"/>
              </a:srgbClr>
            </a:outerShdw>
          </a:effectLst>
        </p:spPr>
        <p:txBody>
          <a:bodyPr/>
          <a:lstStyle/>
          <a:p>
            <a:endParaRPr lang="es-MX"/>
          </a:p>
        </p:txBody>
      </p:sp>
      <p:sp>
        <p:nvSpPr>
          <p:cNvPr id="23" name="Shape 21"/>
          <p:cNvSpPr/>
          <p:nvPr/>
        </p:nvSpPr>
        <p:spPr>
          <a:xfrm>
            <a:off x="4709160" y="3081528"/>
            <a:ext cx="502920" cy="1280160"/>
          </a:xfrm>
          <a:prstGeom prst="rect">
            <a:avLst/>
          </a:prstGeom>
          <a:solidFill>
            <a:srgbClr val="4527A0"/>
          </a:solidFill>
          <a:ln w="12700">
            <a:solidFill>
              <a:srgbClr val="4527A0"/>
            </a:solidFill>
            <a:prstDash val="solid"/>
          </a:ln>
        </p:spPr>
        <p:txBody>
          <a:bodyPr/>
          <a:lstStyle/>
          <a:p>
            <a:endParaRPr lang="es-MX"/>
          </a:p>
        </p:txBody>
      </p:sp>
      <p:sp>
        <p:nvSpPr>
          <p:cNvPr id="24" name="Text 22"/>
          <p:cNvSpPr/>
          <p:nvPr/>
        </p:nvSpPr>
        <p:spPr>
          <a:xfrm>
            <a:off x="4709160" y="3081528"/>
            <a:ext cx="502920" cy="12801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04</a:t>
            </a:r>
            <a:endParaRPr lang="en-US" sz="1600" dirty="0"/>
          </a:p>
        </p:txBody>
      </p:sp>
      <p:sp>
        <p:nvSpPr>
          <p:cNvPr id="25" name="Text 23"/>
          <p:cNvSpPr/>
          <p:nvPr/>
        </p:nvSpPr>
        <p:spPr>
          <a:xfrm>
            <a:off x="5303520" y="3191256"/>
            <a:ext cx="3566160" cy="320040"/>
          </a:xfrm>
          <a:prstGeom prst="rect">
            <a:avLst/>
          </a:prstGeom>
          <a:noFill/>
          <a:ln/>
        </p:spPr>
        <p:txBody>
          <a:bodyPr wrap="square" lIns="0" tIns="0" rIns="0" bIns="0" rtlCol="0" anchor="ctr"/>
          <a:lstStyle/>
          <a:p>
            <a:pPr marL="0" indent="0">
              <a:buNone/>
            </a:pPr>
            <a:r>
              <a:rPr lang="en-US" sz="1200" b="1" dirty="0">
                <a:solidFill>
                  <a:srgbClr val="4527A0"/>
                </a:solidFill>
              </a:rPr>
              <a:t>G-CPI is a replicable official framework</a:t>
            </a:r>
            <a:endParaRPr lang="en-US" sz="1200" dirty="0"/>
          </a:p>
        </p:txBody>
      </p:sp>
      <p:sp>
        <p:nvSpPr>
          <p:cNvPr id="26" name="Text 24"/>
          <p:cNvSpPr/>
          <p:nvPr/>
        </p:nvSpPr>
        <p:spPr>
          <a:xfrm>
            <a:off x="5303520" y="3538728"/>
            <a:ext cx="3566160" cy="713232"/>
          </a:xfrm>
          <a:prstGeom prst="rect">
            <a:avLst/>
          </a:prstGeom>
          <a:noFill/>
          <a:ln/>
        </p:spPr>
        <p:txBody>
          <a:bodyPr wrap="square" lIns="0" tIns="0" rIns="0" bIns="0" rtlCol="0" anchor="ctr"/>
          <a:lstStyle/>
          <a:p>
            <a:pPr marL="0" indent="0">
              <a:buNone/>
            </a:pPr>
            <a:r>
              <a:rPr lang="en-US" sz="1050" dirty="0">
                <a:solidFill>
                  <a:srgbClr val="37474F"/>
                </a:solidFill>
              </a:rPr>
              <a:t>Built entirely on INEGI official data. Python workflow is documented and ready to update with each new ENIGH wave or CPI revision. Designed to be institutionalised.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FA5"/>
          </a:solidFill>
          <a:ln w="12700">
            <a:solidFill>
              <a:srgbClr val="00BFA5"/>
            </a:solidFill>
            <a:prstDash val="solid"/>
          </a:ln>
        </p:spPr>
        <p:txBody>
          <a:bodyPr/>
          <a:lstStyle/>
          <a:p>
            <a:endParaRPr lang="es-MX"/>
          </a:p>
        </p:txBody>
      </p:sp>
      <p:sp>
        <p:nvSpPr>
          <p:cNvPr id="3" name="Text 1"/>
          <p:cNvSpPr/>
          <p:nvPr/>
        </p:nvSpPr>
        <p:spPr>
          <a:xfrm>
            <a:off x="320040" y="182880"/>
            <a:ext cx="5486400" cy="256032"/>
          </a:xfrm>
          <a:prstGeom prst="rect">
            <a:avLst/>
          </a:prstGeom>
          <a:noFill/>
          <a:ln/>
        </p:spPr>
        <p:txBody>
          <a:bodyPr wrap="square" lIns="0" tIns="0" rIns="0" bIns="0" rtlCol="0" anchor="ctr"/>
          <a:lstStyle/>
          <a:p>
            <a:pPr marL="0" indent="0">
              <a:buNone/>
            </a:pPr>
            <a:r>
              <a:rPr lang="en-US" sz="1000" b="1" kern="0" spc="400" dirty="0">
                <a:solidFill>
                  <a:srgbClr val="00BFA5"/>
                </a:solidFill>
              </a:rPr>
              <a:t>LIMITATIONS &amp; NEXT STEPS</a:t>
            </a:r>
            <a:endParaRPr lang="en-US" sz="1000" dirty="0"/>
          </a:p>
        </p:txBody>
      </p:sp>
      <p:sp>
        <p:nvSpPr>
          <p:cNvPr id="4" name="Text 2"/>
          <p:cNvSpPr/>
          <p:nvPr/>
        </p:nvSpPr>
        <p:spPr>
          <a:xfrm>
            <a:off x="320040" y="475488"/>
            <a:ext cx="8229600" cy="457200"/>
          </a:xfrm>
          <a:prstGeom prst="rect">
            <a:avLst/>
          </a:prstGeom>
          <a:noFill/>
          <a:ln/>
        </p:spPr>
        <p:txBody>
          <a:bodyPr wrap="square" lIns="0" tIns="0" rIns="0" bIns="0" rtlCol="0" anchor="ctr"/>
          <a:lstStyle/>
          <a:p>
            <a:pPr marL="0" indent="0">
              <a:buNone/>
            </a:pPr>
            <a:r>
              <a:rPr lang="en-US" sz="2600" b="1" dirty="0">
                <a:solidFill>
                  <a:srgbClr val="FFFFFF"/>
                </a:solidFill>
              </a:rPr>
              <a:t>What we found — and where we go next</a:t>
            </a:r>
            <a:endParaRPr lang="en-US" sz="2600" dirty="0"/>
          </a:p>
        </p:txBody>
      </p:sp>
      <p:sp>
        <p:nvSpPr>
          <p:cNvPr id="5" name="Text 3"/>
          <p:cNvSpPr/>
          <p:nvPr/>
        </p:nvSpPr>
        <p:spPr>
          <a:xfrm>
            <a:off x="320040" y="1097280"/>
            <a:ext cx="4114800" cy="274320"/>
          </a:xfrm>
          <a:prstGeom prst="rect">
            <a:avLst/>
          </a:prstGeom>
          <a:noFill/>
          <a:ln/>
        </p:spPr>
        <p:txBody>
          <a:bodyPr wrap="square" lIns="0" tIns="0" rIns="0" bIns="0" rtlCol="0" anchor="ctr"/>
          <a:lstStyle/>
          <a:p>
            <a:pPr marL="0" indent="0">
              <a:buNone/>
            </a:pPr>
            <a:r>
              <a:rPr lang="en-US" sz="1000" b="1" kern="0" spc="200" dirty="0">
                <a:solidFill>
                  <a:srgbClr val="EF9A9A"/>
                </a:solidFill>
              </a:rPr>
              <a:t>CHALLENGES</a:t>
            </a:r>
            <a:endParaRPr lang="en-US" sz="1000" dirty="0"/>
          </a:p>
        </p:txBody>
      </p:sp>
      <p:sp>
        <p:nvSpPr>
          <p:cNvPr id="6" name="Shape 4"/>
          <p:cNvSpPr/>
          <p:nvPr/>
        </p:nvSpPr>
        <p:spPr>
          <a:xfrm>
            <a:off x="320040" y="1417320"/>
            <a:ext cx="4023360" cy="713232"/>
          </a:xfrm>
          <a:prstGeom prst="rect">
            <a:avLst/>
          </a:prstGeom>
          <a:solidFill>
            <a:srgbClr val="150A0A"/>
          </a:solidFill>
          <a:ln w="12700">
            <a:solidFill>
              <a:srgbClr val="880E4F"/>
            </a:solidFill>
            <a:prstDash val="solid"/>
          </a:ln>
        </p:spPr>
        <p:txBody>
          <a:bodyPr/>
          <a:lstStyle/>
          <a:p>
            <a:endParaRPr lang="es-MX"/>
          </a:p>
        </p:txBody>
      </p:sp>
      <p:sp>
        <p:nvSpPr>
          <p:cNvPr id="7" name="Text 5"/>
          <p:cNvSpPr/>
          <p:nvPr/>
        </p:nvSpPr>
        <p:spPr>
          <a:xfrm>
            <a:off x="457200" y="1463040"/>
            <a:ext cx="3749040" cy="256032"/>
          </a:xfrm>
          <a:prstGeom prst="rect">
            <a:avLst/>
          </a:prstGeom>
          <a:noFill/>
          <a:ln/>
        </p:spPr>
        <p:txBody>
          <a:bodyPr wrap="square" lIns="0" tIns="0" rIns="0" bIns="0" rtlCol="0" anchor="ctr"/>
          <a:lstStyle/>
          <a:p>
            <a:pPr marL="0" indent="0">
              <a:buNone/>
            </a:pPr>
            <a:r>
              <a:rPr lang="en-US" sz="1050" b="1" dirty="0">
                <a:solidFill>
                  <a:srgbClr val="EF9A9A"/>
                </a:solidFill>
              </a:rPr>
              <a:t>1  Division-level aggregation</a:t>
            </a:r>
            <a:endParaRPr lang="en-US" sz="1050" dirty="0"/>
          </a:p>
        </p:txBody>
      </p:sp>
      <p:sp>
        <p:nvSpPr>
          <p:cNvPr id="8" name="Text 6"/>
          <p:cNvSpPr/>
          <p:nvPr/>
        </p:nvSpPr>
        <p:spPr>
          <a:xfrm>
            <a:off x="457200" y="1719072"/>
            <a:ext cx="3749040" cy="384048"/>
          </a:xfrm>
          <a:prstGeom prst="rect">
            <a:avLst/>
          </a:prstGeom>
          <a:noFill/>
          <a:ln/>
        </p:spPr>
        <p:txBody>
          <a:bodyPr wrap="square" lIns="0" tIns="0" rIns="0" bIns="0" rtlCol="0" anchor="ctr"/>
          <a:lstStyle/>
          <a:p>
            <a:pPr marL="0" indent="0">
              <a:buNone/>
            </a:pPr>
            <a:r>
              <a:rPr lang="en-US" sz="950" dirty="0">
                <a:solidFill>
                  <a:srgbClr val="B0BEC5"/>
                </a:solidFill>
              </a:rPr>
              <a:t>G-CPI uses 13 CCIF division indices, not 292 generic-level prices. Within-division price variation is invisible — assumes all groups pay the same price for 'personal care'.</a:t>
            </a:r>
            <a:endParaRPr lang="en-US" sz="950" dirty="0"/>
          </a:p>
        </p:txBody>
      </p:sp>
      <p:sp>
        <p:nvSpPr>
          <p:cNvPr id="12" name="Shape 10"/>
          <p:cNvSpPr/>
          <p:nvPr/>
        </p:nvSpPr>
        <p:spPr>
          <a:xfrm>
            <a:off x="320040" y="2971800"/>
            <a:ext cx="4023360" cy="713232"/>
          </a:xfrm>
          <a:prstGeom prst="rect">
            <a:avLst/>
          </a:prstGeom>
          <a:solidFill>
            <a:srgbClr val="150A0A"/>
          </a:solidFill>
          <a:ln w="12700">
            <a:solidFill>
              <a:srgbClr val="880E4F"/>
            </a:solidFill>
            <a:prstDash val="solid"/>
          </a:ln>
        </p:spPr>
        <p:txBody>
          <a:bodyPr/>
          <a:lstStyle/>
          <a:p>
            <a:endParaRPr lang="es-MX"/>
          </a:p>
        </p:txBody>
      </p:sp>
      <p:sp>
        <p:nvSpPr>
          <p:cNvPr id="13" name="Text 11"/>
          <p:cNvSpPr/>
          <p:nvPr/>
        </p:nvSpPr>
        <p:spPr>
          <a:xfrm>
            <a:off x="457200" y="3017520"/>
            <a:ext cx="3749040" cy="256032"/>
          </a:xfrm>
          <a:prstGeom prst="rect">
            <a:avLst/>
          </a:prstGeom>
          <a:noFill/>
          <a:ln/>
        </p:spPr>
        <p:txBody>
          <a:bodyPr wrap="square" lIns="0" tIns="0" rIns="0" bIns="0" rtlCol="0" anchor="ctr"/>
          <a:lstStyle/>
          <a:p>
            <a:pPr marL="0" indent="0">
              <a:buNone/>
            </a:pPr>
            <a:r>
              <a:rPr lang="en-US" sz="1050" b="1" dirty="0">
                <a:solidFill>
                  <a:srgbClr val="EF9A9A"/>
                </a:solidFill>
              </a:rPr>
              <a:t>2  SARIMA on 36 observations</a:t>
            </a:r>
            <a:endParaRPr lang="en-US" sz="1050" dirty="0"/>
          </a:p>
        </p:txBody>
      </p:sp>
      <p:sp>
        <p:nvSpPr>
          <p:cNvPr id="14" name="Text 12"/>
          <p:cNvSpPr/>
          <p:nvPr/>
        </p:nvSpPr>
        <p:spPr>
          <a:xfrm>
            <a:off x="457200" y="3273552"/>
            <a:ext cx="3749040" cy="384048"/>
          </a:xfrm>
          <a:prstGeom prst="rect">
            <a:avLst/>
          </a:prstGeom>
          <a:noFill/>
          <a:ln/>
        </p:spPr>
        <p:txBody>
          <a:bodyPr wrap="square" lIns="0" tIns="0" rIns="0" bIns="0" rtlCol="0" anchor="ctr"/>
          <a:lstStyle/>
          <a:p>
            <a:pPr marL="0" indent="0">
              <a:buNone/>
            </a:pPr>
            <a:r>
              <a:rPr lang="en-US" sz="950" dirty="0">
                <a:solidFill>
                  <a:srgbClr val="B0BEC5"/>
                </a:solidFill>
              </a:rPr>
              <a:t>Short series for time-series modelling. Wide confidence intervals (not shown). Forecast is directionally informative, not precise. 22 of 292 CPI products are gendered.</a:t>
            </a:r>
            <a:endParaRPr lang="en-US" sz="950" dirty="0"/>
          </a:p>
        </p:txBody>
      </p:sp>
      <p:sp>
        <p:nvSpPr>
          <p:cNvPr id="15" name="Text 13"/>
          <p:cNvSpPr/>
          <p:nvPr/>
        </p:nvSpPr>
        <p:spPr>
          <a:xfrm>
            <a:off x="4663440" y="1097280"/>
            <a:ext cx="4114800" cy="274320"/>
          </a:xfrm>
          <a:prstGeom prst="rect">
            <a:avLst/>
          </a:prstGeom>
          <a:noFill/>
          <a:ln/>
        </p:spPr>
        <p:txBody>
          <a:bodyPr wrap="square" lIns="0" tIns="0" rIns="0" bIns="0" rtlCol="0" anchor="ctr"/>
          <a:lstStyle/>
          <a:p>
            <a:pPr marL="0" indent="0">
              <a:buNone/>
            </a:pPr>
            <a:r>
              <a:rPr lang="en-US" sz="1000" b="1" kern="0" spc="200" dirty="0">
                <a:solidFill>
                  <a:srgbClr val="A5D6A7"/>
                </a:solidFill>
              </a:rPr>
              <a:t>NEXT STEPS</a:t>
            </a:r>
            <a:endParaRPr lang="en-US" sz="1000" dirty="0"/>
          </a:p>
        </p:txBody>
      </p:sp>
      <p:sp>
        <p:nvSpPr>
          <p:cNvPr id="16" name="Shape 14"/>
          <p:cNvSpPr/>
          <p:nvPr/>
        </p:nvSpPr>
        <p:spPr>
          <a:xfrm>
            <a:off x="4663440" y="1417320"/>
            <a:ext cx="4160520" cy="1078992"/>
          </a:xfrm>
          <a:prstGeom prst="rect">
            <a:avLst/>
          </a:prstGeom>
          <a:solidFill>
            <a:srgbClr val="071528"/>
          </a:solidFill>
          <a:ln w="12700">
            <a:solidFill>
              <a:srgbClr val="006064"/>
            </a:solidFill>
            <a:prstDash val="solid"/>
          </a:ln>
        </p:spPr>
        <p:txBody>
          <a:bodyPr/>
          <a:lstStyle/>
          <a:p>
            <a:endParaRPr lang="es-MX"/>
          </a:p>
        </p:txBody>
      </p:sp>
      <p:sp>
        <p:nvSpPr>
          <p:cNvPr id="17" name="Shape 15"/>
          <p:cNvSpPr/>
          <p:nvPr/>
        </p:nvSpPr>
        <p:spPr>
          <a:xfrm>
            <a:off x="4754880" y="1481328"/>
            <a:ext cx="457200" cy="457200"/>
          </a:xfrm>
          <a:prstGeom prst="ellipse">
            <a:avLst/>
          </a:prstGeom>
          <a:solidFill>
            <a:srgbClr val="006064"/>
          </a:solidFill>
          <a:ln w="12700">
            <a:solidFill>
              <a:srgbClr val="006064"/>
            </a:solidFill>
            <a:prstDash val="solid"/>
          </a:ln>
        </p:spPr>
        <p:txBody>
          <a:bodyPr/>
          <a:lstStyle/>
          <a:p>
            <a:endParaRPr lang="es-MX"/>
          </a:p>
        </p:txBody>
      </p:sp>
      <p:sp>
        <p:nvSpPr>
          <p:cNvPr id="18" name="Text 16"/>
          <p:cNvSpPr/>
          <p:nvPr/>
        </p:nvSpPr>
        <p:spPr>
          <a:xfrm>
            <a:off x="4754880" y="14813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9" name="Text 17"/>
          <p:cNvSpPr/>
          <p:nvPr/>
        </p:nvSpPr>
        <p:spPr>
          <a:xfrm>
            <a:off x="5285232" y="1481328"/>
            <a:ext cx="3383280" cy="274320"/>
          </a:xfrm>
          <a:prstGeom prst="rect">
            <a:avLst/>
          </a:prstGeom>
          <a:noFill/>
          <a:ln/>
        </p:spPr>
        <p:txBody>
          <a:bodyPr wrap="square" lIns="0" tIns="0" rIns="0" bIns="0" rtlCol="0" anchor="ctr"/>
          <a:lstStyle/>
          <a:p>
            <a:pPr marL="0" indent="0">
              <a:buNone/>
            </a:pPr>
            <a:r>
              <a:rPr lang="en-US" sz="1050" b="1" dirty="0">
                <a:solidFill>
                  <a:srgbClr val="FFFFFF"/>
                </a:solidFill>
              </a:rPr>
              <a:t>Generic-level G-CPI (292 products)</a:t>
            </a:r>
            <a:endParaRPr lang="en-US" sz="1050" dirty="0"/>
          </a:p>
        </p:txBody>
      </p:sp>
      <p:sp>
        <p:nvSpPr>
          <p:cNvPr id="20" name="Text 18"/>
          <p:cNvSpPr/>
          <p:nvPr/>
        </p:nvSpPr>
        <p:spPr>
          <a:xfrm>
            <a:off x="5285232" y="1783080"/>
            <a:ext cx="3383280" cy="475488"/>
          </a:xfrm>
          <a:prstGeom prst="rect">
            <a:avLst/>
          </a:prstGeom>
          <a:noFill/>
          <a:ln/>
        </p:spPr>
        <p:txBody>
          <a:bodyPr wrap="square" lIns="0" tIns="0" rIns="0" bIns="0" rtlCol="0" anchor="ctr"/>
          <a:lstStyle/>
          <a:p>
            <a:pPr marL="0" indent="0">
              <a:buNone/>
            </a:pPr>
            <a:r>
              <a:rPr lang="en-US" sz="950" dirty="0">
                <a:solidFill>
                  <a:srgbClr val="90A4AE"/>
                </a:solidFill>
              </a:rPr>
              <a:t>Rebuild using individual product price series. Enables specific female/male product matching. All infrastructure ready — crosswalk, inventory, price series.</a:t>
            </a:r>
            <a:endParaRPr lang="en-US" sz="950" dirty="0"/>
          </a:p>
        </p:txBody>
      </p:sp>
      <p:sp>
        <p:nvSpPr>
          <p:cNvPr id="21" name="Shape 19"/>
          <p:cNvSpPr/>
          <p:nvPr/>
        </p:nvSpPr>
        <p:spPr>
          <a:xfrm>
            <a:off x="4663440" y="2286000"/>
            <a:ext cx="4160520" cy="219456"/>
          </a:xfrm>
          <a:prstGeom prst="rect">
            <a:avLst/>
          </a:prstGeom>
          <a:solidFill>
            <a:srgbClr val="006064"/>
          </a:solidFill>
          <a:ln w="12700">
            <a:solidFill>
              <a:srgbClr val="006064"/>
            </a:solidFill>
            <a:prstDash val="solid"/>
          </a:ln>
        </p:spPr>
        <p:txBody>
          <a:bodyPr/>
          <a:lstStyle/>
          <a:p>
            <a:endParaRPr lang="es-MX"/>
          </a:p>
        </p:txBody>
      </p:sp>
      <p:sp>
        <p:nvSpPr>
          <p:cNvPr id="22" name="Text 20"/>
          <p:cNvSpPr/>
          <p:nvPr/>
        </p:nvSpPr>
        <p:spPr>
          <a:xfrm>
            <a:off x="4663440" y="2286000"/>
            <a:ext cx="4160520" cy="219456"/>
          </a:xfrm>
          <a:prstGeom prst="rect">
            <a:avLst/>
          </a:prstGeom>
          <a:noFill/>
          <a:ln/>
        </p:spPr>
        <p:txBody>
          <a:bodyPr wrap="square" lIns="0" tIns="0" rIns="0" bIns="0" rtlCol="0" anchor="ctr"/>
          <a:lstStyle/>
          <a:p>
            <a:pPr marL="0" indent="0" algn="ctr">
              <a:buNone/>
            </a:pPr>
            <a:r>
              <a:rPr lang="en-US" sz="900" b="1" dirty="0">
                <a:solidFill>
                  <a:srgbClr val="FFFFFF"/>
                </a:solidFill>
              </a:rPr>
              <a:t>Infrastructure ready</a:t>
            </a:r>
            <a:endParaRPr lang="en-US" sz="900" dirty="0"/>
          </a:p>
        </p:txBody>
      </p:sp>
      <p:sp>
        <p:nvSpPr>
          <p:cNvPr id="23" name="Shape 21"/>
          <p:cNvSpPr/>
          <p:nvPr/>
        </p:nvSpPr>
        <p:spPr>
          <a:xfrm>
            <a:off x="4663440" y="2587752"/>
            <a:ext cx="4160520" cy="1078992"/>
          </a:xfrm>
          <a:prstGeom prst="rect">
            <a:avLst/>
          </a:prstGeom>
          <a:solidFill>
            <a:srgbClr val="071528"/>
          </a:solidFill>
          <a:ln w="12700">
            <a:solidFill>
              <a:srgbClr val="4527A0"/>
            </a:solidFill>
            <a:prstDash val="solid"/>
          </a:ln>
        </p:spPr>
        <p:txBody>
          <a:bodyPr/>
          <a:lstStyle/>
          <a:p>
            <a:endParaRPr lang="es-MX"/>
          </a:p>
        </p:txBody>
      </p:sp>
      <p:sp>
        <p:nvSpPr>
          <p:cNvPr id="24" name="Shape 22"/>
          <p:cNvSpPr/>
          <p:nvPr/>
        </p:nvSpPr>
        <p:spPr>
          <a:xfrm>
            <a:off x="4754880" y="2651760"/>
            <a:ext cx="457200" cy="457200"/>
          </a:xfrm>
          <a:prstGeom prst="ellipse">
            <a:avLst/>
          </a:prstGeom>
          <a:solidFill>
            <a:srgbClr val="4527A0"/>
          </a:solidFill>
          <a:ln w="12700">
            <a:solidFill>
              <a:srgbClr val="4527A0"/>
            </a:solidFill>
            <a:prstDash val="solid"/>
          </a:ln>
        </p:spPr>
        <p:txBody>
          <a:bodyPr/>
          <a:lstStyle/>
          <a:p>
            <a:endParaRPr lang="es-MX"/>
          </a:p>
        </p:txBody>
      </p:sp>
      <p:sp>
        <p:nvSpPr>
          <p:cNvPr id="25" name="Text 23"/>
          <p:cNvSpPr/>
          <p:nvPr/>
        </p:nvSpPr>
        <p:spPr>
          <a:xfrm>
            <a:off x="4754880" y="2651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26" name="Text 24"/>
          <p:cNvSpPr/>
          <p:nvPr/>
        </p:nvSpPr>
        <p:spPr>
          <a:xfrm>
            <a:off x="5285232" y="2651760"/>
            <a:ext cx="3383280" cy="274320"/>
          </a:xfrm>
          <a:prstGeom prst="rect">
            <a:avLst/>
          </a:prstGeom>
          <a:noFill/>
          <a:ln/>
        </p:spPr>
        <p:txBody>
          <a:bodyPr wrap="square" lIns="0" tIns="0" rIns="0" bIns="0" rtlCol="0" anchor="ctr"/>
          <a:lstStyle/>
          <a:p>
            <a:pPr marL="0" indent="0">
              <a:buNone/>
            </a:pPr>
            <a:r>
              <a:rPr lang="en-US" sz="1050" b="1" dirty="0">
                <a:solidFill>
                  <a:srgbClr val="FFFFFF"/>
                </a:solidFill>
              </a:rPr>
              <a:t>Specialised gender consumption baskets</a:t>
            </a:r>
            <a:endParaRPr lang="en-US" sz="1050" dirty="0"/>
          </a:p>
        </p:txBody>
      </p:sp>
      <p:sp>
        <p:nvSpPr>
          <p:cNvPr id="27" name="Text 25"/>
          <p:cNvSpPr/>
          <p:nvPr/>
        </p:nvSpPr>
        <p:spPr>
          <a:xfrm>
            <a:off x="5285232" y="2953512"/>
            <a:ext cx="3383280" cy="475488"/>
          </a:xfrm>
          <a:prstGeom prst="rect">
            <a:avLst/>
          </a:prstGeom>
          <a:noFill/>
          <a:ln/>
        </p:spPr>
        <p:txBody>
          <a:bodyPr wrap="square" lIns="0" tIns="0" rIns="0" bIns="0" rtlCol="0" anchor="ctr"/>
          <a:lstStyle/>
          <a:p>
            <a:pPr marL="0" indent="0">
              <a:buNone/>
            </a:pPr>
            <a:r>
              <a:rPr lang="en-US" sz="950" dirty="0">
                <a:solidFill>
                  <a:srgbClr val="90A4AE"/>
                </a:solidFill>
              </a:rPr>
              <a:t>Identify products where female-headed spending share &gt; 60% and build focused sub-index. Directly tests the 'pink tax' hypothesis at the most granular level.</a:t>
            </a:r>
            <a:endParaRPr lang="en-US" sz="950" dirty="0"/>
          </a:p>
        </p:txBody>
      </p:sp>
      <p:sp>
        <p:nvSpPr>
          <p:cNvPr id="28" name="Shape 26"/>
          <p:cNvSpPr/>
          <p:nvPr/>
        </p:nvSpPr>
        <p:spPr>
          <a:xfrm>
            <a:off x="4663440" y="3456432"/>
            <a:ext cx="4160520" cy="219456"/>
          </a:xfrm>
          <a:prstGeom prst="rect">
            <a:avLst/>
          </a:prstGeom>
          <a:solidFill>
            <a:srgbClr val="4527A0"/>
          </a:solidFill>
          <a:ln w="12700">
            <a:solidFill>
              <a:srgbClr val="4527A0"/>
            </a:solidFill>
            <a:prstDash val="solid"/>
          </a:ln>
        </p:spPr>
        <p:txBody>
          <a:bodyPr/>
          <a:lstStyle/>
          <a:p>
            <a:endParaRPr lang="es-MX"/>
          </a:p>
        </p:txBody>
      </p:sp>
      <p:sp>
        <p:nvSpPr>
          <p:cNvPr id="29" name="Text 27"/>
          <p:cNvSpPr/>
          <p:nvPr/>
        </p:nvSpPr>
        <p:spPr>
          <a:xfrm>
            <a:off x="4663440" y="3456432"/>
            <a:ext cx="4160520" cy="219456"/>
          </a:xfrm>
          <a:prstGeom prst="rect">
            <a:avLst/>
          </a:prstGeom>
          <a:noFill/>
          <a:ln/>
        </p:spPr>
        <p:txBody>
          <a:bodyPr wrap="square" lIns="0" tIns="0" rIns="0" bIns="0" rtlCol="0" anchor="ctr"/>
          <a:lstStyle/>
          <a:p>
            <a:pPr marL="0" indent="0" algn="ctr">
              <a:buNone/>
            </a:pPr>
            <a:r>
              <a:rPr lang="en-US" sz="900" b="1" dirty="0">
                <a:solidFill>
                  <a:srgbClr val="FFFFFF"/>
                </a:solidFill>
              </a:rPr>
              <a:t>Conceptually defined</a:t>
            </a:r>
            <a:endParaRPr lang="en-US" sz="900" dirty="0"/>
          </a:p>
        </p:txBody>
      </p:sp>
      <p:sp>
        <p:nvSpPr>
          <p:cNvPr id="30" name="Shape 28"/>
          <p:cNvSpPr/>
          <p:nvPr/>
        </p:nvSpPr>
        <p:spPr>
          <a:xfrm>
            <a:off x="4663440" y="3758184"/>
            <a:ext cx="4160520" cy="1078992"/>
          </a:xfrm>
          <a:prstGeom prst="rect">
            <a:avLst/>
          </a:prstGeom>
          <a:solidFill>
            <a:srgbClr val="071528"/>
          </a:solidFill>
          <a:ln w="12700">
            <a:solidFill>
              <a:srgbClr val="E65100"/>
            </a:solidFill>
            <a:prstDash val="solid"/>
          </a:ln>
        </p:spPr>
        <p:txBody>
          <a:bodyPr/>
          <a:lstStyle/>
          <a:p>
            <a:endParaRPr lang="es-MX"/>
          </a:p>
        </p:txBody>
      </p:sp>
      <p:sp>
        <p:nvSpPr>
          <p:cNvPr id="31" name="Shape 29"/>
          <p:cNvSpPr/>
          <p:nvPr/>
        </p:nvSpPr>
        <p:spPr>
          <a:xfrm>
            <a:off x="4754880" y="3822192"/>
            <a:ext cx="457200" cy="457200"/>
          </a:xfrm>
          <a:prstGeom prst="ellipse">
            <a:avLst/>
          </a:prstGeom>
          <a:solidFill>
            <a:srgbClr val="E65100"/>
          </a:solidFill>
          <a:ln w="12700">
            <a:solidFill>
              <a:srgbClr val="E65100"/>
            </a:solidFill>
            <a:prstDash val="solid"/>
          </a:ln>
        </p:spPr>
        <p:txBody>
          <a:bodyPr/>
          <a:lstStyle/>
          <a:p>
            <a:endParaRPr lang="es-MX"/>
          </a:p>
        </p:txBody>
      </p:sp>
      <p:sp>
        <p:nvSpPr>
          <p:cNvPr id="32" name="Text 30"/>
          <p:cNvSpPr/>
          <p:nvPr/>
        </p:nvSpPr>
        <p:spPr>
          <a:xfrm>
            <a:off x="4754880" y="3822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33" name="Text 31"/>
          <p:cNvSpPr/>
          <p:nvPr/>
        </p:nvSpPr>
        <p:spPr>
          <a:xfrm>
            <a:off x="5285232" y="3822192"/>
            <a:ext cx="3383280" cy="274320"/>
          </a:xfrm>
          <a:prstGeom prst="rect">
            <a:avLst/>
          </a:prstGeom>
          <a:noFill/>
          <a:ln/>
        </p:spPr>
        <p:txBody>
          <a:bodyPr wrap="square" lIns="0" tIns="0" rIns="0" bIns="0" rtlCol="0" anchor="ctr"/>
          <a:lstStyle/>
          <a:p>
            <a:pPr marL="0" indent="0">
              <a:buNone/>
            </a:pPr>
            <a:r>
              <a:rPr lang="en-US" sz="1050" b="1" dirty="0">
                <a:solidFill>
                  <a:srgbClr val="FFFFFF"/>
                </a:solidFill>
              </a:rPr>
              <a:t>Extend &amp; refine the SARIMA forecast</a:t>
            </a:r>
            <a:endParaRPr lang="en-US" sz="1050" dirty="0"/>
          </a:p>
        </p:txBody>
      </p:sp>
      <p:sp>
        <p:nvSpPr>
          <p:cNvPr id="34" name="Text 32"/>
          <p:cNvSpPr/>
          <p:nvPr/>
        </p:nvSpPr>
        <p:spPr>
          <a:xfrm>
            <a:off x="5285232" y="4123944"/>
            <a:ext cx="3383280" cy="475488"/>
          </a:xfrm>
          <a:prstGeom prst="rect">
            <a:avLst/>
          </a:prstGeom>
          <a:noFill/>
          <a:ln/>
        </p:spPr>
        <p:txBody>
          <a:bodyPr wrap="square" lIns="0" tIns="0" rIns="0" bIns="0" rtlCol="0" anchor="ctr"/>
          <a:lstStyle/>
          <a:p>
            <a:pPr marL="0" indent="0">
              <a:buNone/>
            </a:pPr>
            <a:r>
              <a:rPr lang="en-US" sz="950" dirty="0">
                <a:solidFill>
                  <a:srgbClr val="90A4AE"/>
                </a:solidFill>
              </a:rPr>
              <a:t>Incorporate new CPI data (quincenal), update quarterly, explore VAR to capture cross-group inflation dynamics and potential spillover effects.</a:t>
            </a:r>
            <a:endParaRPr lang="en-US" sz="950" dirty="0"/>
          </a:p>
        </p:txBody>
      </p:sp>
      <p:sp>
        <p:nvSpPr>
          <p:cNvPr id="35" name="Shape 33"/>
          <p:cNvSpPr/>
          <p:nvPr/>
        </p:nvSpPr>
        <p:spPr>
          <a:xfrm>
            <a:off x="4663440" y="4626864"/>
            <a:ext cx="4160520" cy="219456"/>
          </a:xfrm>
          <a:prstGeom prst="rect">
            <a:avLst/>
          </a:prstGeom>
          <a:solidFill>
            <a:srgbClr val="E65100"/>
          </a:solidFill>
          <a:ln w="12700">
            <a:solidFill>
              <a:srgbClr val="E65100"/>
            </a:solidFill>
            <a:prstDash val="solid"/>
          </a:ln>
        </p:spPr>
        <p:txBody>
          <a:bodyPr/>
          <a:lstStyle/>
          <a:p>
            <a:endParaRPr lang="es-MX"/>
          </a:p>
        </p:txBody>
      </p:sp>
      <p:sp>
        <p:nvSpPr>
          <p:cNvPr id="36" name="Text 34"/>
          <p:cNvSpPr/>
          <p:nvPr/>
        </p:nvSpPr>
        <p:spPr>
          <a:xfrm>
            <a:off x="4663440" y="4626864"/>
            <a:ext cx="4160520" cy="219456"/>
          </a:xfrm>
          <a:prstGeom prst="rect">
            <a:avLst/>
          </a:prstGeom>
          <a:noFill/>
          <a:ln/>
        </p:spPr>
        <p:txBody>
          <a:bodyPr wrap="square" lIns="0" tIns="0" rIns="0" bIns="0" rtlCol="0" anchor="ctr"/>
          <a:lstStyle/>
          <a:p>
            <a:pPr marL="0" indent="0" algn="ctr">
              <a:buNone/>
            </a:pPr>
            <a:r>
              <a:rPr lang="en-US" sz="900" b="1" dirty="0">
                <a:solidFill>
                  <a:srgbClr val="FFFFFF"/>
                </a:solidFill>
              </a:rPr>
              <a:t>Model fitted &amp; validated</a:t>
            </a:r>
            <a:endParaRPr lang="en-US" sz="900" dirty="0"/>
          </a:p>
        </p:txBody>
      </p:sp>
      <p:sp>
        <p:nvSpPr>
          <p:cNvPr id="37" name="Shape 35"/>
          <p:cNvSpPr/>
          <p:nvPr/>
        </p:nvSpPr>
        <p:spPr>
          <a:xfrm>
            <a:off x="256032" y="4681728"/>
            <a:ext cx="8595360" cy="347472"/>
          </a:xfrm>
          <a:prstGeom prst="rect">
            <a:avLst/>
          </a:prstGeom>
          <a:solidFill>
            <a:srgbClr val="071528"/>
          </a:solidFill>
          <a:ln w="12700">
            <a:solidFill>
              <a:srgbClr val="00BFA5"/>
            </a:solidFill>
            <a:prstDash val="solid"/>
          </a:ln>
        </p:spPr>
        <p:txBody>
          <a:bodyPr/>
          <a:lstStyle/>
          <a:p>
            <a:endParaRPr lang="es-MX"/>
          </a:p>
        </p:txBody>
      </p:sp>
      <p:sp>
        <p:nvSpPr>
          <p:cNvPr id="38" name="Text 36"/>
          <p:cNvSpPr/>
          <p:nvPr/>
        </p:nvSpPr>
        <p:spPr>
          <a:xfrm>
            <a:off x="365760" y="4709160"/>
            <a:ext cx="8321040" cy="274320"/>
          </a:xfrm>
          <a:prstGeom prst="rect">
            <a:avLst/>
          </a:prstGeom>
          <a:noFill/>
          <a:ln/>
        </p:spPr>
        <p:txBody>
          <a:bodyPr wrap="square" lIns="0" tIns="0" rIns="0" bIns="0" rtlCol="0" anchor="ctr"/>
          <a:lstStyle/>
          <a:p>
            <a:pPr marL="0" indent="0" algn="ctr">
              <a:buNone/>
            </a:pPr>
            <a:r>
              <a:rPr lang="en-US" sz="950" dirty="0">
                <a:solidFill>
                  <a:srgbClr val="00BFA5"/>
                </a:solidFill>
              </a:rPr>
              <a:t>Policy → Publish G-CPI as supplementary series  ·  Use as monitoring tool for benefit adjustment  ·  Direct replication path for LatAm NSOs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FA5"/>
          </a:solidFill>
          <a:ln w="12700">
            <a:solidFill>
              <a:srgbClr val="00BFA5"/>
            </a:solidFill>
            <a:prstDash val="solid"/>
          </a:ln>
        </p:spPr>
        <p:txBody>
          <a:bodyPr/>
          <a:lstStyle/>
          <a:p>
            <a:endParaRPr lang="es-MX"/>
          </a:p>
        </p:txBody>
      </p:sp>
      <p:sp>
        <p:nvSpPr>
          <p:cNvPr id="3" name="Shape 1"/>
          <p:cNvSpPr/>
          <p:nvPr/>
        </p:nvSpPr>
        <p:spPr>
          <a:xfrm>
            <a:off x="6858000" y="0"/>
            <a:ext cx="320040" cy="5143500"/>
          </a:xfrm>
          <a:prstGeom prst="rect">
            <a:avLst/>
          </a:prstGeom>
          <a:solidFill>
            <a:srgbClr val="1A3355">
              <a:alpha val="70000"/>
            </a:srgbClr>
          </a:solidFill>
          <a:ln w="12700">
            <a:solidFill>
              <a:srgbClr val="1A3355">
                <a:alpha val="70000"/>
              </a:srgbClr>
            </a:solidFill>
            <a:prstDash val="solid"/>
          </a:ln>
        </p:spPr>
        <p:txBody>
          <a:bodyPr/>
          <a:lstStyle/>
          <a:p>
            <a:endParaRPr lang="es-MX"/>
          </a:p>
        </p:txBody>
      </p:sp>
      <p:sp>
        <p:nvSpPr>
          <p:cNvPr id="4" name="Shape 2"/>
          <p:cNvSpPr/>
          <p:nvPr/>
        </p:nvSpPr>
        <p:spPr>
          <a:xfrm>
            <a:off x="7223760" y="0"/>
            <a:ext cx="320040" cy="5143500"/>
          </a:xfrm>
          <a:prstGeom prst="rect">
            <a:avLst/>
          </a:prstGeom>
          <a:solidFill>
            <a:srgbClr val="1A3355">
              <a:alpha val="60000"/>
            </a:srgbClr>
          </a:solidFill>
          <a:ln w="12700">
            <a:solidFill>
              <a:srgbClr val="1A3355">
                <a:alpha val="60000"/>
              </a:srgbClr>
            </a:solidFill>
            <a:prstDash val="solid"/>
          </a:ln>
        </p:spPr>
        <p:txBody>
          <a:bodyPr/>
          <a:lstStyle/>
          <a:p>
            <a:endParaRPr lang="es-MX"/>
          </a:p>
        </p:txBody>
      </p:sp>
      <p:sp>
        <p:nvSpPr>
          <p:cNvPr id="5" name="Shape 3"/>
          <p:cNvSpPr/>
          <p:nvPr/>
        </p:nvSpPr>
        <p:spPr>
          <a:xfrm>
            <a:off x="7589520" y="0"/>
            <a:ext cx="320040" cy="5143500"/>
          </a:xfrm>
          <a:prstGeom prst="rect">
            <a:avLst/>
          </a:prstGeom>
          <a:solidFill>
            <a:srgbClr val="1A3355">
              <a:alpha val="50000"/>
            </a:srgbClr>
          </a:solidFill>
          <a:ln w="12700">
            <a:solidFill>
              <a:srgbClr val="1A3355">
                <a:alpha val="50000"/>
              </a:srgbClr>
            </a:solidFill>
            <a:prstDash val="solid"/>
          </a:ln>
        </p:spPr>
        <p:txBody>
          <a:bodyPr/>
          <a:lstStyle/>
          <a:p>
            <a:endParaRPr lang="es-MX"/>
          </a:p>
        </p:txBody>
      </p:sp>
      <p:sp>
        <p:nvSpPr>
          <p:cNvPr id="6" name="Shape 4"/>
          <p:cNvSpPr/>
          <p:nvPr/>
        </p:nvSpPr>
        <p:spPr>
          <a:xfrm>
            <a:off x="7955280" y="0"/>
            <a:ext cx="320040" cy="5143500"/>
          </a:xfrm>
          <a:prstGeom prst="rect">
            <a:avLst/>
          </a:prstGeom>
          <a:solidFill>
            <a:srgbClr val="1A3355">
              <a:alpha val="40000"/>
            </a:srgbClr>
          </a:solidFill>
          <a:ln w="12700">
            <a:solidFill>
              <a:srgbClr val="1A3355">
                <a:alpha val="40000"/>
              </a:srgbClr>
            </a:solidFill>
            <a:prstDash val="solid"/>
          </a:ln>
        </p:spPr>
        <p:txBody>
          <a:bodyPr/>
          <a:lstStyle/>
          <a:p>
            <a:endParaRPr lang="es-MX"/>
          </a:p>
        </p:txBody>
      </p:sp>
      <p:sp>
        <p:nvSpPr>
          <p:cNvPr id="7" name="Shape 5"/>
          <p:cNvSpPr/>
          <p:nvPr/>
        </p:nvSpPr>
        <p:spPr>
          <a:xfrm>
            <a:off x="8321040" y="0"/>
            <a:ext cx="320040" cy="5143500"/>
          </a:xfrm>
          <a:prstGeom prst="rect">
            <a:avLst/>
          </a:prstGeom>
          <a:solidFill>
            <a:srgbClr val="1A3355">
              <a:alpha val="30000"/>
            </a:srgbClr>
          </a:solidFill>
          <a:ln w="12700">
            <a:solidFill>
              <a:srgbClr val="1A3355">
                <a:alpha val="30000"/>
              </a:srgbClr>
            </a:solidFill>
            <a:prstDash val="solid"/>
          </a:ln>
        </p:spPr>
        <p:txBody>
          <a:bodyPr/>
          <a:lstStyle/>
          <a:p>
            <a:endParaRPr lang="es-MX"/>
          </a:p>
        </p:txBody>
      </p:sp>
      <p:sp>
        <p:nvSpPr>
          <p:cNvPr id="8" name="Shape 6"/>
          <p:cNvSpPr/>
          <p:nvPr/>
        </p:nvSpPr>
        <p:spPr>
          <a:xfrm>
            <a:off x="8686800" y="0"/>
            <a:ext cx="320040" cy="5143500"/>
          </a:xfrm>
          <a:prstGeom prst="rect">
            <a:avLst/>
          </a:prstGeom>
          <a:solidFill>
            <a:srgbClr val="1A3355">
              <a:alpha val="20000"/>
            </a:srgbClr>
          </a:solidFill>
          <a:ln w="12700">
            <a:solidFill>
              <a:srgbClr val="1A3355">
                <a:alpha val="20000"/>
              </a:srgbClr>
            </a:solidFill>
            <a:prstDash val="solid"/>
          </a:ln>
        </p:spPr>
        <p:txBody>
          <a:bodyPr/>
          <a:lstStyle/>
          <a:p>
            <a:endParaRPr lang="es-MX"/>
          </a:p>
        </p:txBody>
      </p:sp>
      <p:sp>
        <p:nvSpPr>
          <p:cNvPr id="9" name="Text 7"/>
          <p:cNvSpPr/>
          <p:nvPr/>
        </p:nvSpPr>
        <p:spPr>
          <a:xfrm>
            <a:off x="457200" y="822960"/>
            <a:ext cx="6400800" cy="1097280"/>
          </a:xfrm>
          <a:prstGeom prst="rect">
            <a:avLst/>
          </a:prstGeom>
          <a:noFill/>
          <a:ln/>
        </p:spPr>
        <p:txBody>
          <a:bodyPr wrap="square" lIns="0" tIns="0" rIns="0" bIns="0" rtlCol="0" anchor="ctr"/>
          <a:lstStyle/>
          <a:p>
            <a:pPr marL="0" indent="0">
              <a:buNone/>
            </a:pPr>
            <a:r>
              <a:rPr lang="en-US" sz="6400" b="1" dirty="0">
                <a:solidFill>
                  <a:srgbClr val="00BFA5"/>
                </a:solidFill>
                <a:latin typeface="Arial Black" pitchFamily="34" charset="0"/>
                <a:ea typeface="Arial Black" pitchFamily="34" charset="-122"/>
                <a:cs typeface="Arial Black" pitchFamily="34" charset="-120"/>
              </a:rPr>
              <a:t>Thank You</a:t>
            </a:r>
            <a:endParaRPr lang="en-US" sz="6400" dirty="0"/>
          </a:p>
        </p:txBody>
      </p:sp>
      <p:sp>
        <p:nvSpPr>
          <p:cNvPr id="10" name="Text 8"/>
          <p:cNvSpPr/>
          <p:nvPr/>
        </p:nvSpPr>
        <p:spPr>
          <a:xfrm>
            <a:off x="457200" y="1783080"/>
            <a:ext cx="6400800" cy="731520"/>
          </a:xfrm>
          <a:prstGeom prst="rect">
            <a:avLst/>
          </a:prstGeom>
          <a:noFill/>
          <a:ln/>
        </p:spPr>
        <p:txBody>
          <a:bodyPr wrap="square" lIns="0" tIns="0" rIns="0" bIns="0" rtlCol="0" anchor="ctr"/>
          <a:lstStyle/>
          <a:p>
            <a:pPr marL="0" indent="0">
              <a:buNone/>
            </a:pPr>
            <a:r>
              <a:rPr lang="en-US" sz="3600" b="1" dirty="0">
                <a:solidFill>
                  <a:srgbClr val="B0BEC5"/>
                </a:solidFill>
                <a:latin typeface="Arial" pitchFamily="34" charset="0"/>
                <a:ea typeface="Arial" pitchFamily="34" charset="-122"/>
                <a:cs typeface="Arial" pitchFamily="34" charset="-120"/>
              </a:rPr>
              <a:t>Gracias</a:t>
            </a:r>
            <a:endParaRPr lang="en-US" sz="3600" dirty="0"/>
          </a:p>
        </p:txBody>
      </p:sp>
      <p:sp>
        <p:nvSpPr>
          <p:cNvPr id="11" name="Shape 9"/>
          <p:cNvSpPr/>
          <p:nvPr/>
        </p:nvSpPr>
        <p:spPr>
          <a:xfrm>
            <a:off x="457200" y="2651760"/>
            <a:ext cx="4114800" cy="36576"/>
          </a:xfrm>
          <a:prstGeom prst="rect">
            <a:avLst/>
          </a:prstGeom>
          <a:solidFill>
            <a:srgbClr val="1E3A5F"/>
          </a:solidFill>
          <a:ln w="12700">
            <a:solidFill>
              <a:srgbClr val="1E3A5F"/>
            </a:solidFill>
            <a:prstDash val="solid"/>
          </a:ln>
        </p:spPr>
        <p:txBody>
          <a:bodyPr/>
          <a:lstStyle/>
          <a:p>
            <a:endParaRPr lang="es-MX"/>
          </a:p>
        </p:txBody>
      </p:sp>
      <p:sp>
        <p:nvSpPr>
          <p:cNvPr id="12" name="Text 10"/>
          <p:cNvSpPr/>
          <p:nvPr/>
        </p:nvSpPr>
        <p:spPr>
          <a:xfrm>
            <a:off x="457200" y="2816352"/>
            <a:ext cx="4572000" cy="365760"/>
          </a:xfrm>
          <a:prstGeom prst="rect">
            <a:avLst/>
          </a:prstGeom>
          <a:noFill/>
          <a:ln/>
        </p:spPr>
        <p:txBody>
          <a:bodyPr wrap="square" lIns="0" tIns="0" rIns="0" bIns="0" rtlCol="0" anchor="ctr"/>
          <a:lstStyle/>
          <a:p>
            <a:pPr marL="0" indent="0">
              <a:buNone/>
            </a:pPr>
            <a:r>
              <a:rPr lang="en-US" sz="2000" b="1" dirty="0">
                <a:solidFill>
                  <a:srgbClr val="FFFFFF"/>
                </a:solidFill>
              </a:rPr>
              <a:t>Itzel Sanchez</a:t>
            </a:r>
            <a:endParaRPr lang="en-US" sz="2000" dirty="0"/>
          </a:p>
        </p:txBody>
      </p:sp>
      <p:sp>
        <p:nvSpPr>
          <p:cNvPr id="13" name="Text 11"/>
          <p:cNvSpPr/>
          <p:nvPr/>
        </p:nvSpPr>
        <p:spPr>
          <a:xfrm>
            <a:off x="457200" y="3200400"/>
            <a:ext cx="4572000" cy="274320"/>
          </a:xfrm>
          <a:prstGeom prst="rect">
            <a:avLst/>
          </a:prstGeom>
          <a:noFill/>
          <a:ln/>
        </p:spPr>
        <p:txBody>
          <a:bodyPr wrap="square" lIns="0" tIns="0" rIns="0" bIns="0" rtlCol="0" anchor="ctr"/>
          <a:lstStyle/>
          <a:p>
            <a:pPr marL="0" indent="0">
              <a:buNone/>
            </a:pPr>
            <a:r>
              <a:rPr lang="en-US" sz="1400" dirty="0">
                <a:solidFill>
                  <a:srgbClr val="90A4AE"/>
                </a:solidFill>
              </a:rPr>
              <a:t>INEGI — Mexico</a:t>
            </a:r>
            <a:endParaRPr lang="en-US" sz="1400" dirty="0"/>
          </a:p>
        </p:txBody>
      </p:sp>
      <p:sp>
        <p:nvSpPr>
          <p:cNvPr id="14" name="Text 12"/>
          <p:cNvSpPr/>
          <p:nvPr/>
        </p:nvSpPr>
        <p:spPr>
          <a:xfrm>
            <a:off x="457200" y="3547872"/>
            <a:ext cx="5486400" cy="256032"/>
          </a:xfrm>
          <a:prstGeom prst="rect">
            <a:avLst/>
          </a:prstGeom>
          <a:noFill/>
          <a:ln/>
        </p:spPr>
        <p:txBody>
          <a:bodyPr wrap="square" lIns="0" tIns="0" rIns="0" bIns="0" rtlCol="0" anchor="ctr"/>
          <a:lstStyle/>
          <a:p>
            <a:pPr marL="0" indent="0">
              <a:buNone/>
            </a:pPr>
            <a:r>
              <a:rPr lang="en-US" sz="1300" b="1" dirty="0">
                <a:solidFill>
                  <a:srgbClr val="78909C"/>
                </a:solidFill>
              </a:rPr>
              <a:t>Mentor: Arthur Beltrão  |  IBGE — Brazil</a:t>
            </a:r>
            <a:endParaRPr lang="en-US" sz="1300" dirty="0"/>
          </a:p>
        </p:txBody>
      </p:sp>
      <p:sp>
        <p:nvSpPr>
          <p:cNvPr id="15" name="Shape 13"/>
          <p:cNvSpPr/>
          <p:nvPr/>
        </p:nvSpPr>
        <p:spPr>
          <a:xfrm>
            <a:off x="457200" y="4041648"/>
            <a:ext cx="5943600" cy="731520"/>
          </a:xfrm>
          <a:prstGeom prst="rect">
            <a:avLst/>
          </a:prstGeom>
          <a:solidFill>
            <a:srgbClr val="112244"/>
          </a:solidFill>
          <a:ln w="12700">
            <a:solidFill>
              <a:srgbClr val="00BFA5"/>
            </a:solidFill>
            <a:prstDash val="solid"/>
          </a:ln>
        </p:spPr>
        <p:txBody>
          <a:bodyPr/>
          <a:lstStyle/>
          <a:p>
            <a:endParaRPr lang="es-MX"/>
          </a:p>
        </p:txBody>
      </p:sp>
      <p:sp>
        <p:nvSpPr>
          <p:cNvPr id="16" name="Text 14"/>
          <p:cNvSpPr/>
          <p:nvPr/>
        </p:nvSpPr>
        <p:spPr>
          <a:xfrm>
            <a:off x="594360" y="4078224"/>
            <a:ext cx="5669280" cy="658368"/>
          </a:xfrm>
          <a:prstGeom prst="rect">
            <a:avLst/>
          </a:prstGeom>
          <a:noFill/>
          <a:ln/>
        </p:spPr>
        <p:txBody>
          <a:bodyPr wrap="square" lIns="0" tIns="0" rIns="0" bIns="0" rtlCol="0" anchor="ctr"/>
          <a:lstStyle/>
          <a:p>
            <a:pPr marL="0" indent="0">
              <a:buNone/>
            </a:pPr>
            <a:r>
              <a:rPr lang="en-US" sz="1050" i="1" dirty="0">
                <a:solidFill>
                  <a:srgbClr val="00BFA5"/>
                </a:solidFill>
              </a:rPr>
              <a:t>"Not a gender story — a household COMPOSITION story.</a:t>
            </a:r>
            <a:endParaRPr lang="en-US" sz="1050" dirty="0"/>
          </a:p>
          <a:p>
            <a:pPr marL="0" indent="0">
              <a:buNone/>
            </a:pPr>
            <a:r>
              <a:rPr lang="en-US" sz="1050" i="1" dirty="0">
                <a:solidFill>
                  <a:srgbClr val="00BFA5"/>
                </a:solidFill>
              </a:rPr>
              <a:t>MWoP: highest inflation. FWP: lowest. Gap: +0.27 pp. Structural. Forecastable."</a:t>
            </a:r>
            <a:endParaRPr lang="en-US" sz="1050" dirty="0"/>
          </a:p>
        </p:txBody>
      </p:sp>
      <p:sp>
        <p:nvSpPr>
          <p:cNvPr id="17" name="Shape 15"/>
          <p:cNvSpPr/>
          <p:nvPr/>
        </p:nvSpPr>
        <p:spPr>
          <a:xfrm>
            <a:off x="0" y="4919472"/>
            <a:ext cx="9144000" cy="224028"/>
          </a:xfrm>
          <a:prstGeom prst="rect">
            <a:avLst/>
          </a:prstGeom>
          <a:solidFill>
            <a:srgbClr val="071528"/>
          </a:solidFill>
          <a:ln w="12700">
            <a:solidFill>
              <a:srgbClr val="071528"/>
            </a:solidFill>
            <a:prstDash val="solid"/>
          </a:ln>
        </p:spPr>
        <p:txBody>
          <a:bodyPr/>
          <a:lstStyle/>
          <a:p>
            <a:endParaRPr lang="es-MX"/>
          </a:p>
        </p:txBody>
      </p:sp>
      <p:sp>
        <p:nvSpPr>
          <p:cNvPr id="18" name="Text 16"/>
          <p:cNvSpPr/>
          <p:nvPr/>
        </p:nvSpPr>
        <p:spPr>
          <a:xfrm>
            <a:off x="274320" y="4937760"/>
            <a:ext cx="8595360" cy="182880"/>
          </a:xfrm>
          <a:prstGeom prst="rect">
            <a:avLst/>
          </a:prstGeom>
          <a:noFill/>
          <a:ln/>
        </p:spPr>
        <p:txBody>
          <a:bodyPr wrap="square" lIns="0" tIns="0" rIns="0" bIns="0" rtlCol="0" anchor="ctr"/>
          <a:lstStyle/>
          <a:p>
            <a:pPr marL="0" indent="0">
              <a:buNone/>
            </a:pPr>
            <a:r>
              <a:rPr lang="en-US" sz="800" dirty="0">
                <a:solidFill>
                  <a:srgbClr val="78909C"/>
                </a:solidFill>
              </a:rPr>
              <a:t>International Data Science Accelerator — Cohort VI  |  March 11, 2026  |  INEGI · IBGE · ONS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2996</Words>
  <Application>Microsoft Office PowerPoint</Application>
  <PresentationFormat>Presentación en pantalla (16:9)</PresentationFormat>
  <Paragraphs>434</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Arial Black</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G-CPI: Gender-Differentiated Consumer Price Index for Mexico</dc:title>
  <dc:subject>PptxGenJS Presentation</dc:subject>
  <dc:creator>Itzel Sanchez | INEGI — Mexico</dc:creator>
  <cp:lastModifiedBy>SANCHEZ GONZALEZ ITZEL</cp:lastModifiedBy>
  <cp:revision>5</cp:revision>
  <dcterms:created xsi:type="dcterms:W3CDTF">2026-03-11T03:46:47Z</dcterms:created>
  <dcterms:modified xsi:type="dcterms:W3CDTF">2026-03-11T05:56:41Z</dcterms:modified>
</cp:coreProperties>
</file>